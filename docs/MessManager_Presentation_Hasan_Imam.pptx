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Default Extension="jpg" ContentType="image/jpeg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98" r:id="rId1"/>
  </p:sldMasterIdLst>
  <p:notesMasterIdLst>
    <p:notesMasterId r:id="rId47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96" r:id="rId16"/>
    <p:sldId id="295" r:id="rId17"/>
    <p:sldId id="270" r:id="rId18"/>
    <p:sldId id="272" r:id="rId19"/>
    <p:sldId id="271" r:id="rId20"/>
    <p:sldId id="273" r:id="rId21"/>
    <p:sldId id="274" r:id="rId22"/>
    <p:sldId id="275" r:id="rId23"/>
    <p:sldId id="297" r:id="rId24"/>
    <p:sldId id="276" r:id="rId25"/>
    <p:sldId id="277" r:id="rId26"/>
    <p:sldId id="278" r:id="rId27"/>
    <p:sldId id="279" r:id="rId28"/>
    <p:sldId id="280" r:id="rId29"/>
    <p:sldId id="281" r:id="rId30"/>
    <p:sldId id="282" r:id="rId31"/>
    <p:sldId id="283" r:id="rId32"/>
    <p:sldId id="284" r:id="rId33"/>
    <p:sldId id="285" r:id="rId34"/>
    <p:sldId id="298" r:id="rId35"/>
    <p:sldId id="286" r:id="rId36"/>
    <p:sldId id="299" r:id="rId37"/>
    <p:sldId id="287" r:id="rId38"/>
    <p:sldId id="288" r:id="rId39"/>
    <p:sldId id="289" r:id="rId40"/>
    <p:sldId id="300" r:id="rId41"/>
    <p:sldId id="290" r:id="rId42"/>
    <p:sldId id="291" r:id="rId43"/>
    <p:sldId id="292" r:id="rId44"/>
    <p:sldId id="301" r:id="rId45"/>
    <p:sldId id="302" r:id="rId46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517" autoAdjust="0"/>
    <p:restoredTop sz="94660"/>
  </p:normalViewPr>
  <p:slideViewPr>
    <p:cSldViewPr snapToGrid="0" snapToObjects="1">
      <p:cViewPr varScale="1">
        <p:scale>
          <a:sx n="82" d="100"/>
          <a:sy n="82" d="100"/>
        </p:scale>
        <p:origin x="1478" y="6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notesMaster" Target="notesMasters/notesMaster1.xml"/><Relationship Id="rId50" Type="http://schemas.openxmlformats.org/officeDocument/2006/relationships/theme" Target="theme/theme1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presProps" Target="presProps.xml"/><Relationship Id="rId8" Type="http://schemas.openxmlformats.org/officeDocument/2006/relationships/slide" Target="slides/slide7.xml"/><Relationship Id="rId51" Type="http://schemas.openxmlformats.org/officeDocument/2006/relationships/tableStyles" Target="tableStyles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SG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F7FC69C-9244-4677-AA64-C2B14039C1B9}" type="datetimeFigureOut">
              <a:rPr lang="en-SG" smtClean="0"/>
              <a:t>1/6/2026</a:t>
            </a:fld>
            <a:endParaRPr lang="en-SG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SG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SG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SG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6228EA4-7CCC-497E-98E6-112680908BCF}" type="slidenum">
              <a:rPr lang="en-SG" smtClean="0"/>
              <a:t>‹#›</a:t>
            </a:fld>
            <a:endParaRPr lang="en-SG"/>
          </a:p>
        </p:txBody>
      </p:sp>
    </p:spTree>
    <p:extLst>
      <p:ext uri="{BB962C8B-B14F-4D97-AF65-F5344CB8AC3E}">
        <p14:creationId xmlns:p14="http://schemas.microsoft.com/office/powerpoint/2010/main" val="222085870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SG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A6228EA4-7CCC-497E-98E6-112680908BCF}" type="slidenum">
              <a:rPr lang="en-SG" smtClean="0"/>
              <a:t>17</a:t>
            </a:fld>
            <a:endParaRPr lang="en-SG"/>
          </a:p>
        </p:txBody>
      </p:sp>
    </p:spTree>
    <p:extLst>
      <p:ext uri="{BB962C8B-B14F-4D97-AF65-F5344CB8AC3E}">
        <p14:creationId xmlns:p14="http://schemas.microsoft.com/office/powerpoint/2010/main" val="1575622930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SG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A6228EA4-7CCC-497E-98E6-112680908BCF}" type="slidenum">
              <a:rPr lang="en-SG" smtClean="0"/>
              <a:t>19</a:t>
            </a:fld>
            <a:endParaRPr lang="en-SG"/>
          </a:p>
        </p:txBody>
      </p:sp>
    </p:spTree>
    <p:extLst>
      <p:ext uri="{BB962C8B-B14F-4D97-AF65-F5344CB8AC3E}">
        <p14:creationId xmlns:p14="http://schemas.microsoft.com/office/powerpoint/2010/main" val="41901299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Droplets-SD-Title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9144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313259" y="1300786"/>
            <a:ext cx="6517482" cy="2509213"/>
          </a:xfrm>
        </p:spPr>
        <p:txBody>
          <a:bodyPr anchor="b">
            <a:normAutofit/>
          </a:bodyPr>
          <a:lstStyle>
            <a:lvl1pPr algn="ctr">
              <a:defRPr sz="4800"/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13259" y="3886201"/>
            <a:ext cx="6517482" cy="1371599"/>
          </a:xfrm>
        </p:spPr>
        <p:txBody>
          <a:bodyPr>
            <a:normAutofit/>
          </a:bodyPr>
          <a:lstStyle>
            <a:lvl1pPr marL="0" indent="0" algn="ctr">
              <a:buNone/>
              <a:defRPr sz="2200">
                <a:solidFill>
                  <a:schemeClr val="bg1">
                    <a:lumMod val="50000"/>
                  </a:schemeClr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smtClean="0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7350050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Droplets-S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9144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12" name="Content Placeholder 2"/>
          <p:cNvSpPr>
            <a:spLocks noGrp="1"/>
          </p:cNvSpPr>
          <p:nvPr>
            <p:ph sz="quarter" idx="13"/>
          </p:nvPr>
        </p:nvSpPr>
        <p:spPr>
          <a:xfrm>
            <a:off x="685330" y="2367093"/>
            <a:ext cx="7772870" cy="3424107"/>
          </a:xfrm>
        </p:spPr>
        <p:txBody>
          <a:bodyPr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9669762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Droplets-S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9144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331" y="828564"/>
            <a:ext cx="7763814" cy="2736819"/>
          </a:xfrm>
        </p:spPr>
        <p:txBody>
          <a:bodyPr anchor="b">
            <a:normAutofit/>
          </a:bodyPr>
          <a:lstStyle>
            <a:lvl1pPr>
              <a:defRPr sz="4000"/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5331" y="3657458"/>
            <a:ext cx="7763814" cy="1368183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bg1">
                    <a:lumMod val="50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171893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 descr="Droplets-S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9144000" cy="6858000"/>
          </a:xfrm>
          <a:prstGeom prst="rect">
            <a:avLst/>
          </a:prstGeom>
        </p:spPr>
      </p:pic>
      <p:sp>
        <p:nvSpPr>
          <p:cNvPr id="14" name="Title 1"/>
          <p:cNvSpPr>
            <a:spLocks noGrp="1"/>
          </p:cNvSpPr>
          <p:nvPr>
            <p:ph type="title"/>
          </p:nvPr>
        </p:nvSpPr>
        <p:spPr>
          <a:xfrm>
            <a:off x="685332" y="618518"/>
            <a:ext cx="7773338" cy="1596177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12" name="Content Placeholder 2"/>
          <p:cNvSpPr>
            <a:spLocks noGrp="1"/>
          </p:cNvSpPr>
          <p:nvPr>
            <p:ph sz="quarter" idx="13"/>
          </p:nvPr>
        </p:nvSpPr>
        <p:spPr>
          <a:xfrm>
            <a:off x="685330" y="2367093"/>
            <a:ext cx="3829520" cy="3424107"/>
          </a:xfrm>
        </p:spPr>
        <p:txBody>
          <a:bodyPr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13" name="Content Placeholder 3"/>
          <p:cNvSpPr>
            <a:spLocks noGrp="1"/>
          </p:cNvSpPr>
          <p:nvPr>
            <p:ph sz="quarter" idx="14"/>
          </p:nvPr>
        </p:nvSpPr>
        <p:spPr>
          <a:xfrm>
            <a:off x="4629150" y="2367093"/>
            <a:ext cx="3829050" cy="3424107"/>
          </a:xfrm>
        </p:spPr>
        <p:txBody>
          <a:bodyPr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153412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Picture 10" descr="Droplets-S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9144000" cy="6858000"/>
          </a:xfrm>
          <a:prstGeom prst="rect">
            <a:avLst/>
          </a:prstGeom>
        </p:spPr>
      </p:pic>
      <p:sp>
        <p:nvSpPr>
          <p:cNvPr id="14" name="Title 1"/>
          <p:cNvSpPr>
            <a:spLocks noGrp="1"/>
          </p:cNvSpPr>
          <p:nvPr>
            <p:ph type="title"/>
          </p:nvPr>
        </p:nvSpPr>
        <p:spPr>
          <a:xfrm>
            <a:off x="685332" y="618518"/>
            <a:ext cx="7773338" cy="1596177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59746" y="2371018"/>
            <a:ext cx="3655106" cy="679994"/>
          </a:xfrm>
        </p:spPr>
        <p:txBody>
          <a:bodyPr anchor="b">
            <a:noAutofit/>
          </a:bodyPr>
          <a:lstStyle>
            <a:lvl1pPr marL="0" indent="0">
              <a:lnSpc>
                <a:spcPct val="75000"/>
              </a:lnSpc>
              <a:buNone/>
              <a:defRPr sz="26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12" name="Content Placeholder 3"/>
          <p:cNvSpPr>
            <a:spLocks noGrp="1"/>
          </p:cNvSpPr>
          <p:nvPr>
            <p:ph sz="quarter" idx="13"/>
          </p:nvPr>
        </p:nvSpPr>
        <p:spPr>
          <a:xfrm>
            <a:off x="685331" y="3051013"/>
            <a:ext cx="3829520" cy="2740187"/>
          </a:xfrm>
        </p:spPr>
        <p:txBody>
          <a:bodyPr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97317" y="2371018"/>
            <a:ext cx="3661353" cy="679994"/>
          </a:xfrm>
        </p:spPr>
        <p:txBody>
          <a:bodyPr anchor="b">
            <a:noAutofit/>
          </a:bodyPr>
          <a:lstStyle>
            <a:lvl1pPr marL="0" indent="0">
              <a:lnSpc>
                <a:spcPct val="75000"/>
              </a:lnSpc>
              <a:buNone/>
              <a:defRPr sz="26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13" name="Content Placeholder 5"/>
          <p:cNvSpPr>
            <a:spLocks noGrp="1"/>
          </p:cNvSpPr>
          <p:nvPr>
            <p:ph sz="quarter" idx="14"/>
          </p:nvPr>
        </p:nvSpPr>
        <p:spPr>
          <a:xfrm>
            <a:off x="4629150" y="3051013"/>
            <a:ext cx="3829051" cy="2740187"/>
          </a:xfrm>
        </p:spPr>
        <p:txBody>
          <a:bodyPr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678950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Droplets-S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9144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786538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 descr="Droplets-S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9144000" cy="6858000"/>
          </a:xfrm>
          <a:prstGeom prst="rect">
            <a:avLst/>
          </a:prstGeom>
        </p:spPr>
      </p:pic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0067147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 descr="Droplets-S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9144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331" y="609600"/>
            <a:ext cx="2951766" cy="2023252"/>
          </a:xfrm>
        </p:spPr>
        <p:txBody>
          <a:bodyPr anchor="b"/>
          <a:lstStyle>
            <a:lvl1pPr algn="ctr">
              <a:defRPr sz="3200"/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10" name="Content Placeholder 2"/>
          <p:cNvSpPr>
            <a:spLocks noGrp="1"/>
          </p:cNvSpPr>
          <p:nvPr>
            <p:ph sz="quarter" idx="13"/>
          </p:nvPr>
        </p:nvSpPr>
        <p:spPr>
          <a:xfrm>
            <a:off x="3808547" y="609601"/>
            <a:ext cx="4650122" cy="5181599"/>
          </a:xfrm>
        </p:spPr>
        <p:txBody>
          <a:bodyPr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5331" y="2632852"/>
            <a:ext cx="2951767" cy="3158348"/>
          </a:xfrm>
        </p:spPr>
        <p:txBody>
          <a:bodyPr/>
          <a:lstStyle>
            <a:lvl1pPr marL="0" indent="0" algn="ctr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453141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 descr="Droplets-S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9144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332" y="609600"/>
            <a:ext cx="4129618" cy="2023254"/>
          </a:xfrm>
        </p:spPr>
        <p:txBody>
          <a:bodyPr anchor="b"/>
          <a:lstStyle>
            <a:lvl1pPr algn="ctr">
              <a:defRPr sz="3200"/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004270" y="609601"/>
            <a:ext cx="3005851" cy="5181600"/>
          </a:xfrm>
          <a:prstGeom prst="roundRect">
            <a:avLst>
              <a:gd name="adj" fmla="val 4943"/>
            </a:avLst>
          </a:prstGeom>
          <a:noFill/>
          <a:ln w="82550" cap="sq">
            <a:solidFill>
              <a:srgbClr val="EAEAEA"/>
            </a:solidFill>
            <a:miter lim="800000"/>
          </a:ln>
          <a:effectLst/>
          <a:scene3d>
            <a:camera prst="orthographicFront"/>
            <a:lightRig rig="threePt" dir="t">
              <a:rot lat="0" lon="0" rev="2700000"/>
            </a:lightRig>
          </a:scene3d>
          <a:sp3d contourW="6350">
            <a:bevelT h="38100"/>
            <a:contourClr>
              <a:srgbClr val="C0C0C0"/>
            </a:contourClr>
          </a:sp3d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 smtClean="0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5346" y="2632853"/>
            <a:ext cx="4129604" cy="3158347"/>
          </a:xfrm>
        </p:spPr>
        <p:txBody>
          <a:bodyPr/>
          <a:lstStyle>
            <a:lvl1pPr marL="0" indent="0" algn="ctr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449204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anoramic 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 descr="Droplets-S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9144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346" y="4289374"/>
            <a:ext cx="7773324" cy="81161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888558" y="698261"/>
            <a:ext cx="7366899" cy="3214136"/>
          </a:xfrm>
          <a:prstGeom prst="roundRect">
            <a:avLst>
              <a:gd name="adj" fmla="val 4944"/>
            </a:avLst>
          </a:prstGeom>
          <a:noFill/>
          <a:ln w="82550" cap="sq">
            <a:solidFill>
              <a:srgbClr val="EAEAEA"/>
            </a:solidFill>
            <a:miter lim="800000"/>
          </a:ln>
          <a:effectLst/>
          <a:scene3d>
            <a:camera prst="orthographicFront"/>
            <a:lightRig rig="threePt" dir="t">
              <a:rot lat="0" lon="0" rev="2700000"/>
            </a:lightRig>
          </a:scene3d>
          <a:sp3d contourW="6350">
            <a:bevelT h="38100"/>
            <a:contourClr>
              <a:srgbClr val="C0C0C0"/>
            </a:contourClr>
          </a:sp3d>
        </p:spPr>
        <p:txBody>
          <a:bodyPr anchor="t"/>
          <a:lstStyle>
            <a:lvl1pPr marL="0" indent="0" algn="ctr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 smtClean="0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5331" y="5108728"/>
            <a:ext cx="7773339" cy="682472"/>
          </a:xfrm>
        </p:spPr>
        <p:txBody>
          <a:bodyPr/>
          <a:lstStyle>
            <a:lvl1pPr marL="0" indent="0" algn="ctr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802641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 descr="Droplets-S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9144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331" y="609600"/>
            <a:ext cx="7773339" cy="3427245"/>
          </a:xfrm>
        </p:spPr>
        <p:txBody>
          <a:bodyPr anchor="ctr"/>
          <a:lstStyle>
            <a:lvl1pPr algn="ctr">
              <a:defRPr sz="3200"/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5331" y="4204821"/>
            <a:ext cx="7773339" cy="1586380"/>
          </a:xfrm>
        </p:spPr>
        <p:txBody>
          <a:bodyPr anchor="ctr"/>
          <a:lstStyle>
            <a:lvl1pPr marL="0" indent="0" algn="ctr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62865340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Picture 12" descr="Droplets-S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9144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84659" y="872588"/>
            <a:ext cx="6977064" cy="2729915"/>
          </a:xfrm>
        </p:spPr>
        <p:txBody>
          <a:bodyPr anchor="ctr"/>
          <a:lstStyle>
            <a:lvl1pPr>
              <a:defRPr sz="3200"/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3"/>
          </p:nvPr>
        </p:nvSpPr>
        <p:spPr>
          <a:xfrm>
            <a:off x="1290484" y="3610032"/>
            <a:ext cx="6564224" cy="59478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5331" y="4372797"/>
            <a:ext cx="7773339" cy="1421053"/>
          </a:xfrm>
        </p:spPr>
        <p:txBody>
          <a:bodyPr anchor="ctr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sp>
        <p:nvSpPr>
          <p:cNvPr id="11" name="TextBox 10"/>
          <p:cNvSpPr txBox="1"/>
          <p:nvPr/>
        </p:nvSpPr>
        <p:spPr>
          <a:xfrm>
            <a:off x="737626" y="887859"/>
            <a:ext cx="546888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/>
            <a:r>
              <a:rPr lang="en-US" sz="8000" dirty="0">
                <a:solidFill>
                  <a:schemeClr val="tx1"/>
                </a:solidFill>
                <a:effectLst/>
              </a:rPr>
              <a:t>“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850130" y="3120015"/>
            <a:ext cx="553641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8000" dirty="0">
                <a:solidFill>
                  <a:schemeClr val="tx1"/>
                </a:solidFill>
                <a:effectLst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3979291120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 descr="Droplets-S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9144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331" y="2138722"/>
            <a:ext cx="7773339" cy="2511835"/>
          </a:xfrm>
        </p:spPr>
        <p:txBody>
          <a:bodyPr anchor="b"/>
          <a:lstStyle>
            <a:lvl1pPr algn="ctr">
              <a:defRPr sz="3200"/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5331" y="4662335"/>
            <a:ext cx="7773339" cy="1140644"/>
          </a:xfrm>
        </p:spPr>
        <p:txBody>
          <a:bodyPr anchor="t"/>
          <a:lstStyle>
            <a:lvl1pPr marL="0" indent="0" algn="ctr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37921393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" name="Picture 13" descr="Droplets-S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9144000" cy="6858000"/>
          </a:xfrm>
          <a:prstGeom prst="rect">
            <a:avLst/>
          </a:prstGeom>
        </p:spPr>
      </p:pic>
      <p:sp>
        <p:nvSpPr>
          <p:cNvPr id="15" name="Title 1"/>
          <p:cNvSpPr>
            <a:spLocks noGrp="1"/>
          </p:cNvSpPr>
          <p:nvPr>
            <p:ph type="title"/>
          </p:nvPr>
        </p:nvSpPr>
        <p:spPr>
          <a:xfrm>
            <a:off x="685331" y="609600"/>
            <a:ext cx="7773339" cy="1605094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7" name="Text Placeholder 2"/>
          <p:cNvSpPr>
            <a:spLocks noGrp="1"/>
          </p:cNvSpPr>
          <p:nvPr>
            <p:ph type="body" idx="1"/>
          </p:nvPr>
        </p:nvSpPr>
        <p:spPr>
          <a:xfrm>
            <a:off x="685331" y="2367093"/>
            <a:ext cx="2474232" cy="576262"/>
          </a:xfrm>
        </p:spPr>
        <p:txBody>
          <a:bodyPr anchor="b">
            <a:noAutofit/>
          </a:bodyPr>
          <a:lstStyle>
            <a:lvl1pPr marL="0" indent="0" algn="ctr">
              <a:lnSpc>
                <a:spcPct val="75000"/>
              </a:lnSpc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8" name="Text Placeholder 3"/>
          <p:cNvSpPr>
            <a:spLocks noGrp="1"/>
          </p:cNvSpPr>
          <p:nvPr>
            <p:ph type="body" sz="half" idx="15"/>
          </p:nvPr>
        </p:nvSpPr>
        <p:spPr>
          <a:xfrm>
            <a:off x="685331" y="2943356"/>
            <a:ext cx="2474232" cy="2847845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9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339292" y="2367093"/>
            <a:ext cx="2468641" cy="576262"/>
          </a:xfrm>
        </p:spPr>
        <p:txBody>
          <a:bodyPr anchor="b">
            <a:noAutofit/>
          </a:bodyPr>
          <a:lstStyle>
            <a:lvl1pPr marL="0" indent="0" algn="ctr">
              <a:lnSpc>
                <a:spcPct val="75000"/>
              </a:lnSpc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10" name="Text Placeholder 3"/>
          <p:cNvSpPr>
            <a:spLocks noGrp="1"/>
          </p:cNvSpPr>
          <p:nvPr>
            <p:ph type="body" sz="half" idx="16"/>
          </p:nvPr>
        </p:nvSpPr>
        <p:spPr>
          <a:xfrm>
            <a:off x="3331012" y="2943356"/>
            <a:ext cx="2477513" cy="2847845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11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5979974" y="2367093"/>
            <a:ext cx="2478696" cy="576262"/>
          </a:xfrm>
        </p:spPr>
        <p:txBody>
          <a:bodyPr anchor="b">
            <a:noAutofit/>
          </a:bodyPr>
          <a:lstStyle>
            <a:lvl1pPr marL="0" indent="0" algn="ctr">
              <a:lnSpc>
                <a:spcPct val="75000"/>
              </a:lnSpc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7"/>
          </p:nvPr>
        </p:nvSpPr>
        <p:spPr>
          <a:xfrm>
            <a:off x="5979974" y="2943356"/>
            <a:ext cx="2478696" cy="2847845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45728174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Pictur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" name="Picture 16" descr="Droplets-S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9144000" cy="6858000"/>
          </a:xfrm>
          <a:prstGeom prst="rect">
            <a:avLst/>
          </a:prstGeom>
        </p:spPr>
      </p:pic>
      <p:sp>
        <p:nvSpPr>
          <p:cNvPr id="30" name="Title 1"/>
          <p:cNvSpPr>
            <a:spLocks noGrp="1"/>
          </p:cNvSpPr>
          <p:nvPr>
            <p:ph type="title"/>
          </p:nvPr>
        </p:nvSpPr>
        <p:spPr>
          <a:xfrm>
            <a:off x="685331" y="610772"/>
            <a:ext cx="7773339" cy="1603922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19" name="Text Placeholder 2"/>
          <p:cNvSpPr>
            <a:spLocks noGrp="1"/>
          </p:cNvSpPr>
          <p:nvPr>
            <p:ph type="body" idx="1"/>
          </p:nvPr>
        </p:nvSpPr>
        <p:spPr>
          <a:xfrm>
            <a:off x="685331" y="4204820"/>
            <a:ext cx="2472307" cy="576262"/>
          </a:xfrm>
        </p:spPr>
        <p:txBody>
          <a:bodyPr anchor="b">
            <a:noAutofit/>
          </a:bodyPr>
          <a:lstStyle>
            <a:lvl1pPr marL="0" indent="0" algn="ctr">
              <a:lnSpc>
                <a:spcPct val="75000"/>
              </a:lnSpc>
              <a:buNone/>
              <a:defRPr sz="22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20" name="Picture Placeholder 2"/>
          <p:cNvSpPr>
            <a:spLocks noGrp="1" noChangeAspect="1"/>
          </p:cNvSpPr>
          <p:nvPr>
            <p:ph type="pic" idx="15"/>
          </p:nvPr>
        </p:nvSpPr>
        <p:spPr>
          <a:xfrm>
            <a:off x="685331" y="2367093"/>
            <a:ext cx="2472307" cy="1524000"/>
          </a:xfrm>
          <a:prstGeom prst="roundRect">
            <a:avLst>
              <a:gd name="adj" fmla="val 9363"/>
            </a:avLst>
          </a:prstGeom>
          <a:noFill/>
          <a:ln w="82550" cap="sq">
            <a:solidFill>
              <a:srgbClr val="EAEAEA"/>
            </a:solidFill>
            <a:miter lim="800000"/>
          </a:ln>
          <a:effectLst/>
          <a:scene3d>
            <a:camera prst="orthographicFront"/>
            <a:lightRig rig="threePt" dir="t">
              <a:rot lat="0" lon="0" rev="2700000"/>
            </a:lightRig>
          </a:scene3d>
          <a:sp3d contourW="6350">
            <a:bevelT h="38100"/>
            <a:contourClr>
              <a:srgbClr val="C0C0C0"/>
            </a:contourClr>
          </a:sp3d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 smtClean="0"/>
              <a:t>Click icon to add picture</a:t>
            </a:r>
            <a:endParaRPr lang="en-US" dirty="0"/>
          </a:p>
        </p:txBody>
      </p:sp>
      <p:sp>
        <p:nvSpPr>
          <p:cNvPr id="21" name="Text Placeholder 3"/>
          <p:cNvSpPr>
            <a:spLocks noGrp="1"/>
          </p:cNvSpPr>
          <p:nvPr>
            <p:ph type="body" sz="half" idx="18"/>
          </p:nvPr>
        </p:nvSpPr>
        <p:spPr>
          <a:xfrm>
            <a:off x="685331" y="4781082"/>
            <a:ext cx="2472307" cy="1010118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22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332069" y="4204820"/>
            <a:ext cx="2476371" cy="576262"/>
          </a:xfrm>
        </p:spPr>
        <p:txBody>
          <a:bodyPr anchor="b">
            <a:noAutofit/>
          </a:bodyPr>
          <a:lstStyle>
            <a:lvl1pPr marL="0" indent="0" algn="ctr">
              <a:lnSpc>
                <a:spcPct val="75000"/>
              </a:lnSpc>
              <a:buNone/>
              <a:defRPr sz="22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23" name="Picture Placeholder 2"/>
          <p:cNvSpPr>
            <a:spLocks noGrp="1" noChangeAspect="1"/>
          </p:cNvSpPr>
          <p:nvPr>
            <p:ph type="pic" idx="21"/>
          </p:nvPr>
        </p:nvSpPr>
        <p:spPr>
          <a:xfrm>
            <a:off x="3331011" y="2367093"/>
            <a:ext cx="2477514" cy="1524000"/>
          </a:xfrm>
          <a:prstGeom prst="roundRect">
            <a:avLst>
              <a:gd name="adj" fmla="val 8841"/>
            </a:avLst>
          </a:prstGeom>
          <a:noFill/>
          <a:ln w="82550" cap="sq">
            <a:solidFill>
              <a:srgbClr val="EAEAEA"/>
            </a:solidFill>
            <a:miter lim="800000"/>
          </a:ln>
          <a:effectLst/>
          <a:scene3d>
            <a:camera prst="orthographicFront"/>
            <a:lightRig rig="threePt" dir="t">
              <a:rot lat="0" lon="0" rev="2700000"/>
            </a:lightRig>
          </a:scene3d>
          <a:sp3d contourW="6350">
            <a:bevelT h="38100"/>
            <a:contourClr>
              <a:srgbClr val="C0C0C0"/>
            </a:contourClr>
          </a:sp3d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 smtClean="0"/>
              <a:t>Click icon to add picture</a:t>
            </a:r>
            <a:endParaRPr lang="en-US" dirty="0"/>
          </a:p>
        </p:txBody>
      </p:sp>
      <p:sp>
        <p:nvSpPr>
          <p:cNvPr id="24" name="Text Placeholder 3"/>
          <p:cNvSpPr>
            <a:spLocks noGrp="1"/>
          </p:cNvSpPr>
          <p:nvPr>
            <p:ph type="body" sz="half" idx="19"/>
          </p:nvPr>
        </p:nvSpPr>
        <p:spPr>
          <a:xfrm>
            <a:off x="3331011" y="4781081"/>
            <a:ext cx="2477514" cy="1010119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25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5979974" y="4204820"/>
            <a:ext cx="2475511" cy="576262"/>
          </a:xfrm>
        </p:spPr>
        <p:txBody>
          <a:bodyPr anchor="b">
            <a:noAutofit/>
          </a:bodyPr>
          <a:lstStyle>
            <a:lvl1pPr marL="0" indent="0" algn="ctr">
              <a:lnSpc>
                <a:spcPct val="75000"/>
              </a:lnSpc>
              <a:buNone/>
              <a:defRPr sz="22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26" name="Picture Placeholder 2"/>
          <p:cNvSpPr>
            <a:spLocks noGrp="1" noChangeAspect="1"/>
          </p:cNvSpPr>
          <p:nvPr>
            <p:ph type="pic" idx="22"/>
          </p:nvPr>
        </p:nvSpPr>
        <p:spPr>
          <a:xfrm>
            <a:off x="5979974" y="2367093"/>
            <a:ext cx="2478696" cy="1524000"/>
          </a:xfrm>
          <a:prstGeom prst="roundRect">
            <a:avLst>
              <a:gd name="adj" fmla="val 8841"/>
            </a:avLst>
          </a:prstGeom>
          <a:noFill/>
          <a:ln w="82550" cap="sq">
            <a:solidFill>
              <a:srgbClr val="EAEAEA"/>
            </a:solidFill>
            <a:miter lim="800000"/>
          </a:ln>
          <a:effectLst/>
          <a:scene3d>
            <a:camera prst="orthographicFront"/>
            <a:lightRig rig="threePt" dir="t">
              <a:rot lat="0" lon="0" rev="2700000"/>
            </a:lightRig>
          </a:scene3d>
          <a:sp3d contourW="6350">
            <a:bevelT h="38100"/>
            <a:contourClr>
              <a:srgbClr val="C0C0C0"/>
            </a:contourClr>
          </a:sp3d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 smtClean="0"/>
              <a:t>Click icon to add picture</a:t>
            </a:r>
            <a:endParaRPr lang="en-US" dirty="0"/>
          </a:p>
        </p:txBody>
      </p:sp>
      <p:sp>
        <p:nvSpPr>
          <p:cNvPr id="27" name="Text Placeholder 3"/>
          <p:cNvSpPr>
            <a:spLocks noGrp="1"/>
          </p:cNvSpPr>
          <p:nvPr>
            <p:ph type="body" sz="half" idx="20"/>
          </p:nvPr>
        </p:nvSpPr>
        <p:spPr>
          <a:xfrm>
            <a:off x="5979880" y="4781079"/>
            <a:ext cx="2478790" cy="1010121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44777494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 descr="Droplets-S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9144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11" name="Vertical Text Placeholder 2"/>
          <p:cNvSpPr>
            <a:spLocks noGrp="1"/>
          </p:cNvSpPr>
          <p:nvPr>
            <p:ph type="body" orient="vert" sz="quarter" idx="13"/>
          </p:nvPr>
        </p:nvSpPr>
        <p:spPr>
          <a:xfrm>
            <a:off x="685331" y="2367094"/>
            <a:ext cx="7773339" cy="3424107"/>
          </a:xfrm>
        </p:spPr>
        <p:txBody>
          <a:bodyPr vert="eaVert"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98796421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 descr="Droplets-S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9144000" cy="6858000"/>
          </a:xfrm>
          <a:prstGeom prst="rect">
            <a:avLst/>
          </a:prstGeom>
        </p:spPr>
      </p:pic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543675" y="609602"/>
            <a:ext cx="1914995" cy="5181599"/>
          </a:xfrm>
        </p:spPr>
        <p:txBody>
          <a:bodyPr vert="eaVert"/>
          <a:lstStyle>
            <a:lvl1pPr algn="l">
              <a:defRPr/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8" name="Vertical Text Placeholder 2"/>
          <p:cNvSpPr>
            <a:spLocks noGrp="1"/>
          </p:cNvSpPr>
          <p:nvPr>
            <p:ph type="body" orient="vert" sz="quarter" idx="13"/>
          </p:nvPr>
        </p:nvSpPr>
        <p:spPr>
          <a:xfrm>
            <a:off x="685331" y="609602"/>
            <a:ext cx="5744043" cy="5181599"/>
          </a:xfrm>
        </p:spPr>
        <p:txBody>
          <a:bodyPr vert="eaVert"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4750910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obj">
  <p:cSld name="1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8262157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theme" Target="../theme/theme1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2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 descr="\\DROBO-FS\QuickDrops\JB\PPTX NG\Droplets\LightingOverlay.png"/>
          <p:cNvPicPr>
            <a:picLocks noChangeAspect="1" noChangeArrowheads="1"/>
          </p:cNvPicPr>
          <p:nvPr/>
        </p:nvPicPr>
        <p:blipFill>
          <a:blip r:embed="rId20">
            <a:alphaModFix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" y="-1"/>
            <a:ext cx="9144002" cy="68580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85332" y="618518"/>
            <a:ext cx="7773338" cy="1596177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5331" y="2367094"/>
            <a:ext cx="7773339" cy="3424107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5759053" y="5883276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>
                <a:solidFill>
                  <a:schemeClr val="tx1"/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6/1/2026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685331" y="5883276"/>
            <a:ext cx="500466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00">
                <a:solidFill>
                  <a:schemeClr val="tx1"/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7885509" y="5883276"/>
            <a:ext cx="573161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>
                <a:solidFill>
                  <a:schemeClr val="tx1"/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142266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99" r:id="rId1"/>
    <p:sldLayoutId id="2147483700" r:id="rId2"/>
    <p:sldLayoutId id="2147483701" r:id="rId3"/>
    <p:sldLayoutId id="2147483702" r:id="rId4"/>
    <p:sldLayoutId id="2147483703" r:id="rId5"/>
    <p:sldLayoutId id="2147483704" r:id="rId6"/>
    <p:sldLayoutId id="2147483705" r:id="rId7"/>
    <p:sldLayoutId id="2147483706" r:id="rId8"/>
    <p:sldLayoutId id="2147483707" r:id="rId9"/>
    <p:sldLayoutId id="2147483708" r:id="rId10"/>
    <p:sldLayoutId id="2147483709" r:id="rId11"/>
    <p:sldLayoutId id="2147483710" r:id="rId12"/>
    <p:sldLayoutId id="2147483711" r:id="rId13"/>
    <p:sldLayoutId id="2147483712" r:id="rId14"/>
    <p:sldLayoutId id="2147483713" r:id="rId15"/>
    <p:sldLayoutId id="2147483714" r:id="rId16"/>
    <p:sldLayoutId id="2147483715" r:id="rId17"/>
    <p:sldLayoutId id="2147483716" r:id="rId18"/>
  </p:sldLayoutIdLst>
  <p:txStyles>
    <p:titleStyle>
      <a:lvl1pPr algn="ctr" defTabSz="914400" rtl="0" eaLnBrk="1" latinLnBrk="0" hangingPunct="1">
        <a:lnSpc>
          <a:spcPct val="90000"/>
        </a:lnSpc>
        <a:spcBef>
          <a:spcPct val="0"/>
        </a:spcBef>
        <a:buNone/>
        <a:defRPr sz="3600" kern="1200" cap="all" baseline="0">
          <a:solidFill>
            <a:schemeClr val="tx1"/>
          </a:solidFill>
          <a:effectLst/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20000"/>
        </a:lnSpc>
        <a:spcBef>
          <a:spcPts val="1000"/>
        </a:spcBef>
        <a:buClr>
          <a:schemeClr val="tx1"/>
        </a:buClr>
        <a:buFont typeface="Arial" panose="020B0604020202020204" pitchFamily="34" charset="0"/>
        <a:buChar char="•"/>
        <a:defRPr sz="2000" kern="1200" cap="all" baseline="0">
          <a:solidFill>
            <a:schemeClr val="tx1"/>
          </a:solidFill>
          <a:effectLst/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tx1"/>
        </a:buClr>
        <a:buFont typeface="Arial" panose="020B0604020202020204" pitchFamily="34" charset="0"/>
        <a:buChar char="•"/>
        <a:defRPr sz="1800" kern="1200" cap="all" baseline="0">
          <a:solidFill>
            <a:schemeClr val="tx1"/>
          </a:solidFill>
          <a:effectLst/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tx1"/>
        </a:buClr>
        <a:buFont typeface="Arial" panose="020B0604020202020204" pitchFamily="34" charset="0"/>
        <a:buChar char="•"/>
        <a:defRPr sz="1600" kern="1200" cap="all" baseline="0">
          <a:solidFill>
            <a:schemeClr val="tx1"/>
          </a:solidFill>
          <a:effectLst/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tx1"/>
        </a:buClr>
        <a:buFont typeface="Arial" panose="020B0604020202020204" pitchFamily="34" charset="0"/>
        <a:buChar char="•"/>
        <a:defRPr sz="1400" kern="1200" cap="all" baseline="0">
          <a:solidFill>
            <a:schemeClr val="tx1"/>
          </a:solidFill>
          <a:effectLst/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tx1"/>
        </a:buClr>
        <a:buFont typeface="Arial" panose="020B0604020202020204" pitchFamily="34" charset="0"/>
        <a:buChar char="•"/>
        <a:defRPr sz="1400" kern="1200" cap="all" baseline="0">
          <a:solidFill>
            <a:schemeClr val="tx1"/>
          </a:solidFill>
          <a:effectLst/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tx1"/>
        </a:buClr>
        <a:buFont typeface="Arial" panose="020B0604020202020204" pitchFamily="34" charset="0"/>
        <a:buChar char="•"/>
        <a:defRPr sz="1400" kern="1200" cap="all" baseline="0">
          <a:solidFill>
            <a:schemeClr val="tx1"/>
          </a:solidFill>
          <a:effectLst/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tx1"/>
        </a:buClr>
        <a:buFont typeface="Arial" panose="020B0604020202020204" pitchFamily="34" charset="0"/>
        <a:buChar char="•"/>
        <a:defRPr sz="1400" kern="1200" cap="all" baseline="0">
          <a:solidFill>
            <a:schemeClr val="tx1"/>
          </a:solidFill>
          <a:effectLst/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tx1"/>
        </a:buClr>
        <a:buFont typeface="Arial" panose="020B0604020202020204" pitchFamily="34" charset="0"/>
        <a:buChar char="•"/>
        <a:defRPr sz="1400" kern="1200" cap="all" baseline="0">
          <a:solidFill>
            <a:schemeClr val="tx1"/>
          </a:solidFill>
          <a:effectLst/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tx1"/>
        </a:buClr>
        <a:buFont typeface="Arial" panose="020B0604020202020204" pitchFamily="34" charset="0"/>
        <a:buChar char="•"/>
        <a:defRPr sz="1400" kern="1200" cap="all" baseline="0">
          <a:solidFill>
            <a:schemeClr val="tx1"/>
          </a:solidFill>
          <a:effectLst/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18.xml"/><Relationship Id="rId4" Type="http://schemas.openxmlformats.org/officeDocument/2006/relationships/image" Target="../media/image6.png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8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18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8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8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8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8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8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18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8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8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8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jpg"/><Relationship Id="rId1" Type="http://schemas.openxmlformats.org/officeDocument/2006/relationships/slideLayout" Target="../slideLayouts/slideLayout18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jpg"/><Relationship Id="rId1" Type="http://schemas.openxmlformats.org/officeDocument/2006/relationships/slideLayout" Target="../slideLayouts/slideLayout18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jpg"/><Relationship Id="rId1" Type="http://schemas.openxmlformats.org/officeDocument/2006/relationships/slideLayout" Target="../slideLayouts/slideLayout18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jpg"/><Relationship Id="rId1" Type="http://schemas.openxmlformats.org/officeDocument/2006/relationships/slideLayout" Target="../slideLayouts/slideLayout18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jp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8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jpg"/><Relationship Id="rId1" Type="http://schemas.openxmlformats.org/officeDocument/2006/relationships/slideLayout" Target="../slideLayouts/slideLayout18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jp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8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jpg"/><Relationship Id="rId1" Type="http://schemas.openxmlformats.org/officeDocument/2006/relationships/slideLayout" Target="../slideLayouts/slideLayout18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jpg"/><Relationship Id="rId1" Type="http://schemas.openxmlformats.org/officeDocument/2006/relationships/slideLayout" Target="../slideLayouts/slideLayout18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jpg"/><Relationship Id="rId1" Type="http://schemas.openxmlformats.org/officeDocument/2006/relationships/slideLayout" Target="../slideLayouts/slideLayout18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jpg"/><Relationship Id="rId1" Type="http://schemas.openxmlformats.org/officeDocument/2006/relationships/slideLayout" Target="../slideLayouts/slideLayout18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jpg"/><Relationship Id="rId1" Type="http://schemas.openxmlformats.org/officeDocument/2006/relationships/slideLayout" Target="../slideLayouts/slideLayout18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8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18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8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8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18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18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18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8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8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8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8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8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1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8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8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8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8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8.xml"/></Relationships>
</file>

<file path=ppt/slides/_rels/slide4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7.xml"/></Relationships>
</file>

<file path=ppt/slides/_rels/slide4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jpe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/>
          <p:cNvSpPr txBox="1">
            <a:spLocks/>
          </p:cNvSpPr>
          <p:nvPr/>
        </p:nvSpPr>
        <p:spPr>
          <a:xfrm>
            <a:off x="866300" y="2630760"/>
            <a:ext cx="7620000" cy="1828800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ctr" defTabSz="457200" rtl="0" eaLnBrk="1" latinLnBrk="0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lnSpc>
                <a:spcPct val="150000"/>
              </a:lnSpc>
            </a:pPr>
            <a:r>
              <a:rPr lang="en-US" sz="3200" dirty="0" smtClean="0">
                <a:latin typeface="Times New Roman" pitchFamily="18" charset="0"/>
                <a:cs typeface="Times New Roman" pitchFamily="18" charset="0"/>
              </a:rPr>
              <a:t/>
            </a:r>
            <a:br>
              <a:rPr lang="en-US" sz="3200" dirty="0" smtClean="0">
                <a:latin typeface="Times New Roman" pitchFamily="18" charset="0"/>
                <a:cs typeface="Times New Roman" pitchFamily="18" charset="0"/>
              </a:rPr>
            </a:br>
            <a:r>
              <a:rPr lang="en-US" sz="2000" b="1" dirty="0" smtClean="0">
                <a:latin typeface="Times New Roman" pitchFamily="18" charset="0"/>
                <a:cs typeface="Times New Roman" pitchFamily="18" charset="0"/>
              </a:rPr>
              <a:t>Prepared for:   </a:t>
            </a:r>
            <a:r>
              <a:rPr lang="en-US" sz="2000" dirty="0" smtClean="0">
                <a:latin typeface="Times New Roman" pitchFamily="18" charset="0"/>
                <a:cs typeface="Times New Roman" pitchFamily="18" charset="0"/>
              </a:rPr>
              <a:t/>
            </a:r>
            <a:br>
              <a:rPr lang="en-US" sz="2000" dirty="0" smtClean="0">
                <a:latin typeface="Times New Roman" pitchFamily="18" charset="0"/>
                <a:cs typeface="Times New Roman" pitchFamily="18" charset="0"/>
              </a:rPr>
            </a:br>
            <a:r>
              <a:rPr lang="en-US" sz="1800" b="1" dirty="0" smtClean="0">
                <a:latin typeface="Times New Roman" pitchFamily="18" charset="0"/>
                <a:cs typeface="Times New Roman" pitchFamily="18" charset="0"/>
              </a:rPr>
              <a:t>Practicum Defense Committee  </a:t>
            </a:r>
            <a:br>
              <a:rPr lang="en-US" sz="1800" b="1" dirty="0" smtClean="0">
                <a:latin typeface="Times New Roman" pitchFamily="18" charset="0"/>
                <a:cs typeface="Times New Roman" pitchFamily="18" charset="0"/>
              </a:rPr>
            </a:br>
            <a:r>
              <a:rPr lang="en-US" sz="1800" b="1" dirty="0" smtClean="0">
                <a:latin typeface="Times New Roman" pitchFamily="18" charset="0"/>
                <a:cs typeface="Times New Roman" pitchFamily="18" charset="0"/>
              </a:rPr>
              <a:t>Department of  Computer Science and Engineering</a:t>
            </a:r>
            <a:r>
              <a:rPr lang="en-US" sz="3200" dirty="0" smtClean="0"/>
              <a:t/>
            </a:r>
            <a:br>
              <a:rPr lang="en-US" sz="3200" dirty="0" smtClean="0"/>
            </a:br>
            <a:endParaRPr lang="en-US" sz="3200" dirty="0"/>
          </a:p>
        </p:txBody>
      </p:sp>
      <p:sp>
        <p:nvSpPr>
          <p:cNvPr id="7" name="WordArt 5"/>
          <p:cNvSpPr>
            <a:spLocks noChangeArrowheads="1" noChangeShapeType="1" noTextEdit="1"/>
          </p:cNvSpPr>
          <p:nvPr/>
        </p:nvSpPr>
        <p:spPr bwMode="auto">
          <a:xfrm>
            <a:off x="744583" y="321276"/>
            <a:ext cx="7683137" cy="267789"/>
          </a:xfrm>
          <a:prstGeom prst="rect">
            <a:avLst/>
          </a:prstGeom>
        </p:spPr>
        <p:txBody>
          <a:bodyPr wrap="none" fromWordArt="1">
            <a:prstTxWarp prst="textPlain">
              <a:avLst>
                <a:gd name="adj" fmla="val 50000"/>
              </a:avLst>
            </a:prstTxWarp>
          </a:bodyPr>
          <a:lstStyle/>
          <a:p>
            <a:pPr algn="ctr"/>
            <a:r>
              <a:rPr lang="en-US" sz="1200" b="1" kern="10" spc="240" dirty="0" smtClean="0">
                <a:ln w="9525">
                  <a:solidFill>
                    <a:srgbClr val="008000"/>
                  </a:solidFill>
                  <a:round/>
                  <a:headEnd/>
                  <a:tailEnd/>
                </a:ln>
                <a:solidFill>
                  <a:srgbClr val="008000"/>
                </a:solidFill>
                <a:latin typeface="Arial Narrow"/>
              </a:rPr>
              <a:t>IUBAT–INTERNATIONAL </a:t>
            </a:r>
            <a:r>
              <a:rPr lang="en-US" sz="1200" b="1" kern="10" spc="240" dirty="0" smtClean="0">
                <a:ln w="9525">
                  <a:solidFill>
                    <a:srgbClr val="008000"/>
                  </a:solidFill>
                  <a:round/>
                  <a:headEnd/>
                  <a:tailEnd/>
                </a:ln>
                <a:solidFill>
                  <a:srgbClr val="008000"/>
                </a:solidFill>
                <a:effectLst/>
                <a:latin typeface="Arial Narrow"/>
              </a:rPr>
              <a:t>UNIVERSITY OF BUSINESS AGRICULTURE AND TECHNOLOGY</a:t>
            </a:r>
            <a:endParaRPr lang="en-US" sz="1200" b="1" kern="10" spc="240" dirty="0">
              <a:ln w="9525">
                <a:solidFill>
                  <a:srgbClr val="008000"/>
                </a:solidFill>
                <a:round/>
                <a:headEnd/>
                <a:tailEnd/>
              </a:ln>
              <a:solidFill>
                <a:srgbClr val="008000"/>
              </a:solidFill>
              <a:effectLst/>
              <a:latin typeface="Arial Narrow"/>
            </a:endParaRPr>
          </a:p>
        </p:txBody>
      </p:sp>
      <p:sp>
        <p:nvSpPr>
          <p:cNvPr id="8" name="Rectangle 7"/>
          <p:cNvSpPr/>
          <p:nvPr/>
        </p:nvSpPr>
        <p:spPr>
          <a:xfrm>
            <a:off x="3124200" y="713601"/>
            <a:ext cx="2963375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lvl="0" fontAlgn="base">
              <a:spcBef>
                <a:spcPct val="0"/>
              </a:spcBef>
              <a:spcAft>
                <a:spcPct val="0"/>
              </a:spcAft>
            </a:pPr>
            <a:r>
              <a:rPr lang="en-US" sz="1200" b="1" i="1" dirty="0" smtClean="0">
                <a:solidFill>
                  <a:srgbClr val="008000"/>
                </a:solidFill>
                <a:latin typeface="Arial" pitchFamily="34" charset="0"/>
                <a:ea typeface="Times New Roman" pitchFamily="18" charset="0"/>
                <a:cs typeface="Times New Roman" pitchFamily="18" charset="0"/>
              </a:rPr>
              <a:t>Founded 1991 by Md. Alimullah Miyan</a:t>
            </a:r>
            <a:endParaRPr lang="en-US" sz="1100" dirty="0" smtClean="0">
              <a:latin typeface="Arial" pitchFamily="34" charset="0"/>
              <a:cs typeface="Arial" pitchFamily="34" charset="0"/>
            </a:endParaRPr>
          </a:p>
        </p:txBody>
      </p:sp>
      <p:pic>
        <p:nvPicPr>
          <p:cNvPr id="9" name="Picture 4"/>
          <p:cNvPicPr>
            <a:picLocks noChangeAspect="1" noChangeArrowheads="1"/>
          </p:cNvPicPr>
          <p:nvPr/>
        </p:nvPicPr>
        <p:blipFill>
          <a:blip r:embed="rId2"/>
          <a:srcRect/>
          <a:stretch>
            <a:fillRect/>
          </a:stretch>
        </p:blipFill>
        <p:spPr bwMode="auto">
          <a:xfrm>
            <a:off x="76200" y="152400"/>
            <a:ext cx="609600" cy="53901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sp>
        <p:nvSpPr>
          <p:cNvPr id="11" name="Rectangle 10"/>
          <p:cNvSpPr/>
          <p:nvPr/>
        </p:nvSpPr>
        <p:spPr>
          <a:xfrm>
            <a:off x="2895600" y="2209800"/>
            <a:ext cx="3918060" cy="4001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2000" b="1" u="sng" dirty="0" smtClean="0">
                <a:latin typeface="Times New Roman" pitchFamily="18" charset="0"/>
                <a:cs typeface="Times New Roman" pitchFamily="18" charset="0"/>
              </a:rPr>
              <a:t>Course Code: Practicum CSC 490</a:t>
            </a:r>
            <a:endParaRPr lang="en-US" sz="2000" dirty="0"/>
          </a:p>
        </p:txBody>
      </p:sp>
      <p:sp>
        <p:nvSpPr>
          <p:cNvPr id="12" name="Rectangle 11"/>
          <p:cNvSpPr/>
          <p:nvPr/>
        </p:nvSpPr>
        <p:spPr>
          <a:xfrm>
            <a:off x="5224291" y="4724400"/>
            <a:ext cx="3262009" cy="107721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lang="en-US" b="1" u="sng" dirty="0" smtClean="0">
                <a:latin typeface="Times New Roman" pitchFamily="18" charset="0"/>
                <a:cs typeface="Times New Roman" pitchFamily="18" charset="0"/>
              </a:rPr>
              <a:t>Prepared by:</a:t>
            </a:r>
          </a:p>
          <a:p>
            <a:pPr>
              <a:spcAft>
                <a:spcPts val="600"/>
              </a:spcAft>
            </a:pPr>
            <a:r>
              <a:rPr lang="en-US" dirty="0" smtClean="0">
                <a:latin typeface="Times New Roman" pitchFamily="18" charset="0"/>
                <a:cs typeface="Times New Roman" pitchFamily="18" charset="0"/>
              </a:rPr>
              <a:t>Student Name: Hasan Imam</a:t>
            </a:r>
          </a:p>
          <a:p>
            <a:pPr>
              <a:spcAft>
                <a:spcPts val="600"/>
              </a:spcAft>
            </a:pPr>
            <a:r>
              <a:rPr lang="en-US" dirty="0" smtClean="0">
                <a:latin typeface="Times New Roman" pitchFamily="18" charset="0"/>
                <a:cs typeface="Times New Roman" pitchFamily="18" charset="0"/>
              </a:rPr>
              <a:t>Student ID: 22203032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910325" y="6309211"/>
            <a:ext cx="1351652" cy="4001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2000" b="1" dirty="0" smtClean="0">
                <a:latin typeface="Times New Roman" pitchFamily="18" charset="0"/>
                <a:cs typeface="Times New Roman" pitchFamily="18" charset="0"/>
              </a:rPr>
              <a:t>01/06/2026</a:t>
            </a:r>
            <a:endParaRPr lang="en-US" sz="2000" dirty="0"/>
          </a:p>
        </p:txBody>
      </p:sp>
      <p:sp>
        <p:nvSpPr>
          <p:cNvPr id="14" name="Rectangle 13"/>
          <p:cNvSpPr/>
          <p:nvPr/>
        </p:nvSpPr>
        <p:spPr>
          <a:xfrm>
            <a:off x="685800" y="4724400"/>
            <a:ext cx="3505200" cy="107721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lang="en-US" b="1" u="sng" dirty="0" smtClean="0">
                <a:latin typeface="Times New Roman" pitchFamily="18" charset="0"/>
                <a:cs typeface="Times New Roman" pitchFamily="18" charset="0"/>
              </a:rPr>
              <a:t>Supervised by:</a:t>
            </a:r>
          </a:p>
          <a:p>
            <a:pPr>
              <a:spcAft>
                <a:spcPts val="600"/>
              </a:spcAft>
            </a:pPr>
            <a:r>
              <a:rPr lang="en-US" dirty="0" smtClean="0">
                <a:latin typeface="Times New Roman" pitchFamily="18" charset="0"/>
                <a:cs typeface="Times New Roman" pitchFamily="18" charset="0"/>
              </a:rPr>
              <a:t>Faculty Name: </a:t>
            </a:r>
            <a:r>
              <a:rPr lang="en-US" dirty="0" err="1" smtClean="0">
                <a:latin typeface="Times New Roman" pitchFamily="18" charset="0"/>
                <a:cs typeface="Times New Roman" pitchFamily="18" charset="0"/>
              </a:rPr>
              <a:t>Jannatul</a:t>
            </a:r>
            <a:r>
              <a:rPr lang="en-US" dirty="0" smtClean="0">
                <a:latin typeface="Times New Roman" pitchFamily="18" charset="0"/>
                <a:cs typeface="Times New Roman" pitchFamily="18" charset="0"/>
              </a:rPr>
              <a:t> </a:t>
            </a:r>
            <a:r>
              <a:rPr lang="en-US" dirty="0" err="1" smtClean="0">
                <a:latin typeface="Times New Roman" pitchFamily="18" charset="0"/>
                <a:cs typeface="Times New Roman" pitchFamily="18" charset="0"/>
              </a:rPr>
              <a:t>Ferdous</a:t>
            </a:r>
            <a:endParaRPr lang="en-US" dirty="0" smtClean="0">
              <a:latin typeface="Times New Roman" pitchFamily="18" charset="0"/>
              <a:cs typeface="Times New Roman" pitchFamily="18" charset="0"/>
            </a:endParaRPr>
          </a:p>
          <a:p>
            <a:pPr>
              <a:spcAft>
                <a:spcPts val="600"/>
              </a:spcAft>
            </a:pPr>
            <a:r>
              <a:rPr lang="en-US" dirty="0" smtClean="0">
                <a:latin typeface="Times New Roman" pitchFamily="18" charset="0"/>
                <a:cs typeface="Times New Roman" pitchFamily="18" charset="0"/>
              </a:rPr>
              <a:t>Designation: Lecturer</a:t>
            </a:r>
          </a:p>
        </p:txBody>
      </p:sp>
      <p:pic>
        <p:nvPicPr>
          <p:cNvPr id="15" name="Picture 14" descr="Logo"/>
          <p:cNvPicPr/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623030" y="3746272"/>
            <a:ext cx="457200" cy="470535"/>
          </a:xfrm>
          <a:prstGeom prst="rect">
            <a:avLst/>
          </a:prstGeom>
          <a:noFill/>
        </p:spPr>
      </p:pic>
      <p:sp>
        <p:nvSpPr>
          <p:cNvPr id="16" name="Rectangle 15"/>
          <p:cNvSpPr/>
          <p:nvPr/>
        </p:nvSpPr>
        <p:spPr>
          <a:xfrm>
            <a:off x="8338851" y="609600"/>
            <a:ext cx="762000" cy="21544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algn="r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sz="800" b="1" dirty="0" smtClean="0">
                <a:latin typeface="Arial" pitchFamily="34" charset="0"/>
                <a:cs typeface="Arial" pitchFamily="34" charset="0"/>
              </a:rPr>
              <a:t>1991-2026</a:t>
            </a:r>
            <a:endParaRPr lang="en-US" sz="600" dirty="0" smtClean="0">
              <a:latin typeface="Arial" pitchFamily="34" charset="0"/>
              <a:cs typeface="Arial" pitchFamily="34" charset="0"/>
            </a:endParaRPr>
          </a:p>
        </p:txBody>
      </p:sp>
      <p:pic>
        <p:nvPicPr>
          <p:cNvPr id="17" name="Picture 2"/>
          <p:cNvPicPr>
            <a:picLocks noChangeAspect="1" noChangeArrowheads="1"/>
          </p:cNvPicPr>
          <p:nvPr/>
        </p:nvPicPr>
        <p:blipFill>
          <a:blip r:embed="rId4" cstate="print"/>
          <a:srcRect/>
          <a:stretch>
            <a:fillRect/>
          </a:stretch>
        </p:blipFill>
        <p:spPr bwMode="auto">
          <a:xfrm>
            <a:off x="8486300" y="228600"/>
            <a:ext cx="609944" cy="390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sp>
        <p:nvSpPr>
          <p:cNvPr id="20" name="Rectangle 3"/>
          <p:cNvSpPr>
            <a:spLocks noChangeArrowheads="1"/>
          </p:cNvSpPr>
          <p:nvPr/>
        </p:nvSpPr>
        <p:spPr bwMode="auto">
          <a:xfrm>
            <a:off x="1379838" y="1115136"/>
            <a:ext cx="6149371" cy="83099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2400" b="1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MessManager — Bachelor Mess Expense &amp; Meal System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dirty="0"/>
              <a:t>Topics To Be Covered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85331" y="2367094"/>
            <a:ext cx="8458669" cy="3744457"/>
          </a:xfrm>
        </p:spPr>
        <p:txBody>
          <a:bodyPr numCol="2">
            <a:normAutofit fontScale="77500" lnSpcReduction="20000"/>
          </a:bodyPr>
          <a:lstStyle/>
          <a:p>
            <a:pPr>
              <a:buFont typeface="Wingdings" panose="05000000000000000000" pitchFamily="2" charset="2"/>
              <a:buChar char="q"/>
            </a:pPr>
            <a:r>
              <a:rPr dirty="0"/>
              <a:t>Organization Overview</a:t>
            </a:r>
          </a:p>
          <a:p>
            <a:pPr>
              <a:buFont typeface="Wingdings" panose="05000000000000000000" pitchFamily="2" charset="2"/>
              <a:buChar char="q"/>
            </a:pPr>
            <a:r>
              <a:rPr dirty="0"/>
              <a:t>Project Overview</a:t>
            </a:r>
          </a:p>
          <a:p>
            <a:pPr>
              <a:buFont typeface="Wingdings" panose="05000000000000000000" pitchFamily="2" charset="2"/>
              <a:buChar char="q"/>
            </a:pPr>
            <a:r>
              <a:rPr dirty="0" smtClean="0"/>
              <a:t>Objectives</a:t>
            </a:r>
            <a:endParaRPr lang="en-US" dirty="0" smtClean="0"/>
          </a:p>
          <a:p>
            <a:pPr>
              <a:buFont typeface="Wingdings" panose="05000000000000000000" pitchFamily="2" charset="2"/>
              <a:buChar char="q"/>
            </a:pPr>
            <a:r>
              <a:rPr lang="en-SG" dirty="0"/>
              <a:t>System Benefits</a:t>
            </a:r>
            <a:endParaRPr dirty="0"/>
          </a:p>
          <a:p>
            <a:pPr>
              <a:buFont typeface="Wingdings" panose="05000000000000000000" pitchFamily="2" charset="2"/>
              <a:buChar char="q"/>
            </a:pPr>
            <a:r>
              <a:rPr dirty="0"/>
              <a:t>Feasibility </a:t>
            </a:r>
            <a:r>
              <a:rPr dirty="0" smtClean="0"/>
              <a:t>Analysis</a:t>
            </a:r>
            <a:endParaRPr lang="en-US" dirty="0" smtClean="0"/>
          </a:p>
          <a:p>
            <a:pPr>
              <a:buFont typeface="Wingdings" panose="05000000000000000000" pitchFamily="2" charset="2"/>
              <a:buChar char="q"/>
            </a:pPr>
            <a:r>
              <a:rPr lang="en-US" dirty="0" smtClean="0"/>
              <a:t>Project model</a:t>
            </a:r>
            <a:endParaRPr dirty="0"/>
          </a:p>
          <a:p>
            <a:pPr>
              <a:buFont typeface="Wingdings" panose="05000000000000000000" pitchFamily="2" charset="2"/>
              <a:buChar char="q"/>
            </a:pPr>
            <a:r>
              <a:rPr dirty="0"/>
              <a:t>Requirement Engineering</a:t>
            </a:r>
          </a:p>
          <a:p>
            <a:pPr>
              <a:buFont typeface="Wingdings" panose="05000000000000000000" pitchFamily="2" charset="2"/>
              <a:buChar char="q"/>
            </a:pPr>
            <a:r>
              <a:rPr dirty="0"/>
              <a:t>System Architecture</a:t>
            </a:r>
          </a:p>
          <a:p>
            <a:pPr>
              <a:buFont typeface="Wingdings" panose="05000000000000000000" pitchFamily="2" charset="2"/>
              <a:buChar char="q"/>
            </a:pPr>
            <a:r>
              <a:rPr dirty="0"/>
              <a:t>Diagrams</a:t>
            </a:r>
          </a:p>
          <a:p>
            <a:pPr>
              <a:buFont typeface="Wingdings" panose="05000000000000000000" pitchFamily="2" charset="2"/>
              <a:buChar char="q"/>
            </a:pPr>
            <a:r>
              <a:rPr dirty="0"/>
              <a:t>Dashboard </a:t>
            </a:r>
            <a:r>
              <a:rPr dirty="0" smtClean="0"/>
              <a:t>Overview</a:t>
            </a:r>
            <a:endParaRPr lang="en-US" dirty="0" smtClean="0"/>
          </a:p>
          <a:p>
            <a:pPr>
              <a:buFont typeface="Wingdings" panose="05000000000000000000" pitchFamily="2" charset="2"/>
              <a:buChar char="q"/>
            </a:pPr>
            <a:r>
              <a:rPr lang="en-US" dirty="0" smtClean="0"/>
              <a:t>Risk Analysis</a:t>
            </a:r>
          </a:p>
          <a:p>
            <a:pPr>
              <a:buFont typeface="Wingdings" panose="05000000000000000000" pitchFamily="2" charset="2"/>
              <a:buChar char="q"/>
            </a:pPr>
            <a:r>
              <a:rPr lang="en-US" dirty="0" err="1" smtClean="0"/>
              <a:t>Rmmm</a:t>
            </a:r>
            <a:r>
              <a:rPr lang="en-US" dirty="0" smtClean="0"/>
              <a:t> plan</a:t>
            </a:r>
          </a:p>
          <a:p>
            <a:pPr>
              <a:buFont typeface="Wingdings" panose="05000000000000000000" pitchFamily="2" charset="2"/>
              <a:buChar char="q"/>
            </a:pPr>
            <a:r>
              <a:rPr lang="en-US" dirty="0" smtClean="0"/>
              <a:t>Timeline</a:t>
            </a:r>
          </a:p>
          <a:p>
            <a:pPr>
              <a:buFont typeface="Wingdings" panose="05000000000000000000" pitchFamily="2" charset="2"/>
              <a:buChar char="q"/>
            </a:pPr>
            <a:r>
              <a:rPr lang="en-SG"/>
              <a:t>Function Point </a:t>
            </a:r>
            <a:r>
              <a:rPr lang="en-SG" smtClean="0"/>
              <a:t>Estimation</a:t>
            </a:r>
          </a:p>
          <a:p>
            <a:pPr>
              <a:buFont typeface="Wingdings" panose="05000000000000000000" pitchFamily="2" charset="2"/>
              <a:buChar char="q"/>
            </a:pPr>
            <a:r>
              <a:rPr lang="en-US" smtClean="0"/>
              <a:t>Cost </a:t>
            </a:r>
            <a:r>
              <a:rPr lang="en-US" dirty="0" smtClean="0"/>
              <a:t>estimation</a:t>
            </a:r>
            <a:endParaRPr dirty="0"/>
          </a:p>
          <a:p>
            <a:pPr>
              <a:buFont typeface="Wingdings" panose="05000000000000000000" pitchFamily="2" charset="2"/>
              <a:buChar char="q"/>
            </a:pPr>
            <a:r>
              <a:rPr dirty="0" smtClean="0"/>
              <a:t>Testing</a:t>
            </a:r>
            <a:endParaRPr lang="en-US" dirty="0" smtClean="0"/>
          </a:p>
          <a:p>
            <a:pPr>
              <a:buFont typeface="Wingdings" panose="05000000000000000000" pitchFamily="2" charset="2"/>
              <a:buChar char="q"/>
            </a:pPr>
            <a:r>
              <a:rPr lang="en-US" dirty="0" smtClean="0"/>
              <a:t>limitation</a:t>
            </a:r>
            <a:endParaRPr dirty="0"/>
          </a:p>
          <a:p>
            <a:pPr>
              <a:buFont typeface="Wingdings" panose="05000000000000000000" pitchFamily="2" charset="2"/>
              <a:buChar char="q"/>
            </a:pPr>
            <a:r>
              <a:rPr dirty="0"/>
              <a:t>Future Work</a:t>
            </a:r>
          </a:p>
          <a:p>
            <a:pPr>
              <a:buFont typeface="Wingdings" panose="05000000000000000000" pitchFamily="2" charset="2"/>
              <a:buChar char="q"/>
            </a:pPr>
            <a:r>
              <a:rPr dirty="0"/>
              <a:t>Conclusion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dirty="0"/>
              <a:t>Organization Overview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85331" y="2367094"/>
            <a:ext cx="7773339" cy="2316873"/>
          </a:xfrm>
        </p:spPr>
        <p:txBody>
          <a:bodyPr/>
          <a:lstStyle/>
          <a:p>
            <a:r>
              <a:rPr lang="en-US" cap="none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CODETREE is a software and IT solutions company.</a:t>
            </a:r>
          </a:p>
          <a:p>
            <a:r>
              <a:rPr lang="en-US" cap="none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Provides web, mobile, </a:t>
            </a:r>
            <a:r>
              <a:rPr lang="en-US" cap="none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saas</a:t>
            </a:r>
            <a:r>
              <a:rPr lang="en-US" cap="none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, </a:t>
            </a:r>
            <a:r>
              <a:rPr lang="en-US" cap="none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pos</a:t>
            </a:r>
            <a:r>
              <a:rPr lang="en-US" cap="none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, and management systems.</a:t>
            </a:r>
          </a:p>
          <a:p>
            <a:r>
              <a:rPr lang="en-US" cap="none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Focuses on scalable and user-friendly digital solutions.</a:t>
            </a:r>
            <a:endParaRPr lang="en-US" cap="non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174033" y="4683967"/>
            <a:ext cx="4627984" cy="1156996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dirty="0"/>
              <a:t>Project Overview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cap="none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MessManager automates shared mess management.</a:t>
            </a:r>
          </a:p>
          <a:p>
            <a:r>
              <a:rPr lang="en-US" cap="none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Tracks meals, expenses, deposits, balances, and billing.</a:t>
            </a:r>
          </a:p>
          <a:p>
            <a:r>
              <a:rPr lang="en-US" cap="none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Provides role-based dashboards for super admin, manager, and user.</a:t>
            </a:r>
          </a:p>
          <a:p>
            <a:r>
              <a:rPr lang="en-US" cap="none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Reduces manual calculation errors and improves transparency.</a:t>
            </a:r>
            <a:endParaRPr lang="en-US" cap="non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dirty="0"/>
              <a:t>Problem Statement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cap="none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Manual mess systems are paper-based and error-prone.</a:t>
            </a:r>
          </a:p>
          <a:p>
            <a:r>
              <a:rPr lang="en-US" cap="none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Meal rate calculations are difficult.</a:t>
            </a:r>
          </a:p>
          <a:p>
            <a:r>
              <a:rPr lang="en-US" cap="none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Deposit and balance tracking becomes confusing.</a:t>
            </a:r>
          </a:p>
          <a:p>
            <a:r>
              <a:rPr lang="en-US" cap="none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No centralized management system exists.</a:t>
            </a:r>
            <a:endParaRPr lang="en-US" cap="non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Objectives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cap="none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Develop a secure role-based mess management system.</a:t>
            </a:r>
          </a:p>
          <a:p>
            <a:r>
              <a:rPr lang="en-US" cap="none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Automate meal tracking and monthly billing.</a:t>
            </a:r>
          </a:p>
          <a:p>
            <a:r>
              <a:rPr lang="en-US" cap="none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Implement deposit approval and refund settlement.</a:t>
            </a:r>
          </a:p>
          <a:p>
            <a:r>
              <a:rPr lang="en-US" cap="none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Provide financial transparency and reporting.</a:t>
            </a:r>
            <a:endParaRPr lang="en-US" cap="non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dirty="0"/>
              <a:t>System Benefits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cap="none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Automated calculations</a:t>
            </a:r>
          </a:p>
          <a:p>
            <a:r>
              <a:rPr lang="en-US" cap="none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Reduced human error</a:t>
            </a:r>
          </a:p>
          <a:p>
            <a:r>
              <a:rPr lang="en-US" cap="none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Transparent financial tracking</a:t>
            </a:r>
          </a:p>
          <a:p>
            <a:r>
              <a:rPr lang="en-US" cap="none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Role-based access control</a:t>
            </a:r>
          </a:p>
          <a:p>
            <a:r>
              <a:rPr lang="en-US" cap="none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Centralized digital management</a:t>
            </a:r>
            <a:endParaRPr lang="en-US" cap="non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dirty="0"/>
              <a:t>Feasibility Analysis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cap="none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Technical feasibility: </a:t>
            </a:r>
            <a:r>
              <a:rPr lang="en-US" cap="none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laravel</a:t>
            </a:r>
            <a:r>
              <a:rPr lang="en-US" cap="none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, react, </a:t>
            </a:r>
            <a:r>
              <a:rPr lang="en-US" cap="none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mysql</a:t>
            </a:r>
            <a:endParaRPr lang="en-US" cap="none" dirty="0" smtClean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cap="none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Economic feasibility: open-source technologies</a:t>
            </a:r>
          </a:p>
          <a:p>
            <a:r>
              <a:rPr lang="en-US" cap="none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Operational feasibility: user-friendly workflows</a:t>
            </a:r>
          </a:p>
          <a:p>
            <a:r>
              <a:rPr lang="en-US" cap="none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Schedule feasibility: agile 12-week development</a:t>
            </a:r>
            <a:endParaRPr lang="en-US" cap="non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8451" y="319939"/>
            <a:ext cx="7773338" cy="1596177"/>
          </a:xfrm>
        </p:spPr>
        <p:txBody>
          <a:bodyPr/>
          <a:lstStyle/>
          <a:p>
            <a:r>
              <a:rPr dirty="0"/>
              <a:t>Agile Process Model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7380" y="1639306"/>
            <a:ext cx="7773339" cy="3424107"/>
          </a:xfrm>
        </p:spPr>
        <p:txBody>
          <a:bodyPr/>
          <a:lstStyle/>
          <a:p>
            <a:r>
              <a:rPr lang="en-US" cap="none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Iterative development approach</a:t>
            </a:r>
          </a:p>
          <a:p>
            <a:r>
              <a:rPr lang="en-US" cap="none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Continuous testing and improvement</a:t>
            </a:r>
          </a:p>
          <a:p>
            <a:r>
              <a:rPr lang="en-US" cap="none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Sprint-based module implementation</a:t>
            </a:r>
            <a:endParaRPr lang="en-US" cap="non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1026" name="Picture 2" descr="agile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637620" y="3351359"/>
            <a:ext cx="5715000" cy="317023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dirty="0"/>
              <a:t>Requirement Engineering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SG" cap="none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Stakeholder analysis</a:t>
            </a:r>
          </a:p>
          <a:p>
            <a:r>
              <a:rPr lang="en-SG" cap="none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Requirement elicitation</a:t>
            </a:r>
          </a:p>
          <a:p>
            <a:r>
              <a:rPr lang="en-SG" cap="none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Functional requirements</a:t>
            </a:r>
          </a:p>
          <a:p>
            <a:r>
              <a:rPr lang="en-SG" cap="none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Non-functional requirements</a:t>
            </a:r>
            <a:endParaRPr lang="en-SG" cap="non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Functional Requirements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cap="none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Meal entry</a:t>
            </a:r>
          </a:p>
          <a:p>
            <a:r>
              <a:rPr lang="en-US" cap="none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Expense management</a:t>
            </a:r>
          </a:p>
          <a:p>
            <a:r>
              <a:rPr lang="en-US" cap="none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Deposit approval</a:t>
            </a:r>
          </a:p>
          <a:p>
            <a:r>
              <a:rPr lang="en-US" cap="none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Monthly billing</a:t>
            </a:r>
          </a:p>
          <a:p>
            <a:r>
              <a:rPr lang="en-US" cap="none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Member management</a:t>
            </a:r>
          </a:p>
          <a:p>
            <a:r>
              <a:rPr lang="en-US" cap="none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Refund settlement</a:t>
            </a:r>
            <a:endParaRPr lang="en-US" cap="non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Non-Functional Requirements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cap="none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Security</a:t>
            </a:r>
          </a:p>
          <a:p>
            <a:r>
              <a:rPr lang="en-US" cap="none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Performance</a:t>
            </a:r>
          </a:p>
          <a:p>
            <a:r>
              <a:rPr lang="en-US" cap="none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Responsiveness</a:t>
            </a:r>
          </a:p>
          <a:p>
            <a:r>
              <a:rPr lang="en-US" cap="none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Availability</a:t>
            </a:r>
          </a:p>
          <a:p>
            <a:r>
              <a:rPr lang="en-US" cap="none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Scalability</a:t>
            </a:r>
          </a:p>
          <a:p>
            <a:r>
              <a:rPr lang="en-US" cap="none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Maintainability</a:t>
            </a:r>
            <a:endParaRPr lang="en-US" cap="non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1355" y="115309"/>
            <a:ext cx="7773338" cy="1218970"/>
          </a:xfrm>
        </p:spPr>
        <p:txBody>
          <a:bodyPr/>
          <a:lstStyle/>
          <a:p>
            <a:r>
              <a:rPr dirty="0"/>
              <a:t>Use Case Diagram</a:t>
            </a:r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1411256"/>
            <a:ext cx="9144000" cy="5715000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331" y="510918"/>
            <a:ext cx="7773338" cy="1042331"/>
          </a:xfrm>
        </p:spPr>
        <p:txBody>
          <a:bodyPr/>
          <a:lstStyle/>
          <a:p>
            <a:r>
              <a:rPr dirty="0"/>
              <a:t>Activity Diagrams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62817" y="1524147"/>
            <a:ext cx="7773339" cy="478743"/>
          </a:xfrm>
        </p:spPr>
        <p:txBody>
          <a:bodyPr/>
          <a:lstStyle/>
          <a:p>
            <a:pPr marL="0" indent="0">
              <a:buNone/>
            </a:pPr>
            <a:r>
              <a:rPr dirty="0"/>
              <a:t>Admin Activity </a:t>
            </a:r>
            <a:r>
              <a:rPr dirty="0" smtClean="0"/>
              <a:t>Diagram</a:t>
            </a:r>
            <a:endParaRPr dirty="0"/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2007853"/>
            <a:ext cx="9143999" cy="4887972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4862" y="375923"/>
            <a:ext cx="7773338" cy="846388"/>
          </a:xfrm>
        </p:spPr>
        <p:txBody>
          <a:bodyPr/>
          <a:lstStyle/>
          <a:p>
            <a:r>
              <a:rPr dirty="0"/>
              <a:t>Activity Diagrams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98732" y="1222311"/>
            <a:ext cx="7773339" cy="520615"/>
          </a:xfrm>
        </p:spPr>
        <p:txBody>
          <a:bodyPr/>
          <a:lstStyle/>
          <a:p>
            <a:pPr marL="0" indent="0">
              <a:buNone/>
            </a:pPr>
            <a:r>
              <a:rPr dirty="0" smtClean="0"/>
              <a:t>Manager </a:t>
            </a:r>
            <a:r>
              <a:rPr dirty="0"/>
              <a:t>Activity </a:t>
            </a:r>
            <a:r>
              <a:rPr dirty="0" smtClean="0"/>
              <a:t>Diagra</a:t>
            </a:r>
            <a:r>
              <a:rPr lang="en-US" dirty="0" smtClean="0"/>
              <a:t>m</a:t>
            </a:r>
            <a:endParaRPr dirty="0"/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1632858"/>
            <a:ext cx="9144000" cy="540337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6171810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331" y="318975"/>
            <a:ext cx="7773338" cy="931327"/>
          </a:xfrm>
        </p:spPr>
        <p:txBody>
          <a:bodyPr/>
          <a:lstStyle/>
          <a:p>
            <a:r>
              <a:rPr dirty="0"/>
              <a:t>Activity Diagrams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5262" y="1268965"/>
            <a:ext cx="7773339" cy="466530"/>
          </a:xfrm>
        </p:spPr>
        <p:txBody>
          <a:bodyPr/>
          <a:lstStyle/>
          <a:p>
            <a:pPr marL="0" indent="0">
              <a:buNone/>
            </a:pPr>
            <a:r>
              <a:rPr dirty="0" smtClean="0"/>
              <a:t>User </a:t>
            </a:r>
            <a:r>
              <a:rPr dirty="0"/>
              <a:t>Activity </a:t>
            </a:r>
            <a:r>
              <a:rPr dirty="0" smtClean="0"/>
              <a:t>Diagram</a:t>
            </a:r>
            <a:endParaRPr dirty="0"/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1744827"/>
            <a:ext cx="9144000" cy="512250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1695689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1356" y="348573"/>
            <a:ext cx="7773338" cy="995035"/>
          </a:xfrm>
        </p:spPr>
        <p:txBody>
          <a:bodyPr/>
          <a:lstStyle/>
          <a:p>
            <a:r>
              <a:rPr dirty="0" err="1"/>
              <a:t>Swimlane</a:t>
            </a:r>
            <a:r>
              <a:rPr dirty="0"/>
              <a:t> Diagram</a:t>
            </a:r>
          </a:p>
        </p:txBody>
      </p:sp>
      <p:pic>
        <p:nvPicPr>
          <p:cNvPr id="3" name="Picture 2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" y="2024743"/>
            <a:ext cx="9144000" cy="487057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49290" y="1361010"/>
            <a:ext cx="7735078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Demonstrates how responsibilities are divided among users, managers, and the system.</a:t>
            </a:r>
            <a:endParaRPr lang="en-SG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331" y="105334"/>
            <a:ext cx="7773338" cy="921033"/>
          </a:xfrm>
        </p:spPr>
        <p:txBody>
          <a:bodyPr/>
          <a:lstStyle/>
          <a:p>
            <a:r>
              <a:rPr dirty="0"/>
              <a:t>Sequence Diagram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748895" y="808883"/>
            <a:ext cx="7773339" cy="1215859"/>
          </a:xfrm>
        </p:spPr>
        <p:txBody>
          <a:bodyPr>
            <a:noAutofit/>
          </a:bodyPr>
          <a:lstStyle/>
          <a:p>
            <a:r>
              <a:rPr lang="en-US" sz="1600" cap="none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Monthly billing calculation workflow.</a:t>
            </a:r>
          </a:p>
          <a:p>
            <a:r>
              <a:rPr lang="en-US" sz="1600" cap="none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Deposit approval process.</a:t>
            </a:r>
          </a:p>
          <a:p>
            <a:r>
              <a:rPr lang="en-US" sz="1600" cap="none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Refund settlement sequence.</a:t>
            </a:r>
            <a:endParaRPr lang="en-US" sz="1600" cap="non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22514" y="2090056"/>
            <a:ext cx="8220270" cy="4767943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73365" y="68655"/>
            <a:ext cx="7773338" cy="967044"/>
          </a:xfrm>
        </p:spPr>
        <p:txBody>
          <a:bodyPr/>
          <a:lstStyle/>
          <a:p>
            <a:r>
              <a:rPr dirty="0"/>
              <a:t>Class Diagram</a:t>
            </a:r>
          </a:p>
        </p:txBody>
      </p:sp>
      <p:pic>
        <p:nvPicPr>
          <p:cNvPr id="3" name="Picture 2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77282" y="1045030"/>
            <a:ext cx="8845420" cy="6982637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5372" y="86673"/>
            <a:ext cx="7773338" cy="1200951"/>
          </a:xfrm>
        </p:spPr>
        <p:txBody>
          <a:bodyPr/>
          <a:lstStyle/>
          <a:p>
            <a:r>
              <a:rPr dirty="0"/>
              <a:t>DFD Level 0</a:t>
            </a:r>
          </a:p>
        </p:txBody>
      </p:sp>
      <p:pic>
        <p:nvPicPr>
          <p:cNvPr id="3" name="Picture 2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1800808"/>
            <a:ext cx="9144000" cy="5057191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67951" y="1166327"/>
            <a:ext cx="886408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Provides a high-level overview of the entire system and its interactions with external entities.</a:t>
            </a:r>
            <a:endParaRPr lang="en-SG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54703" y="105335"/>
            <a:ext cx="7773338" cy="1182289"/>
          </a:xfrm>
        </p:spPr>
        <p:txBody>
          <a:bodyPr/>
          <a:lstStyle/>
          <a:p>
            <a:r>
              <a:rPr dirty="0"/>
              <a:t>DFD Level 1</a:t>
            </a:r>
          </a:p>
        </p:txBody>
      </p:sp>
      <p:pic>
        <p:nvPicPr>
          <p:cNvPr id="3" name="Picture 2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1567543"/>
            <a:ext cx="9144000" cy="5290457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3976" y="1082351"/>
            <a:ext cx="895738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Breaks down the main processes into more detailed modules.</a:t>
            </a:r>
            <a:endParaRPr lang="en-SG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5373" y="121298"/>
            <a:ext cx="7773338" cy="1119673"/>
          </a:xfrm>
        </p:spPr>
        <p:txBody>
          <a:bodyPr/>
          <a:lstStyle/>
          <a:p>
            <a:r>
              <a:rPr dirty="0"/>
              <a:t>DFD Level </a:t>
            </a:r>
            <a:r>
              <a:rPr dirty="0" smtClean="0"/>
              <a:t>2</a:t>
            </a:r>
            <a:r>
              <a:rPr lang="en-US" dirty="0" smtClean="0"/>
              <a:t> </a:t>
            </a:r>
            <a:r>
              <a:rPr lang="en-SG" dirty="0"/>
              <a:t>(Billing Sub-flow)</a:t>
            </a:r>
            <a:endParaRPr dirty="0"/>
          </a:p>
        </p:txBody>
      </p:sp>
      <p:pic>
        <p:nvPicPr>
          <p:cNvPr id="3" name="Picture 2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1483566"/>
            <a:ext cx="9144000" cy="5374433"/>
          </a:xfrm>
          <a:prstGeom prst="rect">
            <a:avLst/>
          </a:prstGeom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332" y="189311"/>
            <a:ext cx="7773338" cy="1359572"/>
          </a:xfrm>
        </p:spPr>
        <p:txBody>
          <a:bodyPr/>
          <a:lstStyle/>
          <a:p>
            <a:r>
              <a:rPr dirty="0"/>
              <a:t>DFD Level </a:t>
            </a:r>
            <a:r>
              <a:rPr dirty="0" smtClean="0"/>
              <a:t>2</a:t>
            </a:r>
            <a:r>
              <a:rPr lang="en-US" dirty="0" smtClean="0"/>
              <a:t> </a:t>
            </a:r>
            <a:r>
              <a:rPr lang="en-SG" dirty="0"/>
              <a:t>( Transaction &amp; </a:t>
            </a:r>
            <a:r>
              <a:rPr lang="en-SG" dirty="0" smtClean="0"/>
              <a:t>Settlement </a:t>
            </a:r>
            <a:r>
              <a:rPr lang="en-SG" dirty="0"/>
              <a:t>)</a:t>
            </a:r>
            <a:endParaRPr dirty="0"/>
          </a:p>
        </p:txBody>
      </p:sp>
      <p:pic>
        <p:nvPicPr>
          <p:cNvPr id="3" name="Picture 2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" y="1548882"/>
            <a:ext cx="9144000" cy="530911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36008805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332" y="96647"/>
            <a:ext cx="7773338" cy="1125664"/>
          </a:xfrm>
        </p:spPr>
        <p:txBody>
          <a:bodyPr/>
          <a:lstStyle/>
          <a:p>
            <a:r>
              <a:rPr dirty="0"/>
              <a:t>Entity Relationship Diagram (ERD)</a:t>
            </a:r>
          </a:p>
        </p:txBody>
      </p:sp>
      <p:pic>
        <p:nvPicPr>
          <p:cNvPr id="3" name="Picture 2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53143" y="1912776"/>
            <a:ext cx="7837714" cy="49452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20956" y="1129005"/>
            <a:ext cx="783771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Represents the database structure.</a:t>
            </a:r>
          </a:p>
          <a:p>
            <a:r>
              <a:rPr lang="en-US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It shows tables, attributes, primary keys, foreign keys, and relationships.</a:t>
            </a: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dirty="0"/>
              <a:t>System Architecture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SG" cap="none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Frontend: react + </a:t>
            </a:r>
            <a:r>
              <a:rPr lang="en-SG" cap="none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redux</a:t>
            </a:r>
            <a:r>
              <a:rPr lang="en-SG" cap="none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 toolkit</a:t>
            </a:r>
          </a:p>
          <a:p>
            <a:r>
              <a:rPr lang="en-SG" cap="none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Backend: </a:t>
            </a:r>
            <a:r>
              <a:rPr lang="en-SG" cap="none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laravel</a:t>
            </a:r>
            <a:r>
              <a:rPr lang="en-SG" cap="none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 API</a:t>
            </a:r>
          </a:p>
          <a:p>
            <a:r>
              <a:rPr lang="en-SG" cap="none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Database: </a:t>
            </a:r>
            <a:r>
              <a:rPr lang="en-SG" cap="none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mysql</a:t>
            </a:r>
            <a:endParaRPr lang="en-SG" cap="none" dirty="0" smtClean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SG" cap="none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Authentication: </a:t>
            </a:r>
            <a:r>
              <a:rPr lang="en-SG" cap="none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laravel</a:t>
            </a:r>
            <a:r>
              <a:rPr lang="en-SG" cap="none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 sanctum</a:t>
            </a:r>
            <a:endParaRPr lang="en-SG" cap="non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73365" y="3340"/>
            <a:ext cx="7773338" cy="1200309"/>
          </a:xfrm>
        </p:spPr>
        <p:txBody>
          <a:bodyPr/>
          <a:lstStyle/>
          <a:p>
            <a:r>
              <a:rPr dirty="0"/>
              <a:t>Database Design</a:t>
            </a:r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53144" y="1312736"/>
            <a:ext cx="7959012" cy="5012708"/>
          </a:xfrm>
          <a:prstGeom prst="rect">
            <a:avLst/>
          </a:prstGeom>
        </p:spPr>
      </p:pic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dirty="0"/>
              <a:t>API Design Summary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cap="none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REST API based architecture</a:t>
            </a:r>
          </a:p>
          <a:p>
            <a:r>
              <a:rPr lang="en-US" cap="none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Role-based route groups</a:t>
            </a:r>
          </a:p>
          <a:p>
            <a:r>
              <a:rPr lang="en-US" cap="none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Secure token authentication</a:t>
            </a:r>
          </a:p>
          <a:p>
            <a:r>
              <a:rPr lang="en-US" cap="none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Examples: /</a:t>
            </a:r>
            <a:r>
              <a:rPr lang="en-US" cap="none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api</a:t>
            </a:r>
            <a:r>
              <a:rPr lang="en-US" cap="none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/login, /</a:t>
            </a:r>
            <a:r>
              <a:rPr lang="en-US" cap="none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api</a:t>
            </a:r>
            <a:r>
              <a:rPr lang="en-US" cap="none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/user/meals</a:t>
            </a:r>
            <a:endParaRPr lang="en-US" cap="non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Billing Calculation Logic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cap="none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Meal rate = total bazaar expense / total meals</a:t>
            </a:r>
          </a:p>
          <a:p>
            <a:r>
              <a:rPr lang="en-US" cap="none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Total bill = meal cost + fixed share</a:t>
            </a:r>
          </a:p>
          <a:p>
            <a:r>
              <a:rPr lang="en-US" cap="none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Backend handles authoritative calculations</a:t>
            </a:r>
            <a:endParaRPr lang="en-US" cap="non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dirty="0"/>
              <a:t>Refund Settlement Logic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cap="none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Handles overpaid member settlements.</a:t>
            </a:r>
          </a:p>
          <a:p>
            <a:r>
              <a:rPr lang="en-US" cap="none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Separates meal and fixed refund amounts.</a:t>
            </a:r>
          </a:p>
          <a:p>
            <a:r>
              <a:rPr lang="en-US" cap="none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Creates negative transactions for auditing.</a:t>
            </a:r>
            <a:endParaRPr lang="en-US" cap="non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17380" y="3341"/>
            <a:ext cx="7773338" cy="1060350"/>
          </a:xfrm>
        </p:spPr>
        <p:txBody>
          <a:bodyPr/>
          <a:lstStyle/>
          <a:p>
            <a:r>
              <a:rPr dirty="0"/>
              <a:t>Super Admin Dashboard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7380" y="861986"/>
            <a:ext cx="7773339" cy="1358700"/>
          </a:xfrm>
        </p:spPr>
        <p:txBody>
          <a:bodyPr/>
          <a:lstStyle/>
          <a:p>
            <a:pPr>
              <a:lnSpc>
                <a:spcPct val="100000"/>
              </a:lnSpc>
            </a:pPr>
            <a:r>
              <a:rPr lang="en-US" cap="none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Manage mess requests</a:t>
            </a:r>
          </a:p>
          <a:p>
            <a:pPr>
              <a:lnSpc>
                <a:spcPct val="100000"/>
              </a:lnSpc>
            </a:pPr>
            <a:r>
              <a:rPr lang="en-US" cap="none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Approve/reject managers</a:t>
            </a:r>
          </a:p>
          <a:p>
            <a:pPr>
              <a:lnSpc>
                <a:spcPct val="100000"/>
              </a:lnSpc>
            </a:pPr>
            <a:r>
              <a:rPr lang="en-US" cap="none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View system reports</a:t>
            </a:r>
            <a:endParaRPr lang="en-US" cap="non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6" name="Picture 5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2220686"/>
            <a:ext cx="9144000" cy="4622800"/>
          </a:xfrm>
          <a:prstGeom prst="rect">
            <a:avLst/>
          </a:prstGeom>
        </p:spPr>
      </p:pic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64032" y="114665"/>
            <a:ext cx="7773338" cy="820055"/>
          </a:xfrm>
        </p:spPr>
        <p:txBody>
          <a:bodyPr/>
          <a:lstStyle/>
          <a:p>
            <a:r>
              <a:rPr dirty="0"/>
              <a:t>Manager Dashboard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92291" y="853069"/>
            <a:ext cx="7773339" cy="1280531"/>
          </a:xfrm>
        </p:spPr>
        <p:txBody>
          <a:bodyPr/>
          <a:lstStyle/>
          <a:p>
            <a:pPr>
              <a:lnSpc>
                <a:spcPct val="100000"/>
              </a:lnSpc>
            </a:pPr>
            <a:r>
              <a:rPr lang="en-US" cap="none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Manage members and expenses</a:t>
            </a:r>
          </a:p>
          <a:p>
            <a:pPr>
              <a:lnSpc>
                <a:spcPct val="100000"/>
              </a:lnSpc>
            </a:pPr>
            <a:r>
              <a:rPr lang="en-US" cap="none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Approve deposits</a:t>
            </a:r>
          </a:p>
          <a:p>
            <a:pPr>
              <a:lnSpc>
                <a:spcPct val="100000"/>
              </a:lnSpc>
            </a:pPr>
            <a:r>
              <a:rPr lang="en-US" cap="none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View monthly reports</a:t>
            </a:r>
            <a:endParaRPr lang="en-US" cap="non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630" y="2214880"/>
            <a:ext cx="9099370" cy="4643120"/>
          </a:xfrm>
          <a:prstGeom prst="rect">
            <a:avLst/>
          </a:prstGeom>
        </p:spPr>
      </p:pic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331" y="100359"/>
            <a:ext cx="7773338" cy="763242"/>
          </a:xfrm>
        </p:spPr>
        <p:txBody>
          <a:bodyPr/>
          <a:lstStyle/>
          <a:p>
            <a:r>
              <a:rPr dirty="0"/>
              <a:t>User Dashboard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93891" y="863601"/>
            <a:ext cx="7773339" cy="1290319"/>
          </a:xfrm>
        </p:spPr>
        <p:txBody>
          <a:bodyPr/>
          <a:lstStyle/>
          <a:p>
            <a:pPr>
              <a:lnSpc>
                <a:spcPct val="100000"/>
              </a:lnSpc>
            </a:pPr>
            <a:r>
              <a:rPr lang="en-US" cap="none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Meal entry and meal chart</a:t>
            </a:r>
          </a:p>
          <a:p>
            <a:pPr>
              <a:lnSpc>
                <a:spcPct val="100000"/>
              </a:lnSpc>
            </a:pPr>
            <a:r>
              <a:rPr lang="en-US" cap="none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View bills and balance</a:t>
            </a:r>
          </a:p>
          <a:p>
            <a:pPr>
              <a:lnSpc>
                <a:spcPct val="100000"/>
              </a:lnSpc>
            </a:pPr>
            <a:r>
              <a:rPr lang="en-US" cap="none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Deposit requests</a:t>
            </a:r>
            <a:endParaRPr lang="en-US" cap="non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" y="2153920"/>
            <a:ext cx="9144000" cy="4704080"/>
          </a:xfrm>
          <a:prstGeom prst="rect">
            <a:avLst/>
          </a:prstGeom>
        </p:spPr>
      </p:pic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dirty="0"/>
              <a:t>Testing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cap="none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Authentication testing</a:t>
            </a:r>
          </a:p>
          <a:p>
            <a:r>
              <a:rPr lang="en-US" cap="none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Meal entry testing</a:t>
            </a:r>
          </a:p>
          <a:p>
            <a:r>
              <a:rPr lang="en-US" cap="none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Billing calculation testing</a:t>
            </a:r>
          </a:p>
          <a:p>
            <a:r>
              <a:rPr lang="en-US" cap="none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Refund settlement testing</a:t>
            </a:r>
          </a:p>
          <a:p>
            <a:r>
              <a:rPr lang="en-US" cap="none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All core modules passed successfully.</a:t>
            </a:r>
            <a:endParaRPr lang="en-US" cap="non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332" y="618519"/>
            <a:ext cx="7773338" cy="809066"/>
          </a:xfrm>
        </p:spPr>
        <p:txBody>
          <a:bodyPr/>
          <a:lstStyle/>
          <a:p>
            <a:r>
              <a:rPr dirty="0"/>
              <a:t>Testing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963647149"/>
              </p:ext>
            </p:extLst>
          </p:nvPr>
        </p:nvGraphicFramePr>
        <p:xfrm>
          <a:off x="475861" y="1427585"/>
          <a:ext cx="8098971" cy="1977390"/>
        </p:xfrm>
        <a:graphic>
          <a:graphicData uri="http://schemas.openxmlformats.org/drawingml/2006/table">
            <a:tbl>
              <a:tblPr firstRow="1" firstCol="1" bandRow="1">
                <a:tableStyleId>{5C22544A-7EE6-4342-B048-85BDC9FD1C3A}</a:tableStyleId>
              </a:tblPr>
              <a:tblGrid>
                <a:gridCol w="995774">
                  <a:extLst>
                    <a:ext uri="{9D8B030D-6E8A-4147-A177-3AD203B41FA5}">
                      <a16:colId xmlns:a16="http://schemas.microsoft.com/office/drawing/2014/main" val="2746447795"/>
                    </a:ext>
                  </a:extLst>
                </a:gridCol>
                <a:gridCol w="1088715">
                  <a:extLst>
                    <a:ext uri="{9D8B030D-6E8A-4147-A177-3AD203B41FA5}">
                      <a16:colId xmlns:a16="http://schemas.microsoft.com/office/drawing/2014/main" val="3950514011"/>
                    </a:ext>
                  </a:extLst>
                </a:gridCol>
                <a:gridCol w="1009052">
                  <a:extLst>
                    <a:ext uri="{9D8B030D-6E8A-4147-A177-3AD203B41FA5}">
                      <a16:colId xmlns:a16="http://schemas.microsoft.com/office/drawing/2014/main" val="2880807083"/>
                    </a:ext>
                  </a:extLst>
                </a:gridCol>
                <a:gridCol w="2044658">
                  <a:extLst>
                    <a:ext uri="{9D8B030D-6E8A-4147-A177-3AD203B41FA5}">
                      <a16:colId xmlns:a16="http://schemas.microsoft.com/office/drawing/2014/main" val="3978450176"/>
                    </a:ext>
                  </a:extLst>
                </a:gridCol>
                <a:gridCol w="1964998">
                  <a:extLst>
                    <a:ext uri="{9D8B030D-6E8A-4147-A177-3AD203B41FA5}">
                      <a16:colId xmlns:a16="http://schemas.microsoft.com/office/drawing/2014/main" val="3987572286"/>
                    </a:ext>
                  </a:extLst>
                </a:gridCol>
                <a:gridCol w="995774">
                  <a:extLst>
                    <a:ext uri="{9D8B030D-6E8A-4147-A177-3AD203B41FA5}">
                      <a16:colId xmlns:a16="http://schemas.microsoft.com/office/drawing/2014/main" val="17878156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SG" sz="1200">
                          <a:effectLst/>
                          <a:latin typeface="+mn-lt"/>
                          <a:cs typeface="Times New Roman" panose="02020603050405020304" pitchFamily="18" charset="0"/>
                        </a:rPr>
                        <a:t>Test Case ID</a:t>
                      </a:r>
                      <a:endParaRPr lang="en-SG" sz="1200">
                        <a:effectLst/>
                        <a:latin typeface="+mn-lt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SG" sz="1200">
                          <a:effectLst/>
                          <a:latin typeface="+mn-lt"/>
                          <a:cs typeface="Times New Roman" panose="02020603050405020304" pitchFamily="18" charset="0"/>
                        </a:rPr>
                        <a:t>Module</a:t>
                      </a:r>
                      <a:endParaRPr lang="en-SG" sz="1200">
                        <a:effectLst/>
                        <a:latin typeface="+mn-lt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SG" sz="1200">
                          <a:effectLst/>
                          <a:latin typeface="+mn-lt"/>
                          <a:cs typeface="Times New Roman" panose="02020603050405020304" pitchFamily="18" charset="0"/>
                        </a:rPr>
                        <a:t>Test Title</a:t>
                      </a:r>
                      <a:endParaRPr lang="en-SG" sz="1200">
                        <a:effectLst/>
                        <a:latin typeface="+mn-lt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SG" sz="1200">
                          <a:effectLst/>
                          <a:latin typeface="+mn-lt"/>
                          <a:cs typeface="Times New Roman" panose="02020603050405020304" pitchFamily="18" charset="0"/>
                        </a:rPr>
                        <a:t>Expected Result</a:t>
                      </a:r>
                      <a:endParaRPr lang="en-SG" sz="1200">
                        <a:effectLst/>
                        <a:latin typeface="+mn-lt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SG" sz="1200">
                          <a:effectLst/>
                          <a:latin typeface="+mn-lt"/>
                          <a:cs typeface="Times New Roman" panose="02020603050405020304" pitchFamily="18" charset="0"/>
                        </a:rPr>
                        <a:t>Actual Result</a:t>
                      </a:r>
                      <a:endParaRPr lang="en-SG" sz="1200">
                        <a:effectLst/>
                        <a:latin typeface="+mn-lt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SG" sz="1200">
                          <a:effectLst/>
                          <a:latin typeface="+mn-lt"/>
                          <a:cs typeface="Times New Roman" panose="02020603050405020304" pitchFamily="18" charset="0"/>
                        </a:rPr>
                        <a:t>Status</a:t>
                      </a:r>
                      <a:endParaRPr lang="en-SG" sz="1200">
                        <a:effectLst/>
                        <a:latin typeface="+mn-lt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9525" anchor="ctr"/>
                </a:tc>
                <a:extLst>
                  <a:ext uri="{0D108BD9-81ED-4DB2-BD59-A6C34878D82A}">
                    <a16:rowId xmlns:a16="http://schemas.microsoft.com/office/drawing/2014/main" val="277198877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SG" sz="1200">
                          <a:effectLst/>
                          <a:latin typeface="+mn-lt"/>
                          <a:cs typeface="Times New Roman" panose="02020603050405020304" pitchFamily="18" charset="0"/>
                        </a:rPr>
                        <a:t>TC-01</a:t>
                      </a:r>
                      <a:endParaRPr lang="en-SG" sz="1200">
                        <a:effectLst/>
                        <a:latin typeface="+mn-lt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SG" sz="1200">
                          <a:effectLst/>
                          <a:latin typeface="+mn-lt"/>
                          <a:cs typeface="Times New Roman" panose="02020603050405020304" pitchFamily="18" charset="0"/>
                        </a:rPr>
                        <a:t>Auth</a:t>
                      </a:r>
                      <a:endParaRPr lang="en-SG" sz="1200">
                        <a:effectLst/>
                        <a:latin typeface="+mn-lt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SG" sz="1200" dirty="0">
                          <a:effectLst/>
                          <a:latin typeface="+mn-lt"/>
                          <a:cs typeface="Times New Roman" panose="02020603050405020304" pitchFamily="18" charset="0"/>
                        </a:rPr>
                        <a:t>User Login Test</a:t>
                      </a:r>
                      <a:endParaRPr lang="en-SG" sz="1200" dirty="0">
                        <a:effectLst/>
                        <a:latin typeface="+mn-lt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SG" sz="1200">
                          <a:effectLst/>
                          <a:latin typeface="+mn-lt"/>
                          <a:cs typeface="Times New Roman" panose="02020603050405020304" pitchFamily="18" charset="0"/>
                        </a:rPr>
                        <a:t>User is redirected to their specific dashboard based on role.</a:t>
                      </a:r>
                      <a:endParaRPr lang="en-SG" sz="1200">
                        <a:effectLst/>
                        <a:latin typeface="+mn-lt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SG" sz="1200">
                          <a:effectLst/>
                          <a:latin typeface="+mn-lt"/>
                          <a:cs typeface="Times New Roman" panose="02020603050405020304" pitchFamily="18" charset="0"/>
                        </a:rPr>
                        <a:t>Logged in and redirected to Manager Dashboard.</a:t>
                      </a:r>
                      <a:endParaRPr lang="en-SG" sz="1200">
                        <a:effectLst/>
                        <a:latin typeface="+mn-lt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SG" sz="1200">
                          <a:effectLst/>
                          <a:latin typeface="+mn-lt"/>
                          <a:cs typeface="Times New Roman" panose="02020603050405020304" pitchFamily="18" charset="0"/>
                        </a:rPr>
                        <a:t>Pass</a:t>
                      </a:r>
                      <a:endParaRPr lang="en-SG" sz="1200">
                        <a:effectLst/>
                        <a:latin typeface="+mn-lt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9525" anchor="ctr"/>
                </a:tc>
                <a:extLst>
                  <a:ext uri="{0D108BD9-81ED-4DB2-BD59-A6C34878D82A}">
                    <a16:rowId xmlns:a16="http://schemas.microsoft.com/office/drawing/2014/main" val="127009557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SG" sz="1200">
                          <a:effectLst/>
                          <a:latin typeface="+mn-lt"/>
                          <a:cs typeface="Times New Roman" panose="02020603050405020304" pitchFamily="18" charset="0"/>
                        </a:rPr>
                        <a:t>TC-02</a:t>
                      </a:r>
                      <a:endParaRPr lang="en-SG" sz="1200">
                        <a:effectLst/>
                        <a:latin typeface="+mn-lt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SG" sz="1200">
                          <a:effectLst/>
                          <a:latin typeface="+mn-lt"/>
                          <a:cs typeface="Times New Roman" panose="02020603050405020304" pitchFamily="18" charset="0"/>
                        </a:rPr>
                        <a:t>Auth</a:t>
                      </a:r>
                      <a:endParaRPr lang="en-SG" sz="1200">
                        <a:effectLst/>
                        <a:latin typeface="+mn-lt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SG" sz="1200">
                          <a:effectLst/>
                          <a:latin typeface="+mn-lt"/>
                          <a:cs typeface="Times New Roman" panose="02020603050405020304" pitchFamily="18" charset="0"/>
                        </a:rPr>
                        <a:t>First Login Password Setup</a:t>
                      </a:r>
                      <a:endParaRPr lang="en-SG" sz="1200">
                        <a:effectLst/>
                        <a:latin typeface="+mn-lt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SG" sz="1200">
                          <a:effectLst/>
                          <a:latin typeface="+mn-lt"/>
                          <a:cs typeface="Times New Roman" panose="02020603050405020304" pitchFamily="18" charset="0"/>
                        </a:rPr>
                        <a:t>User is forced to change their temporary password on first login.</a:t>
                      </a:r>
                      <a:endParaRPr lang="en-SG" sz="1200">
                        <a:effectLst/>
                        <a:latin typeface="+mn-lt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SG" sz="1200">
                          <a:effectLst/>
                          <a:latin typeface="+mn-lt"/>
                          <a:cs typeface="Times New Roman" panose="02020603050405020304" pitchFamily="18" charset="0"/>
                        </a:rPr>
                        <a:t>"Change Password" prompt appeared and updated successfully.</a:t>
                      </a:r>
                      <a:endParaRPr lang="en-SG" sz="1200">
                        <a:effectLst/>
                        <a:latin typeface="+mn-lt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SG" sz="1200" dirty="0">
                          <a:effectLst/>
                          <a:latin typeface="+mn-lt"/>
                          <a:cs typeface="Times New Roman" panose="02020603050405020304" pitchFamily="18" charset="0"/>
                        </a:rPr>
                        <a:t>Pass</a:t>
                      </a:r>
                      <a:endParaRPr lang="en-SG" sz="1200" dirty="0">
                        <a:effectLst/>
                        <a:latin typeface="+mn-lt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9525" anchor="ctr"/>
                </a:tc>
                <a:extLst>
                  <a:ext uri="{0D108BD9-81ED-4DB2-BD59-A6C34878D82A}">
                    <a16:rowId xmlns:a16="http://schemas.microsoft.com/office/drawing/2014/main" val="2915848521"/>
                  </a:ext>
                </a:extLst>
              </a:tr>
            </a:tbl>
          </a:graphicData>
        </a:graphic>
      </p:graphicFrame>
      <p:graphicFrame>
        <p:nvGraphicFramePr>
          <p:cNvPr id="6" name="Table 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204257203"/>
              </p:ext>
            </p:extLst>
          </p:nvPr>
        </p:nvGraphicFramePr>
        <p:xfrm>
          <a:off x="475861" y="3552039"/>
          <a:ext cx="8098971" cy="3093720"/>
        </p:xfrm>
        <a:graphic>
          <a:graphicData uri="http://schemas.openxmlformats.org/drawingml/2006/table">
            <a:tbl>
              <a:tblPr firstRow="1" firstCol="1" bandRow="1">
                <a:tableStyleId>{5C22544A-7EE6-4342-B048-85BDC9FD1C3A}</a:tableStyleId>
              </a:tblPr>
              <a:tblGrid>
                <a:gridCol w="907190">
                  <a:extLst>
                    <a:ext uri="{9D8B030D-6E8A-4147-A177-3AD203B41FA5}">
                      <a16:colId xmlns:a16="http://schemas.microsoft.com/office/drawing/2014/main" val="1339616630"/>
                    </a:ext>
                  </a:extLst>
                </a:gridCol>
                <a:gridCol w="1156996">
                  <a:extLst>
                    <a:ext uri="{9D8B030D-6E8A-4147-A177-3AD203B41FA5}">
                      <a16:colId xmlns:a16="http://schemas.microsoft.com/office/drawing/2014/main" val="723793336"/>
                    </a:ext>
                  </a:extLst>
                </a:gridCol>
                <a:gridCol w="1156996">
                  <a:extLst>
                    <a:ext uri="{9D8B030D-6E8A-4147-A177-3AD203B41FA5}">
                      <a16:colId xmlns:a16="http://schemas.microsoft.com/office/drawing/2014/main" val="1182170746"/>
                    </a:ext>
                  </a:extLst>
                </a:gridCol>
                <a:gridCol w="2077333">
                  <a:extLst>
                    <a:ext uri="{9D8B030D-6E8A-4147-A177-3AD203B41FA5}">
                      <a16:colId xmlns:a16="http://schemas.microsoft.com/office/drawing/2014/main" val="466431861"/>
                    </a:ext>
                  </a:extLst>
                </a:gridCol>
                <a:gridCol w="1814380">
                  <a:extLst>
                    <a:ext uri="{9D8B030D-6E8A-4147-A177-3AD203B41FA5}">
                      <a16:colId xmlns:a16="http://schemas.microsoft.com/office/drawing/2014/main" val="3152340761"/>
                    </a:ext>
                  </a:extLst>
                </a:gridCol>
                <a:gridCol w="986076">
                  <a:extLst>
                    <a:ext uri="{9D8B030D-6E8A-4147-A177-3AD203B41FA5}">
                      <a16:colId xmlns:a16="http://schemas.microsoft.com/office/drawing/2014/main" val="1941325812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SG" sz="1200">
                          <a:effectLst/>
                        </a:rPr>
                        <a:t>Test Case ID</a:t>
                      </a:r>
                      <a:endParaRPr lang="en-SG" sz="12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Vrinda" panose="020B0502040204020203" pitchFamily="34" charset="0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SG" sz="1200" dirty="0">
                          <a:effectLst/>
                        </a:rPr>
                        <a:t>Module</a:t>
                      </a:r>
                      <a:endParaRPr lang="en-SG" sz="1200" dirty="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Vrinda" panose="020B0502040204020203" pitchFamily="34" charset="0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SG" sz="1200">
                          <a:effectLst/>
                        </a:rPr>
                        <a:t>Test Title</a:t>
                      </a:r>
                      <a:endParaRPr lang="en-SG" sz="12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Vrinda" panose="020B0502040204020203" pitchFamily="34" charset="0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SG" sz="1200">
                          <a:effectLst/>
                        </a:rPr>
                        <a:t>Expected Result</a:t>
                      </a:r>
                      <a:endParaRPr lang="en-SG" sz="12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Vrinda" panose="020B0502040204020203" pitchFamily="34" charset="0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SG" sz="1200">
                          <a:effectLst/>
                        </a:rPr>
                        <a:t>Actual Result</a:t>
                      </a:r>
                      <a:endParaRPr lang="en-SG" sz="12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Vrinda" panose="020B0502040204020203" pitchFamily="34" charset="0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SG" sz="1200">
                          <a:effectLst/>
                        </a:rPr>
                        <a:t>Status</a:t>
                      </a:r>
                      <a:endParaRPr lang="en-SG" sz="12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Vrinda" panose="020B0502040204020203" pitchFamily="34" charset="0"/>
                      </a:endParaRPr>
                    </a:p>
                  </a:txBody>
                  <a:tcPr marL="9525" marR="9525" marT="9525" marB="9525" anchor="ctr"/>
                </a:tc>
                <a:extLst>
                  <a:ext uri="{0D108BD9-81ED-4DB2-BD59-A6C34878D82A}">
                    <a16:rowId xmlns:a16="http://schemas.microsoft.com/office/drawing/2014/main" val="3744218861"/>
                  </a:ext>
                </a:extLst>
              </a:tr>
              <a:tr h="662940"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SG" sz="1200">
                          <a:effectLst/>
                        </a:rPr>
                        <a:t>TC-03</a:t>
                      </a:r>
                      <a:endParaRPr lang="en-SG" sz="12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Vrinda" panose="020B0502040204020203" pitchFamily="34" charset="0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SG" sz="1200">
                          <a:effectLst/>
                        </a:rPr>
                        <a:t>Meals</a:t>
                      </a:r>
                      <a:endParaRPr lang="en-SG" sz="12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Vrinda" panose="020B0502040204020203" pitchFamily="34" charset="0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SG" sz="1200">
                          <a:effectLst/>
                        </a:rPr>
                        <a:t>Add Meal Entry</a:t>
                      </a:r>
                      <a:endParaRPr lang="en-SG" sz="12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Vrinda" panose="020B0502040204020203" pitchFamily="34" charset="0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SG" sz="1200">
                          <a:effectLst/>
                        </a:rPr>
                        <a:t>System stores meal status and updates quantity to 0 for "Off".</a:t>
                      </a:r>
                      <a:endParaRPr lang="en-SG" sz="12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Vrinda" panose="020B0502040204020203" pitchFamily="34" charset="0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SG" sz="1200">
                          <a:effectLst/>
                        </a:rPr>
                        <a:t>Meal stored correctly with accurate quantities.</a:t>
                      </a:r>
                      <a:endParaRPr lang="en-SG" sz="12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Vrinda" panose="020B0502040204020203" pitchFamily="34" charset="0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SG" sz="1200">
                          <a:effectLst/>
                        </a:rPr>
                        <a:t>Pass</a:t>
                      </a:r>
                      <a:endParaRPr lang="en-SG" sz="12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Vrinda" panose="020B0502040204020203" pitchFamily="34" charset="0"/>
                      </a:endParaRPr>
                    </a:p>
                  </a:txBody>
                  <a:tcPr marL="9525" marR="9525" marT="9525" marB="9525" anchor="ctr"/>
                </a:tc>
                <a:extLst>
                  <a:ext uri="{0D108BD9-81ED-4DB2-BD59-A6C34878D82A}">
                    <a16:rowId xmlns:a16="http://schemas.microsoft.com/office/drawing/2014/main" val="95634632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SG" sz="1200">
                          <a:effectLst/>
                        </a:rPr>
                        <a:t>TC-04</a:t>
                      </a:r>
                      <a:endParaRPr lang="en-SG" sz="12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Vrinda" panose="020B0502040204020203" pitchFamily="34" charset="0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SG" sz="1200">
                          <a:effectLst/>
                        </a:rPr>
                        <a:t>Billing</a:t>
                      </a:r>
                      <a:endParaRPr lang="en-SG" sz="12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Vrinda" panose="020B0502040204020203" pitchFamily="34" charset="0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SG" sz="1200">
                          <a:effectLst/>
                        </a:rPr>
                        <a:t>Meal Rate Calculation</a:t>
                      </a:r>
                      <a:endParaRPr lang="en-SG" sz="12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Vrinda" panose="020B0502040204020203" pitchFamily="34" charset="0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SG" sz="1200">
                          <a:effectLst/>
                        </a:rPr>
                        <a:t>System correctly divides total bazaar costs by total meals.</a:t>
                      </a:r>
                      <a:endParaRPr lang="en-SG" sz="12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Vrinda" panose="020B0502040204020203" pitchFamily="34" charset="0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SG" sz="1200">
                          <a:effectLst/>
                        </a:rPr>
                        <a:t>Calculation matched manual verification exactly.</a:t>
                      </a:r>
                      <a:endParaRPr lang="en-SG" sz="12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Vrinda" panose="020B0502040204020203" pitchFamily="34" charset="0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SG" sz="1200">
                          <a:effectLst/>
                        </a:rPr>
                        <a:t>Pass</a:t>
                      </a:r>
                      <a:endParaRPr lang="en-SG" sz="12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Vrinda" panose="020B0502040204020203" pitchFamily="34" charset="0"/>
                      </a:endParaRPr>
                    </a:p>
                  </a:txBody>
                  <a:tcPr marL="9525" marR="9525" marT="9525" marB="9525" anchor="ctr"/>
                </a:tc>
                <a:extLst>
                  <a:ext uri="{0D108BD9-81ED-4DB2-BD59-A6C34878D82A}">
                    <a16:rowId xmlns:a16="http://schemas.microsoft.com/office/drawing/2014/main" val="89466273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SG" sz="1200">
                          <a:effectLst/>
                        </a:rPr>
                        <a:t>TC-05</a:t>
                      </a:r>
                      <a:endParaRPr lang="en-SG" sz="12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Vrinda" panose="020B0502040204020203" pitchFamily="34" charset="0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SG" sz="1200">
                          <a:effectLst/>
                        </a:rPr>
                        <a:t>Deposits</a:t>
                      </a:r>
                      <a:endParaRPr lang="en-SG" sz="12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Vrinda" panose="020B0502040204020203" pitchFamily="34" charset="0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SG" sz="1200">
                          <a:effectLst/>
                        </a:rPr>
                        <a:t>Deposit Approval</a:t>
                      </a:r>
                      <a:endParaRPr lang="en-SG" sz="12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Vrinda" panose="020B0502040204020203" pitchFamily="34" charset="0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SG" sz="1200">
                          <a:effectLst/>
                        </a:rPr>
                        <a:t>Manager approval creates a transaction and updates user balance.</a:t>
                      </a:r>
                      <a:endParaRPr lang="en-SG" sz="12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Vrinda" panose="020B0502040204020203" pitchFamily="34" charset="0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SG" sz="1200">
                          <a:effectLst/>
                        </a:rPr>
                        <a:t>Balance updated and transaction record created.</a:t>
                      </a:r>
                      <a:endParaRPr lang="en-SG" sz="12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Vrinda" panose="020B0502040204020203" pitchFamily="34" charset="0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SG" sz="1200" dirty="0">
                          <a:effectLst/>
                        </a:rPr>
                        <a:t>Pass</a:t>
                      </a:r>
                      <a:endParaRPr lang="en-SG" sz="1200" dirty="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Vrinda" panose="020B0502040204020203" pitchFamily="34" charset="0"/>
                      </a:endParaRPr>
                    </a:p>
                  </a:txBody>
                  <a:tcPr marL="9525" marR="9525" marT="9525" marB="9525" anchor="ctr"/>
                </a:tc>
                <a:extLst>
                  <a:ext uri="{0D108BD9-81ED-4DB2-BD59-A6C34878D82A}">
                    <a16:rowId xmlns:a16="http://schemas.microsoft.com/office/drawing/2014/main" val="859806628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414520652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Risk Analysis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319738178"/>
              </p:ext>
            </p:extLst>
          </p:nvPr>
        </p:nvGraphicFramePr>
        <p:xfrm>
          <a:off x="867748" y="1996751"/>
          <a:ext cx="7408506" cy="4142792"/>
        </p:xfrm>
        <a:graphic>
          <a:graphicData uri="http://schemas.openxmlformats.org/drawingml/2006/table">
            <a:tbl>
              <a:tblPr firstRow="1" firstCol="1" bandRow="1">
                <a:tableStyleId>{5C22544A-7EE6-4342-B048-85BDC9FD1C3A}</a:tableStyleId>
              </a:tblPr>
              <a:tblGrid>
                <a:gridCol w="2444619">
                  <a:extLst>
                    <a:ext uri="{9D8B030D-6E8A-4147-A177-3AD203B41FA5}">
                      <a16:colId xmlns:a16="http://schemas.microsoft.com/office/drawing/2014/main" val="3641986338"/>
                    </a:ext>
                  </a:extLst>
                </a:gridCol>
                <a:gridCol w="4963887">
                  <a:extLst>
                    <a:ext uri="{9D8B030D-6E8A-4147-A177-3AD203B41FA5}">
                      <a16:colId xmlns:a16="http://schemas.microsoft.com/office/drawing/2014/main" val="2621695144"/>
                    </a:ext>
                  </a:extLst>
                </a:gridCol>
              </a:tblGrid>
              <a:tr h="368507"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SG" sz="1200">
                          <a:effectLst/>
                        </a:rPr>
                        <a:t>Risk Type</a:t>
                      </a:r>
                      <a:endParaRPr lang="en-SG" sz="12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Vrinda" panose="020B0502040204020203" pitchFamily="34" charset="0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SG" sz="1200">
                          <a:effectLst/>
                        </a:rPr>
                        <a:t>Possible Risk</a:t>
                      </a:r>
                      <a:endParaRPr lang="en-SG" sz="12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Vrinda" panose="020B0502040204020203" pitchFamily="34" charset="0"/>
                      </a:endParaRPr>
                    </a:p>
                  </a:txBody>
                  <a:tcPr marL="9525" marR="9525" marT="9525" marB="9525" anchor="ctr"/>
                </a:tc>
                <a:extLst>
                  <a:ext uri="{0D108BD9-81ED-4DB2-BD59-A6C34878D82A}">
                    <a16:rowId xmlns:a16="http://schemas.microsoft.com/office/drawing/2014/main" val="3323971873"/>
                  </a:ext>
                </a:extLst>
              </a:tr>
              <a:tr h="754857"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SG" sz="1200">
                          <a:effectLst/>
                        </a:rPr>
                        <a:t>Technical</a:t>
                      </a:r>
                      <a:endParaRPr lang="en-SG" sz="12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Vrinda" panose="020B0502040204020203" pitchFamily="34" charset="0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SG" sz="1200">
                          <a:effectLst/>
                        </a:rPr>
                        <a:t>System crashes, Laravel/PHP framework issues, or MySQL database downtime.</a:t>
                      </a:r>
                      <a:endParaRPr lang="en-SG" sz="12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Vrinda" panose="020B0502040204020203" pitchFamily="34" charset="0"/>
                      </a:endParaRPr>
                    </a:p>
                  </a:txBody>
                  <a:tcPr marL="9525" marR="9525" marT="9525" marB="9525" anchor="ctr"/>
                </a:tc>
                <a:extLst>
                  <a:ext uri="{0D108BD9-81ED-4DB2-BD59-A6C34878D82A}">
                    <a16:rowId xmlns:a16="http://schemas.microsoft.com/office/drawing/2014/main" val="3095668497"/>
                  </a:ext>
                </a:extLst>
              </a:tr>
              <a:tr h="754857"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SG" sz="1200">
                          <a:effectLst/>
                        </a:rPr>
                        <a:t>Security</a:t>
                      </a:r>
                      <a:endParaRPr lang="en-SG" sz="12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Vrinda" panose="020B0502040204020203" pitchFamily="34" charset="0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SG" sz="1200">
                          <a:effectLst/>
                        </a:rPr>
                        <a:t>Data breaches, unauthorized access to member financial records, or token leakage.</a:t>
                      </a:r>
                      <a:endParaRPr lang="en-SG" sz="12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Vrinda" panose="020B0502040204020203" pitchFamily="34" charset="0"/>
                      </a:endParaRPr>
                    </a:p>
                  </a:txBody>
                  <a:tcPr marL="9525" marR="9525" marT="9525" marB="9525" anchor="ctr"/>
                </a:tc>
                <a:extLst>
                  <a:ext uri="{0D108BD9-81ED-4DB2-BD59-A6C34878D82A}">
                    <a16:rowId xmlns:a16="http://schemas.microsoft.com/office/drawing/2014/main" val="3841846511"/>
                  </a:ext>
                </a:extLst>
              </a:tr>
              <a:tr h="754857"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SG" sz="1200">
                          <a:effectLst/>
                        </a:rPr>
                        <a:t>Operational</a:t>
                      </a:r>
                      <a:endParaRPr lang="en-SG" sz="12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Vrinda" panose="020B0502040204020203" pitchFamily="34" charset="0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SG" sz="1200">
                          <a:effectLst/>
                        </a:rPr>
                        <a:t>Low user adoption, data entry errors by managers, or calculation discrepancies.</a:t>
                      </a:r>
                      <a:endParaRPr lang="en-SG" sz="12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Vrinda" panose="020B0502040204020203" pitchFamily="34" charset="0"/>
                      </a:endParaRPr>
                    </a:p>
                  </a:txBody>
                  <a:tcPr marL="9525" marR="9525" marT="9525" marB="9525" anchor="ctr"/>
                </a:tc>
                <a:extLst>
                  <a:ext uri="{0D108BD9-81ED-4DB2-BD59-A6C34878D82A}">
                    <a16:rowId xmlns:a16="http://schemas.microsoft.com/office/drawing/2014/main" val="3072446070"/>
                  </a:ext>
                </a:extLst>
              </a:tr>
              <a:tr h="754857"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SG" sz="1200">
                          <a:effectLst/>
                        </a:rPr>
                        <a:t>Financial</a:t>
                      </a:r>
                      <a:endParaRPr lang="en-SG" sz="12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Vrinda" panose="020B0502040204020203" pitchFamily="34" charset="0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SG" sz="1200">
                          <a:effectLst/>
                        </a:rPr>
                        <a:t>Failures in deposit tracking or future payment gateway integrations.</a:t>
                      </a:r>
                      <a:endParaRPr lang="en-SG" sz="12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Vrinda" panose="020B0502040204020203" pitchFamily="34" charset="0"/>
                      </a:endParaRPr>
                    </a:p>
                  </a:txBody>
                  <a:tcPr marL="9525" marR="9525" marT="9525" marB="9525" anchor="ctr"/>
                </a:tc>
                <a:extLst>
                  <a:ext uri="{0D108BD9-81ED-4DB2-BD59-A6C34878D82A}">
                    <a16:rowId xmlns:a16="http://schemas.microsoft.com/office/drawing/2014/main" val="1327807463"/>
                  </a:ext>
                </a:extLst>
              </a:tr>
              <a:tr h="754857"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SG" sz="1200">
                          <a:effectLst/>
                        </a:rPr>
                        <a:t>Performance</a:t>
                      </a:r>
                      <a:endParaRPr lang="en-SG" sz="12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Vrinda" panose="020B0502040204020203" pitchFamily="34" charset="0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SG" sz="1200" dirty="0">
                          <a:effectLst/>
                        </a:rPr>
                        <a:t>Slow response times during peak hours when all members log meals simultaneously.</a:t>
                      </a:r>
                      <a:endParaRPr lang="en-SG" sz="1200" dirty="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Vrinda" panose="020B0502040204020203" pitchFamily="34" charset="0"/>
                      </a:endParaRPr>
                    </a:p>
                  </a:txBody>
                  <a:tcPr marL="9525" marR="9525" marT="9525" marB="9525" anchor="ctr"/>
                </a:tc>
                <a:extLst>
                  <a:ext uri="{0D108BD9-81ED-4DB2-BD59-A6C34878D82A}">
                    <a16:rowId xmlns:a16="http://schemas.microsoft.com/office/drawing/2014/main" val="2403583225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Risk Analysis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120602283"/>
              </p:ext>
            </p:extLst>
          </p:nvPr>
        </p:nvGraphicFramePr>
        <p:xfrm>
          <a:off x="685332" y="2006082"/>
          <a:ext cx="7842848" cy="4114799"/>
        </p:xfrm>
        <a:graphic>
          <a:graphicData uri="http://schemas.openxmlformats.org/drawingml/2006/table">
            <a:tbl>
              <a:tblPr firstRow="1" firstCol="1" bandRow="1">
                <a:tableStyleId>{5C22544A-7EE6-4342-B048-85BDC9FD1C3A}</a:tableStyleId>
              </a:tblPr>
              <a:tblGrid>
                <a:gridCol w="2701680">
                  <a:extLst>
                    <a:ext uri="{9D8B030D-6E8A-4147-A177-3AD203B41FA5}">
                      <a16:colId xmlns:a16="http://schemas.microsoft.com/office/drawing/2014/main" val="1971858523"/>
                    </a:ext>
                  </a:extLst>
                </a:gridCol>
                <a:gridCol w="2743200">
                  <a:extLst>
                    <a:ext uri="{9D8B030D-6E8A-4147-A177-3AD203B41FA5}">
                      <a16:colId xmlns:a16="http://schemas.microsoft.com/office/drawing/2014/main" val="2791540427"/>
                    </a:ext>
                  </a:extLst>
                </a:gridCol>
                <a:gridCol w="2397968">
                  <a:extLst>
                    <a:ext uri="{9D8B030D-6E8A-4147-A177-3AD203B41FA5}">
                      <a16:colId xmlns:a16="http://schemas.microsoft.com/office/drawing/2014/main" val="1970513800"/>
                    </a:ext>
                  </a:extLst>
                </a:gridCol>
              </a:tblGrid>
              <a:tr h="829035"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200">
                          <a:effectLst/>
                        </a:rPr>
                        <a:t>Possible Risk</a:t>
                      </a:r>
                      <a:endParaRPr lang="en-SG" sz="12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Vrinda" panose="020B0502040204020203" pitchFamily="34" charset="0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200">
                          <a:effectLst/>
                        </a:rPr>
                        <a:t>Probability</a:t>
                      </a:r>
                      <a:endParaRPr lang="en-SG" sz="12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Vrinda" panose="020B0502040204020203" pitchFamily="34" charset="0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200">
                          <a:effectLst/>
                        </a:rPr>
                        <a:t>Impact</a:t>
                      </a:r>
                      <a:endParaRPr lang="en-SG" sz="12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Vrinda" panose="020B0502040204020203" pitchFamily="34" charset="0"/>
                      </a:endParaRPr>
                    </a:p>
                  </a:txBody>
                  <a:tcPr marL="9525" marR="9525" marT="9525" marB="9525" anchor="ctr"/>
                </a:tc>
                <a:extLst>
                  <a:ext uri="{0D108BD9-81ED-4DB2-BD59-A6C34878D82A}">
                    <a16:rowId xmlns:a16="http://schemas.microsoft.com/office/drawing/2014/main" val="943717705"/>
                  </a:ext>
                </a:extLst>
              </a:tr>
              <a:tr h="829035"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200">
                          <a:effectLst/>
                        </a:rPr>
                        <a:t>System Downtime</a:t>
                      </a:r>
                      <a:endParaRPr lang="en-SG" sz="12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Vrinda" panose="020B0502040204020203" pitchFamily="34" charset="0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200">
                          <a:effectLst/>
                        </a:rPr>
                        <a:t>30-40% (Moderate)</a:t>
                      </a:r>
                      <a:endParaRPr lang="en-SG" sz="12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Vrinda" panose="020B0502040204020203" pitchFamily="34" charset="0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200">
                          <a:effectLst/>
                        </a:rPr>
                        <a:t>Serious </a:t>
                      </a:r>
                      <a:endParaRPr lang="en-SG" sz="12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Vrinda" panose="020B0502040204020203" pitchFamily="34" charset="0"/>
                      </a:endParaRPr>
                    </a:p>
                  </a:txBody>
                  <a:tcPr marL="9525" marR="9525" marT="9525" marB="9525" anchor="ctr"/>
                </a:tc>
                <a:extLst>
                  <a:ext uri="{0D108BD9-81ED-4DB2-BD59-A6C34878D82A}">
                    <a16:rowId xmlns:a16="http://schemas.microsoft.com/office/drawing/2014/main" val="1979866856"/>
                  </a:ext>
                </a:extLst>
              </a:tr>
              <a:tr h="798659"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200">
                          <a:effectLst/>
                        </a:rPr>
                        <a:t>Data Breaches</a:t>
                      </a:r>
                      <a:endParaRPr lang="en-SG" sz="12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Vrinda" panose="020B0502040204020203" pitchFamily="34" charset="0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200">
                          <a:effectLst/>
                        </a:rPr>
                        <a:t>20-30% (Moderate)</a:t>
                      </a:r>
                      <a:endParaRPr lang="en-SG" sz="12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Vrinda" panose="020B0502040204020203" pitchFamily="34" charset="0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200">
                          <a:effectLst/>
                        </a:rPr>
                        <a:t>Catastrophic </a:t>
                      </a:r>
                      <a:endParaRPr lang="en-SG" sz="12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Vrinda" panose="020B0502040204020203" pitchFamily="34" charset="0"/>
                      </a:endParaRPr>
                    </a:p>
                  </a:txBody>
                  <a:tcPr marL="9525" marR="9525" marT="9525" marB="9525" anchor="ctr"/>
                </a:tc>
                <a:extLst>
                  <a:ext uri="{0D108BD9-81ED-4DB2-BD59-A6C34878D82A}">
                    <a16:rowId xmlns:a16="http://schemas.microsoft.com/office/drawing/2014/main" val="4159253302"/>
                  </a:ext>
                </a:extLst>
              </a:tr>
              <a:tr h="829035"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200">
                          <a:effectLst/>
                        </a:rPr>
                        <a:t>Unauthorized Edits</a:t>
                      </a:r>
                      <a:endParaRPr lang="en-SG" sz="12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Vrinda" panose="020B0502040204020203" pitchFamily="34" charset="0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200">
                          <a:effectLst/>
                        </a:rPr>
                        <a:t>20-30% (Moderate)</a:t>
                      </a:r>
                      <a:endParaRPr lang="en-SG" sz="12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Vrinda" panose="020B0502040204020203" pitchFamily="34" charset="0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200">
                          <a:effectLst/>
                        </a:rPr>
                        <a:t>Serious</a:t>
                      </a:r>
                      <a:endParaRPr lang="en-SG" sz="12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Vrinda" panose="020B0502040204020203" pitchFamily="34" charset="0"/>
                      </a:endParaRPr>
                    </a:p>
                  </a:txBody>
                  <a:tcPr marL="9525" marR="9525" marT="9525" marB="9525" anchor="ctr"/>
                </a:tc>
                <a:extLst>
                  <a:ext uri="{0D108BD9-81ED-4DB2-BD59-A6C34878D82A}">
                    <a16:rowId xmlns:a16="http://schemas.microsoft.com/office/drawing/2014/main" val="1744426213"/>
                  </a:ext>
                </a:extLst>
              </a:tr>
              <a:tr h="829035"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200">
                          <a:effectLst/>
                        </a:rPr>
                        <a:t>Low User Adoption</a:t>
                      </a:r>
                      <a:endParaRPr lang="en-SG" sz="12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Vrinda" panose="020B0502040204020203" pitchFamily="34" charset="0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200">
                          <a:effectLst/>
                        </a:rPr>
                        <a:t>30-40% (Moderate)</a:t>
                      </a:r>
                      <a:endParaRPr lang="en-SG" sz="12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Vrinda" panose="020B0502040204020203" pitchFamily="34" charset="0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200">
                          <a:effectLst/>
                        </a:rPr>
                        <a:t>Tolerable</a:t>
                      </a:r>
                      <a:endParaRPr lang="en-SG" sz="12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Vrinda" panose="020B0502040204020203" pitchFamily="34" charset="0"/>
                      </a:endParaRPr>
                    </a:p>
                  </a:txBody>
                  <a:tcPr marL="9525" marR="9525" marT="9525" marB="9525" anchor="ctr"/>
                </a:tc>
                <a:extLst>
                  <a:ext uri="{0D108BD9-81ED-4DB2-BD59-A6C34878D82A}">
                    <a16:rowId xmlns:a16="http://schemas.microsoft.com/office/drawing/2014/main" val="347425210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317581455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RMMM Plan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063262246"/>
              </p:ext>
            </p:extLst>
          </p:nvPr>
        </p:nvGraphicFramePr>
        <p:xfrm>
          <a:off x="503850" y="1903445"/>
          <a:ext cx="8220270" cy="4520371"/>
        </p:xfrm>
        <a:graphic>
          <a:graphicData uri="http://schemas.openxmlformats.org/drawingml/2006/table">
            <a:tbl>
              <a:tblPr firstRow="1" firstCol="1" bandRow="1">
                <a:tableStyleId>{5C22544A-7EE6-4342-B048-85BDC9FD1C3A}</a:tableStyleId>
              </a:tblPr>
              <a:tblGrid>
                <a:gridCol w="979717">
                  <a:extLst>
                    <a:ext uri="{9D8B030D-6E8A-4147-A177-3AD203B41FA5}">
                      <a16:colId xmlns:a16="http://schemas.microsoft.com/office/drawing/2014/main" val="767607318"/>
                    </a:ext>
                  </a:extLst>
                </a:gridCol>
                <a:gridCol w="1362270">
                  <a:extLst>
                    <a:ext uri="{9D8B030D-6E8A-4147-A177-3AD203B41FA5}">
                      <a16:colId xmlns:a16="http://schemas.microsoft.com/office/drawing/2014/main" val="4228593268"/>
                    </a:ext>
                  </a:extLst>
                </a:gridCol>
                <a:gridCol w="1399592">
                  <a:extLst>
                    <a:ext uri="{9D8B030D-6E8A-4147-A177-3AD203B41FA5}">
                      <a16:colId xmlns:a16="http://schemas.microsoft.com/office/drawing/2014/main" val="969302857"/>
                    </a:ext>
                  </a:extLst>
                </a:gridCol>
                <a:gridCol w="1502228">
                  <a:extLst>
                    <a:ext uri="{9D8B030D-6E8A-4147-A177-3AD203B41FA5}">
                      <a16:colId xmlns:a16="http://schemas.microsoft.com/office/drawing/2014/main" val="2065430293"/>
                    </a:ext>
                  </a:extLst>
                </a:gridCol>
                <a:gridCol w="1446245">
                  <a:extLst>
                    <a:ext uri="{9D8B030D-6E8A-4147-A177-3AD203B41FA5}">
                      <a16:colId xmlns:a16="http://schemas.microsoft.com/office/drawing/2014/main" val="3150327254"/>
                    </a:ext>
                  </a:extLst>
                </a:gridCol>
                <a:gridCol w="1530218">
                  <a:extLst>
                    <a:ext uri="{9D8B030D-6E8A-4147-A177-3AD203B41FA5}">
                      <a16:colId xmlns:a16="http://schemas.microsoft.com/office/drawing/2014/main" val="3773775987"/>
                    </a:ext>
                  </a:extLst>
                </a:gridCol>
              </a:tblGrid>
              <a:tr h="286246"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SG" sz="800">
                          <a:effectLst/>
                        </a:rPr>
                        <a:t>Risk ID</a:t>
                      </a:r>
                      <a:endParaRPr lang="en-SG" sz="7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Vrinda" panose="020B0502040204020203" pitchFamily="34" charset="0"/>
                      </a:endParaRPr>
                    </a:p>
                  </a:txBody>
                  <a:tcPr marL="6042" marR="6042" marT="6042" marB="6042" anchor="ctr"/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SG" sz="800">
                          <a:effectLst/>
                        </a:rPr>
                        <a:t>Risk Type</a:t>
                      </a:r>
                      <a:endParaRPr lang="en-SG" sz="7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Vrinda" panose="020B0502040204020203" pitchFamily="34" charset="0"/>
                      </a:endParaRPr>
                    </a:p>
                  </a:txBody>
                  <a:tcPr marL="6042" marR="6042" marT="6042" marB="6042" anchor="ctr"/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SG" sz="800">
                          <a:effectLst/>
                        </a:rPr>
                        <a:t>Risk Description</a:t>
                      </a:r>
                      <a:endParaRPr lang="en-SG" sz="7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Vrinda" panose="020B0502040204020203" pitchFamily="34" charset="0"/>
                      </a:endParaRPr>
                    </a:p>
                  </a:txBody>
                  <a:tcPr marL="6042" marR="6042" marT="6042" marB="6042" anchor="ctr"/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SG" sz="800">
                          <a:effectLst/>
                        </a:rPr>
                        <a:t>Mitigation Plan</a:t>
                      </a:r>
                      <a:endParaRPr lang="en-SG" sz="7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Vrinda" panose="020B0502040204020203" pitchFamily="34" charset="0"/>
                      </a:endParaRPr>
                    </a:p>
                  </a:txBody>
                  <a:tcPr marL="6042" marR="6042" marT="6042" marB="6042" anchor="ctr"/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SG" sz="800">
                          <a:effectLst/>
                        </a:rPr>
                        <a:t>Monitoring Plan</a:t>
                      </a:r>
                      <a:endParaRPr lang="en-SG" sz="7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Vrinda" panose="020B0502040204020203" pitchFamily="34" charset="0"/>
                      </a:endParaRPr>
                    </a:p>
                  </a:txBody>
                  <a:tcPr marL="6042" marR="6042" marT="6042" marB="6042" anchor="ctr"/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SG" sz="800">
                          <a:effectLst/>
                        </a:rPr>
                        <a:t>Management Strategy</a:t>
                      </a:r>
                      <a:endParaRPr lang="en-SG" sz="7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Vrinda" panose="020B0502040204020203" pitchFamily="34" charset="0"/>
                      </a:endParaRPr>
                    </a:p>
                  </a:txBody>
                  <a:tcPr marL="6042" marR="6042" marT="6042" marB="6042" anchor="ctr"/>
                </a:tc>
                <a:extLst>
                  <a:ext uri="{0D108BD9-81ED-4DB2-BD59-A6C34878D82A}">
                    <a16:rowId xmlns:a16="http://schemas.microsoft.com/office/drawing/2014/main" val="2582177092"/>
                  </a:ext>
                </a:extLst>
              </a:tr>
              <a:tr h="846825"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SG" sz="800">
                          <a:effectLst/>
                        </a:rPr>
                        <a:t>R1</a:t>
                      </a:r>
                      <a:endParaRPr lang="en-SG" sz="7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Vrinda" panose="020B0502040204020203" pitchFamily="34" charset="0"/>
                      </a:endParaRPr>
                    </a:p>
                  </a:txBody>
                  <a:tcPr marL="6042" marR="6042" marT="6042" marB="6042" anchor="ctr"/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SG" sz="800">
                          <a:effectLst/>
                        </a:rPr>
                        <a:t>Technical Risk</a:t>
                      </a:r>
                      <a:endParaRPr lang="en-SG" sz="7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Vrinda" panose="020B0502040204020203" pitchFamily="34" charset="0"/>
                      </a:endParaRPr>
                    </a:p>
                  </a:txBody>
                  <a:tcPr marL="6042" marR="6042" marT="6042" marB="6042" anchor="ctr"/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SG" sz="800">
                          <a:effectLst/>
                        </a:rPr>
                        <a:t>System crashes or server downtime</a:t>
                      </a:r>
                      <a:endParaRPr lang="en-SG" sz="7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Vrinda" panose="020B0502040204020203" pitchFamily="34" charset="0"/>
                      </a:endParaRPr>
                    </a:p>
                  </a:txBody>
                  <a:tcPr marL="6042" marR="6042" marT="6042" marB="6042" anchor="ctr"/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SG" sz="800">
                          <a:effectLst/>
                        </a:rPr>
                        <a:t>Use reliable cloud hosting and automated database backups to prevent data loss</a:t>
                      </a:r>
                      <a:endParaRPr lang="en-SG" sz="7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Vrinda" panose="020B0502040204020203" pitchFamily="34" charset="0"/>
                      </a:endParaRPr>
                    </a:p>
                  </a:txBody>
                  <a:tcPr marL="6042" marR="6042" marT="6042" marB="6042" anchor="ctr"/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SG" sz="800">
                          <a:effectLst/>
                        </a:rPr>
                        <a:t>Implement real-time monitoring tools to detect service interruptions</a:t>
                      </a:r>
                      <a:endParaRPr lang="en-SG" sz="7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Vrinda" panose="020B0502040204020203" pitchFamily="34" charset="0"/>
                      </a:endParaRPr>
                    </a:p>
                  </a:txBody>
                  <a:tcPr marL="6042" marR="6042" marT="6042" marB="6042" anchor="ctr"/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SG" sz="800">
                          <a:effectLst/>
                        </a:rPr>
                        <a:t>Restore services immediately using latest backup and respond to alerts quickly</a:t>
                      </a:r>
                      <a:endParaRPr lang="en-SG" sz="7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Vrinda" panose="020B0502040204020203" pitchFamily="34" charset="0"/>
                      </a:endParaRPr>
                    </a:p>
                  </a:txBody>
                  <a:tcPr marL="6042" marR="6042" marT="6042" marB="6042" anchor="ctr"/>
                </a:tc>
                <a:extLst>
                  <a:ext uri="{0D108BD9-81ED-4DB2-BD59-A6C34878D82A}">
                    <a16:rowId xmlns:a16="http://schemas.microsoft.com/office/drawing/2014/main" val="2968845419"/>
                  </a:ext>
                </a:extLst>
              </a:tr>
              <a:tr h="846825"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SG" sz="800">
                          <a:effectLst/>
                        </a:rPr>
                        <a:t>R2</a:t>
                      </a:r>
                      <a:endParaRPr lang="en-SG" sz="7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Vrinda" panose="020B0502040204020203" pitchFamily="34" charset="0"/>
                      </a:endParaRPr>
                    </a:p>
                  </a:txBody>
                  <a:tcPr marL="6042" marR="6042" marT="6042" marB="6042" anchor="ctr"/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SG" sz="800" dirty="0">
                          <a:effectLst/>
                        </a:rPr>
                        <a:t>Security Risk</a:t>
                      </a:r>
                      <a:endParaRPr lang="en-SG" sz="7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Vrinda" panose="020B0502040204020203" pitchFamily="34" charset="0"/>
                      </a:endParaRPr>
                    </a:p>
                  </a:txBody>
                  <a:tcPr marL="6042" marR="6042" marT="6042" marB="6042" anchor="ctr"/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SG" sz="800">
                          <a:effectLst/>
                        </a:rPr>
                        <a:t>Unauthorized access or data breaches</a:t>
                      </a:r>
                      <a:endParaRPr lang="en-SG" sz="7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Vrinda" panose="020B0502040204020203" pitchFamily="34" charset="0"/>
                      </a:endParaRPr>
                    </a:p>
                  </a:txBody>
                  <a:tcPr marL="6042" marR="6042" marT="6042" marB="6042" anchor="ctr"/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SG" sz="800">
                          <a:effectLst/>
                        </a:rPr>
                        <a:t>Use Bcrypt password hashing and Laravel Sanctum token authentication</a:t>
                      </a:r>
                      <a:endParaRPr lang="en-SG" sz="7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Vrinda" panose="020B0502040204020203" pitchFamily="34" charset="0"/>
                      </a:endParaRPr>
                    </a:p>
                  </a:txBody>
                  <a:tcPr marL="6042" marR="6042" marT="6042" marB="6042" anchor="ctr"/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SG" sz="800">
                          <a:effectLst/>
                        </a:rPr>
                        <a:t>Review activity logs and login logs to detect suspicious access attempts</a:t>
                      </a:r>
                      <a:endParaRPr lang="en-SG" sz="7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Vrinda" panose="020B0502040204020203" pitchFamily="34" charset="0"/>
                      </a:endParaRPr>
                    </a:p>
                  </a:txBody>
                  <a:tcPr marL="6042" marR="6042" marT="6042" marB="6042" anchor="ctr"/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SG" sz="800">
                          <a:effectLst/>
                        </a:rPr>
                        <a:t>Revoke affected tokens and apply security patches to middleware if breach occurs</a:t>
                      </a:r>
                      <a:endParaRPr lang="en-SG" sz="7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Vrinda" panose="020B0502040204020203" pitchFamily="34" charset="0"/>
                      </a:endParaRPr>
                    </a:p>
                  </a:txBody>
                  <a:tcPr marL="6042" marR="6042" marT="6042" marB="6042" anchor="ctr"/>
                </a:tc>
                <a:extLst>
                  <a:ext uri="{0D108BD9-81ED-4DB2-BD59-A6C34878D82A}">
                    <a16:rowId xmlns:a16="http://schemas.microsoft.com/office/drawing/2014/main" val="1966038613"/>
                  </a:ext>
                </a:extLst>
              </a:tr>
              <a:tr h="846825"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SG" sz="800">
                          <a:effectLst/>
                        </a:rPr>
                        <a:t>R3</a:t>
                      </a:r>
                      <a:endParaRPr lang="en-SG" sz="7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Vrinda" panose="020B0502040204020203" pitchFamily="34" charset="0"/>
                      </a:endParaRPr>
                    </a:p>
                  </a:txBody>
                  <a:tcPr marL="6042" marR="6042" marT="6042" marB="6042" anchor="ctr"/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SG" sz="800">
                          <a:effectLst/>
                        </a:rPr>
                        <a:t>Operational Risk</a:t>
                      </a:r>
                      <a:endParaRPr lang="en-SG" sz="7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Vrinda" panose="020B0502040204020203" pitchFamily="34" charset="0"/>
                      </a:endParaRPr>
                    </a:p>
                  </a:txBody>
                  <a:tcPr marL="6042" marR="6042" marT="6042" marB="6042" anchor="ctr"/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SG" sz="800">
                          <a:effectLst/>
                        </a:rPr>
                        <a:t>Low user adoption, data entry mistakes, or calculation discrepancies</a:t>
                      </a:r>
                      <a:endParaRPr lang="en-SG" sz="7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Vrinda" panose="020B0502040204020203" pitchFamily="34" charset="0"/>
                      </a:endParaRPr>
                    </a:p>
                  </a:txBody>
                  <a:tcPr marL="6042" marR="6042" marT="6042" marB="6042" anchor="ctr"/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SG" sz="800">
                          <a:effectLst/>
                        </a:rPr>
                        <a:t>Design simple user-friendly interfaces and provide proper workflow guidance</a:t>
                      </a:r>
                      <a:endParaRPr lang="en-SG" sz="7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Vrinda" panose="020B0502040204020203" pitchFamily="34" charset="0"/>
                      </a:endParaRPr>
                    </a:p>
                  </a:txBody>
                  <a:tcPr marL="6042" marR="6042" marT="6042" marB="6042" anchor="ctr"/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SG" sz="800">
                          <a:effectLst/>
                        </a:rPr>
                        <a:t>Collect user feedback and review system usage regularly</a:t>
                      </a:r>
                      <a:endParaRPr lang="en-SG" sz="7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Vrinda" panose="020B0502040204020203" pitchFamily="34" charset="0"/>
                      </a:endParaRPr>
                    </a:p>
                  </a:txBody>
                  <a:tcPr marL="6042" marR="6042" marT="6042" marB="6042" anchor="ctr"/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SG" sz="800">
                          <a:effectLst/>
                        </a:rPr>
                        <a:t>Improve UI/UX gradually and provide corrections for operational issues</a:t>
                      </a:r>
                      <a:endParaRPr lang="en-SG" sz="7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Vrinda" panose="020B0502040204020203" pitchFamily="34" charset="0"/>
                      </a:endParaRPr>
                    </a:p>
                  </a:txBody>
                  <a:tcPr marL="6042" marR="6042" marT="6042" marB="6042" anchor="ctr"/>
                </a:tc>
                <a:extLst>
                  <a:ext uri="{0D108BD9-81ED-4DB2-BD59-A6C34878D82A}">
                    <a16:rowId xmlns:a16="http://schemas.microsoft.com/office/drawing/2014/main" val="1019199506"/>
                  </a:ext>
                </a:extLst>
              </a:tr>
              <a:tr h="846825"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SG" sz="800">
                          <a:effectLst/>
                        </a:rPr>
                        <a:t>R4</a:t>
                      </a:r>
                      <a:endParaRPr lang="en-SG" sz="7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Vrinda" panose="020B0502040204020203" pitchFamily="34" charset="0"/>
                      </a:endParaRPr>
                    </a:p>
                  </a:txBody>
                  <a:tcPr marL="6042" marR="6042" marT="6042" marB="6042" anchor="ctr"/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SG" sz="800">
                          <a:effectLst/>
                        </a:rPr>
                        <a:t>Financial Risk</a:t>
                      </a:r>
                      <a:endParaRPr lang="en-SG" sz="7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Vrinda" panose="020B0502040204020203" pitchFamily="34" charset="0"/>
                      </a:endParaRPr>
                    </a:p>
                  </a:txBody>
                  <a:tcPr marL="6042" marR="6042" marT="6042" marB="6042" anchor="ctr"/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SG" sz="800">
                          <a:effectLst/>
                        </a:rPr>
                        <a:t>Deposit tracking failures or future payment gateway integration issues</a:t>
                      </a:r>
                      <a:endParaRPr lang="en-SG" sz="7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Vrinda" panose="020B0502040204020203" pitchFamily="34" charset="0"/>
                      </a:endParaRPr>
                    </a:p>
                  </a:txBody>
                  <a:tcPr marL="6042" marR="6042" marT="6042" marB="6042" anchor="ctr"/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SG" sz="800">
                          <a:effectLst/>
                        </a:rPr>
                        <a:t>Maintain transaction validation and backup financial records</a:t>
                      </a:r>
                      <a:endParaRPr lang="en-SG" sz="7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Vrinda" panose="020B0502040204020203" pitchFamily="34" charset="0"/>
                      </a:endParaRPr>
                    </a:p>
                  </a:txBody>
                  <a:tcPr marL="6042" marR="6042" marT="6042" marB="6042" anchor="ctr"/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SG" sz="800">
                          <a:effectLst/>
                        </a:rPr>
                        <a:t>Monitor transaction logs and payment activities regularly</a:t>
                      </a:r>
                      <a:endParaRPr lang="en-SG" sz="7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Vrinda" panose="020B0502040204020203" pitchFamily="34" charset="0"/>
                      </a:endParaRPr>
                    </a:p>
                  </a:txBody>
                  <a:tcPr marL="6042" marR="6042" marT="6042" marB="6042" anchor="ctr"/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SG" sz="800">
                          <a:effectLst/>
                        </a:rPr>
                        <a:t>Resolve transaction mismatches quickly and maintain audit history</a:t>
                      </a:r>
                      <a:endParaRPr lang="en-SG" sz="7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Vrinda" panose="020B0502040204020203" pitchFamily="34" charset="0"/>
                      </a:endParaRPr>
                    </a:p>
                  </a:txBody>
                  <a:tcPr marL="6042" marR="6042" marT="6042" marB="6042" anchor="ctr"/>
                </a:tc>
                <a:extLst>
                  <a:ext uri="{0D108BD9-81ED-4DB2-BD59-A6C34878D82A}">
                    <a16:rowId xmlns:a16="http://schemas.microsoft.com/office/drawing/2014/main" val="1531444351"/>
                  </a:ext>
                </a:extLst>
              </a:tr>
              <a:tr h="846825"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SG" sz="800">
                          <a:effectLst/>
                        </a:rPr>
                        <a:t>R5</a:t>
                      </a:r>
                      <a:endParaRPr lang="en-SG" sz="7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Vrinda" panose="020B0502040204020203" pitchFamily="34" charset="0"/>
                      </a:endParaRPr>
                    </a:p>
                  </a:txBody>
                  <a:tcPr marL="6042" marR="6042" marT="6042" marB="6042" anchor="ctr"/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SG" sz="800" dirty="0">
                          <a:effectLst/>
                        </a:rPr>
                        <a:t>Performance Risk</a:t>
                      </a:r>
                      <a:endParaRPr lang="en-SG" sz="7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Vrinda" panose="020B0502040204020203" pitchFamily="34" charset="0"/>
                      </a:endParaRPr>
                    </a:p>
                  </a:txBody>
                  <a:tcPr marL="6042" marR="6042" marT="6042" marB="6042" anchor="ctr"/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SG" sz="800">
                          <a:effectLst/>
                        </a:rPr>
                        <a:t>Slow response time during peak usage or simultaneous meal entries</a:t>
                      </a:r>
                      <a:endParaRPr lang="en-SG" sz="7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Vrinda" panose="020B0502040204020203" pitchFamily="34" charset="0"/>
                      </a:endParaRPr>
                    </a:p>
                  </a:txBody>
                  <a:tcPr marL="6042" marR="6042" marT="6042" marB="6042" anchor="ctr"/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SG" sz="800">
                          <a:effectLst/>
                        </a:rPr>
                        <a:t>Optimize database queries and use efficient API handling</a:t>
                      </a:r>
                      <a:endParaRPr lang="en-SG" sz="7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Vrinda" panose="020B0502040204020203" pitchFamily="34" charset="0"/>
                      </a:endParaRPr>
                    </a:p>
                  </a:txBody>
                  <a:tcPr marL="6042" marR="6042" marT="6042" marB="6042" anchor="ctr"/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SG" sz="800">
                          <a:effectLst/>
                        </a:rPr>
                        <a:t>Track server response time and monitor heavy traffic conditions</a:t>
                      </a:r>
                      <a:endParaRPr lang="en-SG" sz="7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Vrinda" panose="020B0502040204020203" pitchFamily="34" charset="0"/>
                      </a:endParaRPr>
                    </a:p>
                  </a:txBody>
                  <a:tcPr marL="6042" marR="6042" marT="6042" marB="6042" anchor="ctr"/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SG" sz="800" dirty="0">
                          <a:effectLst/>
                        </a:rPr>
                        <a:t>Scale server resources and optimize performance bottlenecks when needed</a:t>
                      </a:r>
                      <a:endParaRPr lang="en-SG" sz="7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Vrinda" panose="020B0502040204020203" pitchFamily="34" charset="0"/>
                      </a:endParaRPr>
                    </a:p>
                  </a:txBody>
                  <a:tcPr marL="6042" marR="6042" marT="6042" marB="6042" anchor="ctr"/>
                </a:tc>
                <a:extLst>
                  <a:ext uri="{0D108BD9-81ED-4DB2-BD59-A6C34878D82A}">
                    <a16:rowId xmlns:a16="http://schemas.microsoft.com/office/drawing/2014/main" val="1131004859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Project Timeline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7380" y="1816588"/>
            <a:ext cx="7773339" cy="637363"/>
          </a:xfrm>
        </p:spPr>
        <p:txBody>
          <a:bodyPr/>
          <a:lstStyle/>
          <a:p>
            <a:pPr marL="0" indent="0">
              <a:buNone/>
            </a:pPr>
            <a:r>
              <a:rPr dirty="0"/>
              <a:t>12-week Agile development plan</a:t>
            </a:r>
            <a:r>
              <a:rPr dirty="0" smtClean="0"/>
              <a:t>.</a:t>
            </a:r>
            <a:endParaRPr dirty="0"/>
          </a:p>
        </p:txBody>
      </p:sp>
      <p:pic>
        <p:nvPicPr>
          <p:cNvPr id="5" name="Picture 4"/>
          <p:cNvPicPr/>
          <p:nvPr/>
        </p:nvPicPr>
        <p:blipFill>
          <a:blip r:embed="rId2"/>
          <a:stretch>
            <a:fillRect/>
          </a:stretch>
        </p:blipFill>
        <p:spPr>
          <a:xfrm>
            <a:off x="765110" y="2369976"/>
            <a:ext cx="7693560" cy="3862873"/>
          </a:xfrm>
          <a:prstGeom prst="rect">
            <a:avLst/>
          </a:prstGeom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SG" dirty="0"/>
              <a:t>Function Point Estimation</a:t>
            </a:r>
            <a:endParaRPr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85332" y="2609691"/>
            <a:ext cx="7773339" cy="3424107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SG" sz="1400" cap="none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The value adjustment </a:t>
            </a:r>
            <a:r>
              <a:rPr lang="en-US" sz="1400" cap="none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factor</a:t>
            </a:r>
            <a:r>
              <a:rPr lang="en-SG" sz="1400" cap="none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 (VAF) and adjusted function point (AFP) are calculated as follows: </a:t>
            </a:r>
          </a:p>
          <a:p>
            <a:r>
              <a:rPr lang="en-SG" sz="1400" cap="none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Total degree of influence (TDI) = 55</a:t>
            </a:r>
          </a:p>
          <a:p>
            <a:pPr lvl="0"/>
            <a:r>
              <a:rPr lang="en-SG" sz="1400" cap="none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Value adjustment </a:t>
            </a:r>
            <a:r>
              <a:rPr lang="en-US" sz="1400" cap="none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factor (</a:t>
            </a:r>
            <a:r>
              <a:rPr lang="en-SG" sz="1400" cap="none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VAF) = 0.65 + (0.01 \times TDI)</a:t>
            </a:r>
          </a:p>
          <a:p>
            <a:pPr lvl="0"/>
            <a:r>
              <a:rPr lang="en-SG" sz="1400" cap="none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Vaf</a:t>
            </a:r>
            <a:r>
              <a:rPr lang="en-SG" sz="1400" cap="none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 = 0.65 + (0.01 \times 55) = 1.10</a:t>
            </a:r>
          </a:p>
          <a:p>
            <a:pPr lvl="0"/>
            <a:r>
              <a:rPr lang="en-SG" sz="1400" cap="none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Total unadjusted function point (UFP) = </a:t>
            </a:r>
            <a:r>
              <a:rPr lang="en-SG" sz="1400" cap="none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ufp</a:t>
            </a:r>
            <a:r>
              <a:rPr lang="en-SG" sz="1400" cap="none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(transaction) + </a:t>
            </a:r>
            <a:r>
              <a:rPr lang="en-SG" sz="1400" cap="none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ufp</a:t>
            </a:r>
            <a:r>
              <a:rPr lang="en-SG" sz="1400" cap="none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(data) = 25 + 35 = 60</a:t>
            </a:r>
          </a:p>
          <a:p>
            <a:pPr lvl="0"/>
            <a:r>
              <a:rPr lang="en-SG" sz="1400" cap="none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Adjusted function point (AFP) = UFP \times VAF = 60 \times 1.10 = 66</a:t>
            </a:r>
          </a:p>
          <a:p>
            <a:pPr marL="0" indent="0">
              <a:buNone/>
            </a:pPr>
            <a:endParaRPr dirty="0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Cost Estimation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299105163"/>
              </p:ext>
            </p:extLst>
          </p:nvPr>
        </p:nvGraphicFramePr>
        <p:xfrm>
          <a:off x="615818" y="2006084"/>
          <a:ext cx="8033660" cy="4254755"/>
        </p:xfrm>
        <a:graphic>
          <a:graphicData uri="http://schemas.openxmlformats.org/drawingml/2006/table">
            <a:tbl>
              <a:tblPr firstRow="1" firstCol="1" bandRow="1">
                <a:tableStyleId>{5C22544A-7EE6-4342-B048-85BDC9FD1C3A}</a:tableStyleId>
              </a:tblPr>
              <a:tblGrid>
                <a:gridCol w="1847464">
                  <a:extLst>
                    <a:ext uri="{9D8B030D-6E8A-4147-A177-3AD203B41FA5}">
                      <a16:colId xmlns:a16="http://schemas.microsoft.com/office/drawing/2014/main" val="1022762590"/>
                    </a:ext>
                  </a:extLst>
                </a:gridCol>
                <a:gridCol w="2313991">
                  <a:extLst>
                    <a:ext uri="{9D8B030D-6E8A-4147-A177-3AD203B41FA5}">
                      <a16:colId xmlns:a16="http://schemas.microsoft.com/office/drawing/2014/main" val="1537689114"/>
                    </a:ext>
                  </a:extLst>
                </a:gridCol>
                <a:gridCol w="1595535">
                  <a:extLst>
                    <a:ext uri="{9D8B030D-6E8A-4147-A177-3AD203B41FA5}">
                      <a16:colId xmlns:a16="http://schemas.microsoft.com/office/drawing/2014/main" val="27452654"/>
                    </a:ext>
                  </a:extLst>
                </a:gridCol>
                <a:gridCol w="2276670">
                  <a:extLst>
                    <a:ext uri="{9D8B030D-6E8A-4147-A177-3AD203B41FA5}">
                      <a16:colId xmlns:a16="http://schemas.microsoft.com/office/drawing/2014/main" val="2085586388"/>
                    </a:ext>
                  </a:extLst>
                </a:gridCol>
              </a:tblGrid>
              <a:tr h="231500"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SG" sz="1000">
                          <a:effectLst/>
                        </a:rPr>
                        <a:t>Cost Category</a:t>
                      </a:r>
                      <a:endParaRPr lang="en-SG" sz="10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Vrinda" panose="020B0502040204020203" pitchFamily="34" charset="0"/>
                      </a:endParaRPr>
                    </a:p>
                  </a:txBody>
                  <a:tcPr marL="8263" marR="8263" marT="8263" marB="8263" anchor="ctr"/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SG" sz="1000">
                          <a:effectLst/>
                        </a:rPr>
                        <a:t>Resource / Tool</a:t>
                      </a:r>
                      <a:endParaRPr lang="en-SG" sz="10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Vrinda" panose="020B0502040204020203" pitchFamily="34" charset="0"/>
                      </a:endParaRPr>
                    </a:p>
                  </a:txBody>
                  <a:tcPr marL="8263" marR="8263" marT="8263" marB="8263" anchor="ctr"/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SG" sz="1000">
                          <a:effectLst/>
                        </a:rPr>
                        <a:t>Estimated Cost</a:t>
                      </a:r>
                      <a:endParaRPr lang="en-SG" sz="10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Vrinda" panose="020B0502040204020203" pitchFamily="34" charset="0"/>
                      </a:endParaRPr>
                    </a:p>
                  </a:txBody>
                  <a:tcPr marL="8263" marR="8263" marT="8263" marB="8263" anchor="ctr"/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SG" sz="1000">
                          <a:effectLst/>
                        </a:rPr>
                        <a:t>Remarks</a:t>
                      </a:r>
                      <a:endParaRPr lang="en-SG" sz="10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Vrinda" panose="020B0502040204020203" pitchFamily="34" charset="0"/>
                      </a:endParaRPr>
                    </a:p>
                  </a:txBody>
                  <a:tcPr marL="8263" marR="8263" marT="8263" marB="8263" anchor="ctr"/>
                </a:tc>
                <a:extLst>
                  <a:ext uri="{0D108BD9-81ED-4DB2-BD59-A6C34878D82A}">
                    <a16:rowId xmlns:a16="http://schemas.microsoft.com/office/drawing/2014/main" val="1238578797"/>
                  </a:ext>
                </a:extLst>
              </a:tr>
              <a:tr h="442465"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SG" sz="1000" dirty="0">
                          <a:effectLst/>
                        </a:rPr>
                        <a:t>Development Environment</a:t>
                      </a:r>
                      <a:endParaRPr lang="en-SG" sz="10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Vrinda" panose="020B0502040204020203" pitchFamily="34" charset="0"/>
                      </a:endParaRPr>
                    </a:p>
                  </a:txBody>
                  <a:tcPr marL="8263" marR="8263" marT="8263" marB="8263" anchor="ctr"/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SG" sz="1000">
                          <a:effectLst/>
                        </a:rPr>
                        <a:t>VS Code, Node.js, PHP, Laravel, React</a:t>
                      </a:r>
                      <a:endParaRPr lang="en-SG" sz="10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Vrinda" panose="020B0502040204020203" pitchFamily="34" charset="0"/>
                      </a:endParaRPr>
                    </a:p>
                  </a:txBody>
                  <a:tcPr marL="8263" marR="8263" marT="8263" marB="8263" anchor="ctr"/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SG" sz="1000">
                          <a:effectLst/>
                        </a:rPr>
                        <a:t>Free</a:t>
                      </a:r>
                      <a:endParaRPr lang="en-SG" sz="10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Vrinda" panose="020B0502040204020203" pitchFamily="34" charset="0"/>
                      </a:endParaRPr>
                    </a:p>
                  </a:txBody>
                  <a:tcPr marL="8263" marR="8263" marT="8263" marB="8263" anchor="ctr"/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SG" sz="1000">
                          <a:effectLst/>
                        </a:rPr>
                        <a:t>Open-source technologies used</a:t>
                      </a:r>
                      <a:endParaRPr lang="en-SG" sz="10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Vrinda" panose="020B0502040204020203" pitchFamily="34" charset="0"/>
                      </a:endParaRPr>
                    </a:p>
                  </a:txBody>
                  <a:tcPr marL="8263" marR="8263" marT="8263" marB="8263" anchor="ctr"/>
                </a:tc>
                <a:extLst>
                  <a:ext uri="{0D108BD9-81ED-4DB2-BD59-A6C34878D82A}">
                    <a16:rowId xmlns:a16="http://schemas.microsoft.com/office/drawing/2014/main" val="3788261991"/>
                  </a:ext>
                </a:extLst>
              </a:tr>
              <a:tr h="442465"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SG" sz="1000">
                          <a:effectLst/>
                        </a:rPr>
                        <a:t>Database Management</a:t>
                      </a:r>
                      <a:endParaRPr lang="en-SG" sz="10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Vrinda" panose="020B0502040204020203" pitchFamily="34" charset="0"/>
                      </a:endParaRPr>
                    </a:p>
                  </a:txBody>
                  <a:tcPr marL="8263" marR="8263" marT="8263" marB="8263" anchor="ctr"/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SG" sz="1000">
                          <a:effectLst/>
                        </a:rPr>
                        <a:t>MySQL</a:t>
                      </a:r>
                      <a:endParaRPr lang="en-SG" sz="10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Vrinda" panose="020B0502040204020203" pitchFamily="34" charset="0"/>
                      </a:endParaRPr>
                    </a:p>
                  </a:txBody>
                  <a:tcPr marL="8263" marR="8263" marT="8263" marB="8263" anchor="ctr"/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SG" sz="1000">
                          <a:effectLst/>
                        </a:rPr>
                        <a:t>Free</a:t>
                      </a:r>
                      <a:endParaRPr lang="en-SG" sz="10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Vrinda" panose="020B0502040204020203" pitchFamily="34" charset="0"/>
                      </a:endParaRPr>
                    </a:p>
                  </a:txBody>
                  <a:tcPr marL="8263" marR="8263" marT="8263" marB="8263" anchor="ctr"/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SG" sz="1000">
                          <a:effectLst/>
                        </a:rPr>
                        <a:t>Open-source relational database</a:t>
                      </a:r>
                      <a:endParaRPr lang="en-SG" sz="10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Vrinda" panose="020B0502040204020203" pitchFamily="34" charset="0"/>
                      </a:endParaRPr>
                    </a:p>
                  </a:txBody>
                  <a:tcPr marL="8263" marR="8263" marT="8263" marB="8263" anchor="ctr"/>
                </a:tc>
                <a:extLst>
                  <a:ext uri="{0D108BD9-81ED-4DB2-BD59-A6C34878D82A}">
                    <a16:rowId xmlns:a16="http://schemas.microsoft.com/office/drawing/2014/main" val="2464242279"/>
                  </a:ext>
                </a:extLst>
              </a:tr>
              <a:tr h="442465"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SG" sz="1000">
                          <a:effectLst/>
                        </a:rPr>
                        <a:t>Version Control</a:t>
                      </a:r>
                      <a:endParaRPr lang="en-SG" sz="10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Vrinda" panose="020B0502040204020203" pitchFamily="34" charset="0"/>
                      </a:endParaRPr>
                    </a:p>
                  </a:txBody>
                  <a:tcPr marL="8263" marR="8263" marT="8263" marB="8263" anchor="ctr"/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SG" sz="1000">
                          <a:effectLst/>
                        </a:rPr>
                        <a:t>Git &amp; GitHub</a:t>
                      </a:r>
                      <a:endParaRPr lang="en-SG" sz="10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Vrinda" panose="020B0502040204020203" pitchFamily="34" charset="0"/>
                      </a:endParaRPr>
                    </a:p>
                  </a:txBody>
                  <a:tcPr marL="8263" marR="8263" marT="8263" marB="8263" anchor="ctr"/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SG" sz="1000">
                          <a:effectLst/>
                        </a:rPr>
                        <a:t>Free</a:t>
                      </a:r>
                      <a:endParaRPr lang="en-SG" sz="10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Vrinda" panose="020B0502040204020203" pitchFamily="34" charset="0"/>
                      </a:endParaRPr>
                    </a:p>
                  </a:txBody>
                  <a:tcPr marL="8263" marR="8263" marT="8263" marB="8263" anchor="ctr"/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SG" sz="1000">
                          <a:effectLst/>
                        </a:rPr>
                        <a:t>Used for source code management</a:t>
                      </a:r>
                      <a:endParaRPr lang="en-SG" sz="10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Vrinda" panose="020B0502040204020203" pitchFamily="34" charset="0"/>
                      </a:endParaRPr>
                    </a:p>
                  </a:txBody>
                  <a:tcPr marL="8263" marR="8263" marT="8263" marB="8263" anchor="ctr"/>
                </a:tc>
                <a:extLst>
                  <a:ext uri="{0D108BD9-81ED-4DB2-BD59-A6C34878D82A}">
                    <a16:rowId xmlns:a16="http://schemas.microsoft.com/office/drawing/2014/main" val="2052373918"/>
                  </a:ext>
                </a:extLst>
              </a:tr>
              <a:tr h="442465"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SG" sz="1000">
                          <a:effectLst/>
                        </a:rPr>
                        <a:t>Hosting / Server</a:t>
                      </a:r>
                      <a:endParaRPr lang="en-SG" sz="10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Vrinda" panose="020B0502040204020203" pitchFamily="34" charset="0"/>
                      </a:endParaRPr>
                    </a:p>
                  </a:txBody>
                  <a:tcPr marL="8263" marR="8263" marT="8263" marB="8263" anchor="ctr"/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SG" sz="1000">
                          <a:effectLst/>
                        </a:rPr>
                        <a:t>Localhost / XAMPP</a:t>
                      </a:r>
                      <a:endParaRPr lang="en-SG" sz="10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Vrinda" panose="020B0502040204020203" pitchFamily="34" charset="0"/>
                      </a:endParaRPr>
                    </a:p>
                  </a:txBody>
                  <a:tcPr marL="8263" marR="8263" marT="8263" marB="8263" anchor="ctr"/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SG" sz="1000">
                          <a:effectLst/>
                        </a:rPr>
                        <a:t>Free</a:t>
                      </a:r>
                      <a:endParaRPr lang="en-SG" sz="10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Vrinda" panose="020B0502040204020203" pitchFamily="34" charset="0"/>
                      </a:endParaRPr>
                    </a:p>
                  </a:txBody>
                  <a:tcPr marL="8263" marR="8263" marT="8263" marB="8263" anchor="ctr"/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SG" sz="1000">
                          <a:effectLst/>
                        </a:rPr>
                        <a:t>Used during development phase</a:t>
                      </a:r>
                      <a:endParaRPr lang="en-SG" sz="10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Vrinda" panose="020B0502040204020203" pitchFamily="34" charset="0"/>
                      </a:endParaRPr>
                    </a:p>
                  </a:txBody>
                  <a:tcPr marL="8263" marR="8263" marT="8263" marB="8263" anchor="ctr"/>
                </a:tc>
                <a:extLst>
                  <a:ext uri="{0D108BD9-81ED-4DB2-BD59-A6C34878D82A}">
                    <a16:rowId xmlns:a16="http://schemas.microsoft.com/office/drawing/2014/main" val="3336931295"/>
                  </a:ext>
                </a:extLst>
              </a:tr>
              <a:tr h="442465"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SG" sz="1000">
                          <a:effectLst/>
                        </a:rPr>
                        <a:t>Internet &amp; Utilities</a:t>
                      </a:r>
                      <a:endParaRPr lang="en-SG" sz="10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Vrinda" panose="020B0502040204020203" pitchFamily="34" charset="0"/>
                      </a:endParaRPr>
                    </a:p>
                  </a:txBody>
                  <a:tcPr marL="8263" marR="8263" marT="8263" marB="8263" anchor="ctr"/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SG" sz="1000">
                          <a:effectLst/>
                        </a:rPr>
                        <a:t>Internet connection and electricity</a:t>
                      </a:r>
                      <a:endParaRPr lang="en-SG" sz="10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Vrinda" panose="020B0502040204020203" pitchFamily="34" charset="0"/>
                      </a:endParaRPr>
                    </a:p>
                  </a:txBody>
                  <a:tcPr marL="8263" marR="8263" marT="8263" marB="8263" anchor="ctr"/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SG" sz="1000">
                          <a:effectLst/>
                        </a:rPr>
                        <a:t>Approx. 500 BDT</a:t>
                      </a:r>
                      <a:endParaRPr lang="en-SG" sz="10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Vrinda" panose="020B0502040204020203" pitchFamily="34" charset="0"/>
                      </a:endParaRPr>
                    </a:p>
                  </a:txBody>
                  <a:tcPr marL="8263" marR="8263" marT="8263" marB="8263" anchor="ctr"/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SG" sz="1000">
                          <a:effectLst/>
                        </a:rPr>
                        <a:t>Daily development usage</a:t>
                      </a:r>
                      <a:endParaRPr lang="en-SG" sz="10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Vrinda" panose="020B0502040204020203" pitchFamily="34" charset="0"/>
                      </a:endParaRPr>
                    </a:p>
                  </a:txBody>
                  <a:tcPr marL="8263" marR="8263" marT="8263" marB="8263" anchor="ctr"/>
                </a:tc>
                <a:extLst>
                  <a:ext uri="{0D108BD9-81ED-4DB2-BD59-A6C34878D82A}">
                    <a16:rowId xmlns:a16="http://schemas.microsoft.com/office/drawing/2014/main" val="1939079085"/>
                  </a:ext>
                </a:extLst>
              </a:tr>
              <a:tr h="231500">
                <a:tc rowSpan="2">
                  <a:txBody>
                    <a:bodyPr/>
                    <a:lstStyle/>
                    <a:p>
                      <a:pPr marL="0" marR="0" algn="ctr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SG" sz="1000">
                          <a:effectLst/>
                        </a:rPr>
                        <a:t>Hardware</a:t>
                      </a:r>
                      <a:endParaRPr lang="en-SG" sz="10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Vrinda" panose="020B0502040204020203" pitchFamily="34" charset="0"/>
                      </a:endParaRPr>
                    </a:p>
                  </a:txBody>
                  <a:tcPr marL="8263" marR="8263" marT="8263" marB="8263" anchor="ctr"/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SG" sz="1000">
                          <a:effectLst/>
                        </a:rPr>
                        <a:t>Personal Laptop</a:t>
                      </a:r>
                      <a:endParaRPr lang="en-SG" sz="10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Vrinda" panose="020B0502040204020203" pitchFamily="34" charset="0"/>
                      </a:endParaRPr>
                    </a:p>
                  </a:txBody>
                  <a:tcPr marL="8263" marR="8263" marT="8263" marB="8263" anchor="ctr"/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SG" sz="1000">
                          <a:effectLst/>
                        </a:rPr>
                        <a:t>Existing Resource</a:t>
                      </a:r>
                      <a:endParaRPr lang="en-SG" sz="10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Vrinda" panose="020B0502040204020203" pitchFamily="34" charset="0"/>
                      </a:endParaRPr>
                    </a:p>
                  </a:txBody>
                  <a:tcPr marL="8263" marR="8263" marT="8263" marB="8263" anchor="ctr"/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SG" sz="1000">
                          <a:effectLst/>
                        </a:rPr>
                        <a:t>No additional hardware cost</a:t>
                      </a:r>
                      <a:endParaRPr lang="en-SG" sz="10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Vrinda" panose="020B0502040204020203" pitchFamily="34" charset="0"/>
                      </a:endParaRPr>
                    </a:p>
                  </a:txBody>
                  <a:tcPr marL="8263" marR="8263" marT="8263" marB="8263" anchor="ctr"/>
                </a:tc>
                <a:extLst>
                  <a:ext uri="{0D108BD9-81ED-4DB2-BD59-A6C34878D82A}">
                    <a16:rowId xmlns:a16="http://schemas.microsoft.com/office/drawing/2014/main" val="3438871503"/>
                  </a:ext>
                </a:extLst>
              </a:tr>
              <a:tr h="231500">
                <a:tc vMerge="1">
                  <a:txBody>
                    <a:bodyPr/>
                    <a:lstStyle/>
                    <a:p>
                      <a:endParaRPr lang="en-SG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SG" sz="1000">
                          <a:effectLst/>
                        </a:rPr>
                        <a:t>Mouse </a:t>
                      </a:r>
                      <a:endParaRPr lang="en-SG" sz="10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Vrinda" panose="020B0502040204020203" pitchFamily="34" charset="0"/>
                      </a:endParaRPr>
                    </a:p>
                  </a:txBody>
                  <a:tcPr marL="8263" marR="8263" marT="8263" marB="8263" anchor="ctr"/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SG" sz="1000">
                          <a:effectLst/>
                        </a:rPr>
                        <a:t>1000 BDT</a:t>
                      </a:r>
                      <a:endParaRPr lang="en-SG" sz="10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Vrinda" panose="020B0502040204020203" pitchFamily="34" charset="0"/>
                      </a:endParaRPr>
                    </a:p>
                  </a:txBody>
                  <a:tcPr marL="8263" marR="8263" marT="8263" marB="8263" anchor="ctr"/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SG" sz="1000">
                          <a:effectLst/>
                        </a:rPr>
                        <a:t>Bought new mouse</a:t>
                      </a:r>
                      <a:endParaRPr lang="en-SG" sz="10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Vrinda" panose="020B0502040204020203" pitchFamily="34" charset="0"/>
                      </a:endParaRPr>
                    </a:p>
                  </a:txBody>
                  <a:tcPr marL="8263" marR="8263" marT="8263" marB="8263" anchor="ctr"/>
                </a:tc>
                <a:extLst>
                  <a:ext uri="{0D108BD9-81ED-4DB2-BD59-A6C34878D82A}">
                    <a16:rowId xmlns:a16="http://schemas.microsoft.com/office/drawing/2014/main" val="3065138078"/>
                  </a:ext>
                </a:extLst>
              </a:tr>
              <a:tr h="442465"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SG" sz="1000">
                          <a:effectLst/>
                        </a:rPr>
                        <a:t>Testing &amp; Debugging</a:t>
                      </a:r>
                      <a:endParaRPr lang="en-SG" sz="10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Vrinda" panose="020B0502040204020203" pitchFamily="34" charset="0"/>
                      </a:endParaRPr>
                    </a:p>
                  </a:txBody>
                  <a:tcPr marL="8263" marR="8263" marT="8263" marB="8263" anchor="ctr"/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SG" sz="1000">
                          <a:effectLst/>
                        </a:rPr>
                        <a:t>Browser DevTools, Postman</a:t>
                      </a:r>
                      <a:endParaRPr lang="en-SG" sz="10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Vrinda" panose="020B0502040204020203" pitchFamily="34" charset="0"/>
                      </a:endParaRPr>
                    </a:p>
                  </a:txBody>
                  <a:tcPr marL="8263" marR="8263" marT="8263" marB="8263" anchor="ctr"/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SG" sz="1000">
                          <a:effectLst/>
                        </a:rPr>
                        <a:t>Free</a:t>
                      </a:r>
                      <a:endParaRPr lang="en-SG" sz="10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Vrinda" panose="020B0502040204020203" pitchFamily="34" charset="0"/>
                      </a:endParaRPr>
                    </a:p>
                  </a:txBody>
                  <a:tcPr marL="8263" marR="8263" marT="8263" marB="8263" anchor="ctr"/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SG" sz="1000">
                          <a:effectLst/>
                        </a:rPr>
                        <a:t>Used for API testing and debugging</a:t>
                      </a:r>
                      <a:endParaRPr lang="en-SG" sz="10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Vrinda" panose="020B0502040204020203" pitchFamily="34" charset="0"/>
                      </a:endParaRPr>
                    </a:p>
                  </a:txBody>
                  <a:tcPr marL="8263" marR="8263" marT="8263" marB="8263" anchor="ctr"/>
                </a:tc>
                <a:extLst>
                  <a:ext uri="{0D108BD9-81ED-4DB2-BD59-A6C34878D82A}">
                    <a16:rowId xmlns:a16="http://schemas.microsoft.com/office/drawing/2014/main" val="2425082253"/>
                  </a:ext>
                </a:extLst>
              </a:tr>
              <a:tr h="442465"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SG" sz="1000">
                          <a:effectLst/>
                        </a:rPr>
                        <a:t>Human Resource</a:t>
                      </a:r>
                      <a:endParaRPr lang="en-SG" sz="10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Vrinda" panose="020B0502040204020203" pitchFamily="34" charset="0"/>
                      </a:endParaRPr>
                    </a:p>
                  </a:txBody>
                  <a:tcPr marL="8263" marR="8263" marT="8263" marB="8263" anchor="ctr"/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SG" sz="1000">
                          <a:effectLst/>
                        </a:rPr>
                        <a:t>Developer (Self)</a:t>
                      </a:r>
                      <a:endParaRPr lang="en-SG" sz="10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Vrinda" panose="020B0502040204020203" pitchFamily="34" charset="0"/>
                      </a:endParaRPr>
                    </a:p>
                  </a:txBody>
                  <a:tcPr marL="8263" marR="8263" marT="8263" marB="8263" anchor="ctr"/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SG" sz="1000">
                          <a:effectLst/>
                        </a:rPr>
                        <a:t>Internship Based</a:t>
                      </a:r>
                      <a:endParaRPr lang="en-SG" sz="10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Vrinda" panose="020B0502040204020203" pitchFamily="34" charset="0"/>
                      </a:endParaRPr>
                    </a:p>
                  </a:txBody>
                  <a:tcPr marL="8263" marR="8263" marT="8263" marB="8263" anchor="ctr"/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SG" sz="1000">
                          <a:effectLst/>
                        </a:rPr>
                        <a:t>Developed during practicum/internship</a:t>
                      </a:r>
                      <a:endParaRPr lang="en-SG" sz="10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Vrinda" panose="020B0502040204020203" pitchFamily="34" charset="0"/>
                      </a:endParaRPr>
                    </a:p>
                  </a:txBody>
                  <a:tcPr marL="8263" marR="8263" marT="8263" marB="8263" anchor="ctr"/>
                </a:tc>
                <a:extLst>
                  <a:ext uri="{0D108BD9-81ED-4DB2-BD59-A6C34878D82A}">
                    <a16:rowId xmlns:a16="http://schemas.microsoft.com/office/drawing/2014/main" val="1690518102"/>
                  </a:ext>
                </a:extLst>
              </a:tr>
              <a:tr h="231500"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SG" sz="1000">
                          <a:effectLst/>
                        </a:rPr>
                        <a:t>Documentation</a:t>
                      </a:r>
                      <a:endParaRPr lang="en-SG" sz="10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Vrinda" panose="020B0502040204020203" pitchFamily="34" charset="0"/>
                      </a:endParaRPr>
                    </a:p>
                  </a:txBody>
                  <a:tcPr marL="8263" marR="8263" marT="8263" marB="8263" anchor="ctr"/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SG" sz="1000">
                          <a:effectLst/>
                        </a:rPr>
                        <a:t>Microsoft Word </a:t>
                      </a:r>
                      <a:endParaRPr lang="en-SG" sz="10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Vrinda" panose="020B0502040204020203" pitchFamily="34" charset="0"/>
                      </a:endParaRPr>
                    </a:p>
                  </a:txBody>
                  <a:tcPr marL="8263" marR="8263" marT="8263" marB="8263" anchor="ctr"/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SG" sz="1000">
                          <a:effectLst/>
                        </a:rPr>
                        <a:t>Free / Existing</a:t>
                      </a:r>
                      <a:endParaRPr lang="en-SG" sz="10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Vrinda" panose="020B0502040204020203" pitchFamily="34" charset="0"/>
                      </a:endParaRPr>
                    </a:p>
                  </a:txBody>
                  <a:tcPr marL="8263" marR="8263" marT="8263" marB="8263" anchor="ctr"/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SG" sz="1000">
                          <a:effectLst/>
                        </a:rPr>
                        <a:t>Used for report preparation</a:t>
                      </a:r>
                      <a:endParaRPr lang="en-SG" sz="10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Vrinda" panose="020B0502040204020203" pitchFamily="34" charset="0"/>
                      </a:endParaRPr>
                    </a:p>
                  </a:txBody>
                  <a:tcPr marL="8263" marR="8263" marT="8263" marB="8263" anchor="ctr"/>
                </a:tc>
                <a:extLst>
                  <a:ext uri="{0D108BD9-81ED-4DB2-BD59-A6C34878D82A}">
                    <a16:rowId xmlns:a16="http://schemas.microsoft.com/office/drawing/2014/main" val="614469070"/>
                  </a:ext>
                </a:extLst>
              </a:tr>
              <a:tr h="231500"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SG" sz="1000">
                          <a:effectLst/>
                        </a:rPr>
                        <a:t>Design</a:t>
                      </a:r>
                      <a:endParaRPr lang="en-SG" sz="10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Vrinda" panose="020B0502040204020203" pitchFamily="34" charset="0"/>
                      </a:endParaRPr>
                    </a:p>
                  </a:txBody>
                  <a:tcPr marL="8263" marR="8263" marT="8263" marB="8263" anchor="ctr"/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SG" sz="1000">
                          <a:effectLst/>
                        </a:rPr>
                        <a:t>Figma</a:t>
                      </a:r>
                      <a:endParaRPr lang="en-SG" sz="10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Vrinda" panose="020B0502040204020203" pitchFamily="34" charset="0"/>
                      </a:endParaRPr>
                    </a:p>
                  </a:txBody>
                  <a:tcPr marL="8263" marR="8263" marT="8263" marB="8263" anchor="ctr"/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SG" sz="1000">
                          <a:effectLst/>
                        </a:rPr>
                        <a:t>1500 BDT</a:t>
                      </a:r>
                      <a:endParaRPr lang="en-SG" sz="10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Vrinda" panose="020B0502040204020203" pitchFamily="34" charset="0"/>
                      </a:endParaRPr>
                    </a:p>
                  </a:txBody>
                  <a:tcPr marL="8263" marR="8263" marT="8263" marB="8263" anchor="ctr"/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SG" sz="1000" dirty="0">
                          <a:effectLst/>
                        </a:rPr>
                        <a:t>For diagram design</a:t>
                      </a:r>
                      <a:endParaRPr lang="en-SG" sz="10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Vrinda" panose="020B0502040204020203" pitchFamily="34" charset="0"/>
                      </a:endParaRPr>
                    </a:p>
                  </a:txBody>
                  <a:tcPr marL="8263" marR="8263" marT="8263" marB="8263" anchor="ctr"/>
                </a:tc>
                <a:extLst>
                  <a:ext uri="{0D108BD9-81ED-4DB2-BD59-A6C34878D82A}">
                    <a16:rowId xmlns:a16="http://schemas.microsoft.com/office/drawing/2014/main" val="269596527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288625080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dirty="0"/>
              <a:t>Limitations</a:t>
            </a:r>
          </a:p>
        </p:txBody>
      </p:sp>
      <p:sp>
        <p:nvSpPr>
          <p:cNvPr id="8" name="Rectangle 3"/>
          <p:cNvSpPr>
            <a:spLocks noGrp="1" noChangeArrowheads="1"/>
          </p:cNvSpPr>
          <p:nvPr>
            <p:ph idx="1"/>
          </p:nvPr>
        </p:nvSpPr>
        <p:spPr bwMode="auto">
          <a:xfrm>
            <a:off x="617920" y="2401665"/>
            <a:ext cx="7908162" cy="230832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algn="just" eaLnBrk="0" fontAlgn="base" hangingPunct="0">
              <a:lnSpc>
                <a:spcPct val="200000"/>
              </a:lnSpc>
              <a:spcBef>
                <a:spcPct val="0"/>
              </a:spcBef>
              <a:spcAft>
                <a:spcPct val="0"/>
              </a:spcAft>
              <a:buClrTx/>
            </a:pPr>
            <a:r>
              <a:rPr kumimoji="0" lang="en-US" altLang="en-US" sz="18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Manual expense entry: managers manually enter bazaar expenses. </a:t>
            </a:r>
          </a:p>
          <a:p>
            <a:pPr marR="0" lvl="0" algn="just" defTabSz="914400" rtl="0" eaLnBrk="0" fontAlgn="base" latinLnBrk="0" hangingPunct="0">
              <a:lnSpc>
                <a:spcPct val="2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kumimoji="0" lang="en-US" altLang="en-US" sz="18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Offline access: requires internet connection for syncing data. </a:t>
            </a:r>
          </a:p>
          <a:p>
            <a:pPr marR="0" lvl="0" algn="just" defTabSz="914400" rtl="0" eaLnBrk="0" fontAlgn="base" latinLnBrk="0" hangingPunct="0">
              <a:lnSpc>
                <a:spcPct val="2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kumimoji="0" lang="en-US" altLang="en-US" sz="18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Currency restriction: supports only </a:t>
            </a:r>
            <a:r>
              <a:rPr kumimoji="0" lang="en-US" altLang="en-US" sz="1800" b="0" i="0" u="none" strike="noStrike" cap="none" normalizeH="0" baseline="0" dirty="0" err="1" smtClean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bangladeshi</a:t>
            </a:r>
            <a:r>
              <a:rPr kumimoji="0" lang="en-US" altLang="en-US" sz="18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taka (</a:t>
            </a:r>
            <a:r>
              <a:rPr kumimoji="0" lang="en-US" altLang="en-US" sz="1800" b="0" i="0" u="none" strike="noStrike" cap="none" normalizeH="0" baseline="0" dirty="0" err="1" smtClean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bdt</a:t>
            </a:r>
            <a:r>
              <a:rPr kumimoji="0" lang="en-US" altLang="en-US" sz="18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). </a:t>
            </a:r>
          </a:p>
          <a:p>
            <a:pPr marR="0" lvl="0" algn="just" defTabSz="914400" rtl="0" eaLnBrk="0" fontAlgn="base" latinLnBrk="0" hangingPunct="0">
              <a:lnSpc>
                <a:spcPct val="2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kumimoji="0" lang="en-US" altLang="en-US" sz="18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No mobile app: native mobile app is not available yet. 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Future Work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85331" y="2367095"/>
            <a:ext cx="7773339" cy="1663730"/>
          </a:xfrm>
        </p:spPr>
        <p:txBody>
          <a:bodyPr/>
          <a:lstStyle/>
          <a:p>
            <a:r>
              <a:rPr lang="en-US" cap="none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Ocr</a:t>
            </a:r>
            <a:r>
              <a:rPr lang="en-US" cap="none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-based bazaar receipt scanning</a:t>
            </a:r>
          </a:p>
          <a:p>
            <a:r>
              <a:rPr lang="en-US" cap="none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Mobile application support</a:t>
            </a:r>
          </a:p>
          <a:p>
            <a:r>
              <a:rPr lang="en-US" cap="none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Ai-based expense prediction</a:t>
            </a:r>
            <a:endParaRPr lang="en-US" cap="non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dirty="0"/>
              <a:t>Conclusion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cap="none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MessManager automates mess operations efficiently.</a:t>
            </a:r>
          </a:p>
          <a:p>
            <a:r>
              <a:rPr lang="en-US" cap="none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Improves transparency and accountability.</a:t>
            </a:r>
          </a:p>
          <a:p>
            <a:r>
              <a:rPr lang="en-US" cap="none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Provides scalable role-based architecture.</a:t>
            </a:r>
          </a:p>
          <a:p>
            <a:r>
              <a:rPr lang="en-US" cap="none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Reduces manual work and billing errors.</a:t>
            </a:r>
            <a:endParaRPr lang="en-US" cap="non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29699" y="1296956"/>
            <a:ext cx="5785501" cy="4121528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</p:spTree>
    <p:extLst>
      <p:ext uri="{BB962C8B-B14F-4D97-AF65-F5344CB8AC3E}">
        <p14:creationId xmlns:p14="http://schemas.microsoft.com/office/powerpoint/2010/main" val="439285904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194" name="Picture 2" descr="Thank you png Images - Free Download on Magnific (formerly Freepik)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620481" y="1293068"/>
            <a:ext cx="5962650" cy="4219575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978333132"/>
      </p:ext>
    </p:extLst>
  </p:cSld>
  <p:clrMapOvr>
    <a:masterClrMapping/>
  </p:clrMapOvr>
</p:sld>
</file>

<file path=ppt/theme/theme1.xml><?xml version="1.0" encoding="utf-8"?>
<a:theme xmlns:a="http://schemas.openxmlformats.org/drawingml/2006/main" name="Droplet">
  <a:themeElements>
    <a:clrScheme name="Droplet">
      <a:dk1>
        <a:sysClr val="windowText" lastClr="000000"/>
      </a:dk1>
      <a:lt1>
        <a:sysClr val="window" lastClr="FFFFFF"/>
      </a:lt1>
      <a:dk2>
        <a:srgbClr val="355071"/>
      </a:dk2>
      <a:lt2>
        <a:srgbClr val="AABED7"/>
      </a:lt2>
      <a:accent1>
        <a:srgbClr val="2FA3EE"/>
      </a:accent1>
      <a:accent2>
        <a:srgbClr val="4BCAAD"/>
      </a:accent2>
      <a:accent3>
        <a:srgbClr val="86C157"/>
      </a:accent3>
      <a:accent4>
        <a:srgbClr val="D99C3F"/>
      </a:accent4>
      <a:accent5>
        <a:srgbClr val="CE6633"/>
      </a:accent5>
      <a:accent6>
        <a:srgbClr val="A35DD1"/>
      </a:accent6>
      <a:hlink>
        <a:srgbClr val="56BCFE"/>
      </a:hlink>
      <a:folHlink>
        <a:srgbClr val="97C5E3"/>
      </a:folHlink>
    </a:clrScheme>
    <a:fontScheme name="Droplet">
      <a:majorFont>
        <a:latin typeface="Tw Cen MT" panose="020B0602020104020603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Tw Cen MT" panose="020B0602020104020603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Droplet">
      <a:fillStyleLst>
        <a:solidFill>
          <a:schemeClr val="phClr"/>
        </a:solidFill>
        <a:solidFill>
          <a:schemeClr val="phClr">
            <a:tint val="69000"/>
            <a:satMod val="105000"/>
            <a:lumMod val="110000"/>
          </a:schemeClr>
        </a:solidFill>
        <a:gradFill rotWithShape="1">
          <a:gsLst>
            <a:gs pos="0">
              <a:schemeClr val="phClr">
                <a:tint val="94000"/>
                <a:satMod val="100000"/>
                <a:lumMod val="108000"/>
              </a:schemeClr>
            </a:gs>
            <a:gs pos="50000">
              <a:schemeClr val="phClr">
                <a:tint val="98000"/>
                <a:shade val="100000"/>
                <a:satMod val="100000"/>
                <a:lumMod val="100000"/>
              </a:schemeClr>
            </a:gs>
            <a:gs pos="100000">
              <a:schemeClr val="phClr">
                <a:shade val="72000"/>
                <a:satMod val="120000"/>
                <a:lumMod val="100000"/>
              </a:schemeClr>
            </a:gs>
          </a:gsLst>
          <a:lin ang="5400000" scaled="0"/>
        </a:gradFill>
      </a:fillStyleLst>
      <a:lnStyleLst>
        <a:ln w="9525" cap="flat" cmpd="sng" algn="ctr">
          <a:solidFill>
            <a:schemeClr val="phClr">
              <a:shade val="60000"/>
            </a:schemeClr>
          </a:solidFill>
          <a:prstDash val="solid"/>
        </a:ln>
        <a:ln w="15875" cap="flat" cmpd="sng" algn="ctr">
          <a:solidFill>
            <a:schemeClr val="phClr"/>
          </a:solidFill>
          <a:prstDash val="solid"/>
        </a:ln>
        <a:ln w="22225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50800" dist="25400" dir="5400000" rotWithShape="0">
              <a:srgbClr val="000000">
                <a:alpha val="28000"/>
              </a:srgbClr>
            </a:outerShdw>
          </a:effectLst>
        </a:effectStyle>
        <a:effectStyle>
          <a:effectLst>
            <a:outerShdw blurRad="63500" dist="25400" dir="5400000" algn="ctr" rotWithShape="0">
              <a:srgbClr val="000000">
                <a:alpha val="69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1200000"/>
            </a:lightRig>
          </a:scene3d>
          <a:sp3d prstMaterial="plastic">
            <a:bevelT w="254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100000">
              <a:schemeClr val="phClr">
                <a:shade val="64000"/>
                <a:lumMod val="88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84000"/>
                <a:shade val="100000"/>
                <a:hueMod val="130000"/>
                <a:satMod val="150000"/>
                <a:lumMod val="112000"/>
              </a:schemeClr>
            </a:gs>
            <a:gs pos="100000">
              <a:schemeClr val="phClr">
                <a:shade val="92000"/>
                <a:satMod val="140000"/>
                <a:lumMod val="11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Droplet" id="{8984A317-299A-4E50-B45D-BFC9EDE2337A}" vid="{A633B6A3-9E7F-4C10-9C98-2517A3134361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TM04033925[[fn=Droplet]]</Template>
  <TotalTime>301</TotalTime>
  <Words>1345</Words>
  <Application>Microsoft Office PowerPoint</Application>
  <PresentationFormat>On-screen Show (4:3)</PresentationFormat>
  <Paragraphs>328</Paragraphs>
  <Slides>45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45</vt:i4>
      </vt:variant>
    </vt:vector>
  </HeadingPairs>
  <TitlesOfParts>
    <vt:vector size="53" baseType="lpstr">
      <vt:lpstr>Arial</vt:lpstr>
      <vt:lpstr>Arial Narrow</vt:lpstr>
      <vt:lpstr>Calibri</vt:lpstr>
      <vt:lpstr>Times New Roman</vt:lpstr>
      <vt:lpstr>Tw Cen MT</vt:lpstr>
      <vt:lpstr>Vrinda</vt:lpstr>
      <vt:lpstr>Wingdings</vt:lpstr>
      <vt:lpstr>Droplet</vt:lpstr>
      <vt:lpstr>PowerPoint Presentation</vt:lpstr>
      <vt:lpstr>Topics To Be Covered</vt:lpstr>
      <vt:lpstr>Organization Overview</vt:lpstr>
      <vt:lpstr>Project Overview</vt:lpstr>
      <vt:lpstr>Problem Statement</vt:lpstr>
      <vt:lpstr>Objectives</vt:lpstr>
      <vt:lpstr>System Benefits</vt:lpstr>
      <vt:lpstr>Feasibility Analysis</vt:lpstr>
      <vt:lpstr>Agile Process Model</vt:lpstr>
      <vt:lpstr>Requirement Engineering</vt:lpstr>
      <vt:lpstr>Functional Requirements</vt:lpstr>
      <vt:lpstr>Non-Functional Requirements</vt:lpstr>
      <vt:lpstr>Use Case Diagram</vt:lpstr>
      <vt:lpstr>Activity Diagrams</vt:lpstr>
      <vt:lpstr>Activity Diagrams</vt:lpstr>
      <vt:lpstr>Activity Diagrams</vt:lpstr>
      <vt:lpstr>Swimlane Diagram</vt:lpstr>
      <vt:lpstr>Sequence Diagram</vt:lpstr>
      <vt:lpstr>Class Diagram</vt:lpstr>
      <vt:lpstr>DFD Level 0</vt:lpstr>
      <vt:lpstr>DFD Level 1</vt:lpstr>
      <vt:lpstr>DFD Level 2 (Billing Sub-flow)</vt:lpstr>
      <vt:lpstr>DFD Level 2 ( Transaction &amp; Settlement )</vt:lpstr>
      <vt:lpstr>Entity Relationship Diagram (ERD)</vt:lpstr>
      <vt:lpstr>System Architecture</vt:lpstr>
      <vt:lpstr>Database Design</vt:lpstr>
      <vt:lpstr>API Design Summary</vt:lpstr>
      <vt:lpstr>Billing Calculation Logic</vt:lpstr>
      <vt:lpstr>Refund Settlement Logic</vt:lpstr>
      <vt:lpstr>Super Admin Dashboard</vt:lpstr>
      <vt:lpstr>Manager Dashboard</vt:lpstr>
      <vt:lpstr>User Dashboard</vt:lpstr>
      <vt:lpstr>Testing</vt:lpstr>
      <vt:lpstr>Testing</vt:lpstr>
      <vt:lpstr>Risk Analysis</vt:lpstr>
      <vt:lpstr>Risk Analysis</vt:lpstr>
      <vt:lpstr>RMMM Plan</vt:lpstr>
      <vt:lpstr>Project Timeline</vt:lpstr>
      <vt:lpstr>Function Point Estimation</vt:lpstr>
      <vt:lpstr>Cost Estimation</vt:lpstr>
      <vt:lpstr>Limitations</vt:lpstr>
      <vt:lpstr>Future Work</vt:lpstr>
      <vt:lpstr>Conclusion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subject/>
  <dc:creator/>
  <cp:keywords/>
  <dc:description>generated using python-pptx</dc:description>
  <cp:lastModifiedBy>hasan imam</cp:lastModifiedBy>
  <cp:revision>29</cp:revision>
  <dcterms:created xsi:type="dcterms:W3CDTF">2013-01-27T09:14:16Z</dcterms:created>
  <dcterms:modified xsi:type="dcterms:W3CDTF">2026-06-01T05:19:47Z</dcterms:modified>
  <cp:category/>
</cp:coreProperties>
</file>