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96" r:id="rId16"/>
    <p:sldId id="295" r:id="rId17"/>
    <p:sldId id="270" r:id="rId18"/>
    <p:sldId id="272" r:id="rId19"/>
    <p:sldId id="271" r:id="rId20"/>
    <p:sldId id="273" r:id="rId21"/>
    <p:sldId id="274" r:id="rId22"/>
    <p:sldId id="275" r:id="rId23"/>
    <p:sldId id="297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98" r:id="rId35"/>
    <p:sldId id="286" r:id="rId36"/>
    <p:sldId id="299" r:id="rId37"/>
    <p:sldId id="287" r:id="rId38"/>
    <p:sldId id="288" r:id="rId39"/>
    <p:sldId id="289" r:id="rId40"/>
    <p:sldId id="300" r:id="rId41"/>
    <p:sldId id="290" r:id="rId42"/>
    <p:sldId id="291" r:id="rId43"/>
    <p:sldId id="292" r:id="rId44"/>
    <p:sldId id="301" r:id="rId45"/>
    <p:sldId id="302" r:id="rId4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7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500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697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189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34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89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65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671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31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92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026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8653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792911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9213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7281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777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7964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7509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621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22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866300" y="2630760"/>
            <a:ext cx="7620000" cy="1828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2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Prepared for: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Practicum Defense Committee  </a:t>
            </a:r>
            <a:br>
              <a:rPr lang="en-US" sz="18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Department of  Computer Science and Engineering</a:t>
            </a:r>
            <a:r>
              <a:rPr lang="en-US" sz="3200" dirty="0" smtClean="0"/>
              <a:t/>
            </a:r>
            <a:br>
              <a:rPr lang="en-US" sz="3200" dirty="0" smtClean="0"/>
            </a:br>
            <a:endParaRPr lang="en-US" sz="3200" dirty="0"/>
          </a:p>
        </p:txBody>
      </p:sp>
      <p:sp>
        <p:nvSpPr>
          <p:cNvPr id="7" name="WordArt 5"/>
          <p:cNvSpPr>
            <a:spLocks noChangeArrowheads="1" noChangeShapeType="1" noTextEdit="1"/>
          </p:cNvSpPr>
          <p:nvPr/>
        </p:nvSpPr>
        <p:spPr bwMode="auto">
          <a:xfrm>
            <a:off x="744583" y="321276"/>
            <a:ext cx="7683137" cy="26778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1200" b="1" kern="10" spc="240" dirty="0" smtClean="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solidFill>
                  <a:srgbClr val="008000"/>
                </a:solidFill>
                <a:latin typeface="Arial Narrow"/>
              </a:rPr>
              <a:t>IUBAT–INTERNATIONAL </a:t>
            </a:r>
            <a:r>
              <a:rPr lang="en-US" sz="1200" b="1" kern="10" spc="240" dirty="0" smtClean="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solidFill>
                  <a:srgbClr val="008000"/>
                </a:solidFill>
                <a:effectLst/>
                <a:latin typeface="Arial Narrow"/>
              </a:rPr>
              <a:t>UNIVERSITY OF BUSINESS AGRICULTURE AND TECHNOLOGY</a:t>
            </a:r>
            <a:endParaRPr lang="en-US" sz="1200" b="1" kern="10" spc="240" dirty="0">
              <a:ln w="9525">
                <a:solidFill>
                  <a:srgbClr val="008000"/>
                </a:solidFill>
                <a:round/>
                <a:headEnd/>
                <a:tailEnd/>
              </a:ln>
              <a:solidFill>
                <a:srgbClr val="008000"/>
              </a:solidFill>
              <a:effectLst/>
              <a:latin typeface="Arial Narrow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124200" y="713601"/>
            <a:ext cx="29633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i="1" dirty="0" smtClean="0">
                <a:solidFill>
                  <a:srgbClr val="008000"/>
                </a:solidFill>
                <a:latin typeface="Arial" pitchFamily="34" charset="0"/>
                <a:ea typeface="Times New Roman" pitchFamily="18" charset="0"/>
                <a:cs typeface="Times New Roman" pitchFamily="18" charset="0"/>
              </a:rPr>
              <a:t>Founded 1991 by Md. Alimullah Miyan</a:t>
            </a:r>
            <a:endParaRPr lang="en-US" sz="1100" dirty="0" smtClean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15240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Rectangle 10"/>
          <p:cNvSpPr/>
          <p:nvPr/>
        </p:nvSpPr>
        <p:spPr>
          <a:xfrm>
            <a:off x="2895600" y="2209800"/>
            <a:ext cx="391806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u="sng" dirty="0" smtClean="0">
                <a:latin typeface="Times New Roman" pitchFamily="18" charset="0"/>
                <a:cs typeface="Times New Roman" pitchFamily="18" charset="0"/>
              </a:rPr>
              <a:t>Course Code: Practicum CSC 490</a:t>
            </a:r>
            <a:endParaRPr lang="en-US" sz="2000" dirty="0"/>
          </a:p>
        </p:txBody>
      </p:sp>
      <p:sp>
        <p:nvSpPr>
          <p:cNvPr id="12" name="Rectangle 11"/>
          <p:cNvSpPr/>
          <p:nvPr/>
        </p:nvSpPr>
        <p:spPr>
          <a:xfrm>
            <a:off x="5224291" y="4724400"/>
            <a:ext cx="326200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b="1" u="sng" dirty="0" smtClean="0">
                <a:latin typeface="Times New Roman" pitchFamily="18" charset="0"/>
                <a:cs typeface="Times New Roman" pitchFamily="18" charset="0"/>
              </a:rPr>
              <a:t>Prepared by:</a:t>
            </a:r>
          </a:p>
          <a:p>
            <a:pPr>
              <a:spcAft>
                <a:spcPts val="600"/>
              </a:spcAft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Student Name: Hasan Imam</a:t>
            </a:r>
          </a:p>
          <a:p>
            <a:pPr>
              <a:spcAft>
                <a:spcPts val="600"/>
              </a:spcAft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Student ID: 22203032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10325" y="6309211"/>
            <a:ext cx="135165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01/06/2026</a:t>
            </a:r>
            <a:endParaRPr lang="en-US" sz="2000" dirty="0"/>
          </a:p>
        </p:txBody>
      </p:sp>
      <p:sp>
        <p:nvSpPr>
          <p:cNvPr id="14" name="Rectangle 13"/>
          <p:cNvSpPr/>
          <p:nvPr/>
        </p:nvSpPr>
        <p:spPr>
          <a:xfrm>
            <a:off x="685800" y="4724400"/>
            <a:ext cx="35052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b="1" u="sng" dirty="0" smtClean="0">
                <a:latin typeface="Times New Roman" pitchFamily="18" charset="0"/>
                <a:cs typeface="Times New Roman" pitchFamily="18" charset="0"/>
              </a:rPr>
              <a:t>Supervised by:</a:t>
            </a:r>
          </a:p>
          <a:p>
            <a:pPr>
              <a:spcAft>
                <a:spcPts val="600"/>
              </a:spcAft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Faculty Name: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Jannatul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Ferdous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600"/>
              </a:spcAft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Designation: Lecturer</a:t>
            </a:r>
          </a:p>
        </p:txBody>
      </p:sp>
      <p:pic>
        <p:nvPicPr>
          <p:cNvPr id="15" name="Picture 14" descr="Logo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3030" y="3746272"/>
            <a:ext cx="457200" cy="470535"/>
          </a:xfrm>
          <a:prstGeom prst="rect">
            <a:avLst/>
          </a:prstGeom>
          <a:noFill/>
        </p:spPr>
      </p:pic>
      <p:sp>
        <p:nvSpPr>
          <p:cNvPr id="16" name="Rectangle 15"/>
          <p:cNvSpPr/>
          <p:nvPr/>
        </p:nvSpPr>
        <p:spPr>
          <a:xfrm>
            <a:off x="8338851" y="609600"/>
            <a:ext cx="76200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800" b="1" dirty="0" smtClean="0">
                <a:latin typeface="Arial" pitchFamily="34" charset="0"/>
                <a:cs typeface="Arial" pitchFamily="34" charset="0"/>
              </a:rPr>
              <a:t>1991-2026</a:t>
            </a:r>
            <a:endParaRPr lang="en-US" sz="600" dirty="0" smtClean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486300" y="228600"/>
            <a:ext cx="609944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0" name="Rectangle 3"/>
          <p:cNvSpPr>
            <a:spLocks noChangeArrowheads="1"/>
          </p:cNvSpPr>
          <p:nvPr/>
        </p:nvSpPr>
        <p:spPr bwMode="auto">
          <a:xfrm>
            <a:off x="1379838" y="1115136"/>
            <a:ext cx="614937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MessManager — Bachelor Mess Expense &amp; Meal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Topics To Be Covered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31" y="2367094"/>
            <a:ext cx="8458669" cy="3744457"/>
          </a:xfrm>
        </p:spPr>
        <p:txBody>
          <a:bodyPr numCol="2"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dirty="0"/>
              <a:t>Organization Overview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Project Overview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 smtClean="0"/>
              <a:t>Objectives</a:t>
            </a:r>
            <a:endParaRPr lang="en-US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SG" dirty="0"/>
              <a:t>System Benefits</a:t>
            </a:r>
            <a:endParaRPr dirty="0"/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Feasibility </a:t>
            </a:r>
            <a:r>
              <a:rPr dirty="0" smtClean="0"/>
              <a:t>Analysis</a:t>
            </a:r>
            <a:endParaRPr lang="en-US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Project model</a:t>
            </a:r>
            <a:endParaRPr dirty="0"/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Requirement Engineering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System Architecture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Diagrams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Dashboard </a:t>
            </a:r>
            <a:r>
              <a:rPr dirty="0" smtClean="0"/>
              <a:t>Overview</a:t>
            </a:r>
            <a:endParaRPr lang="en-US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Risk Analysis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err="1" smtClean="0"/>
              <a:t>Rmmm</a:t>
            </a:r>
            <a:r>
              <a:rPr lang="en-US" dirty="0" smtClean="0"/>
              <a:t> plan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Timeline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SG"/>
              <a:t>Function Point </a:t>
            </a:r>
            <a:r>
              <a:rPr lang="en-SG" smtClean="0"/>
              <a:t>Estimation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mtClean="0"/>
              <a:t>Cost </a:t>
            </a:r>
            <a:r>
              <a:rPr lang="en-US" dirty="0" smtClean="0"/>
              <a:t>estimation</a:t>
            </a:r>
            <a:endParaRPr dirty="0"/>
          </a:p>
          <a:p>
            <a:pPr>
              <a:buFont typeface="Wingdings" panose="05000000000000000000" pitchFamily="2" charset="2"/>
              <a:buChar char="q"/>
            </a:pPr>
            <a:r>
              <a:rPr dirty="0" smtClean="0"/>
              <a:t>Testing</a:t>
            </a:r>
            <a:endParaRPr lang="en-US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limitation</a:t>
            </a:r>
            <a:endParaRPr dirty="0"/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Future Work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Organization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31" y="2367094"/>
            <a:ext cx="7773339" cy="2316873"/>
          </a:xfrm>
        </p:spPr>
        <p:txBody>
          <a:bodyPr/>
          <a:lstStyle/>
          <a:p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CODETREE is a software and IT solutions company.</a:t>
            </a:r>
          </a:p>
          <a:p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web, mobile, </a:t>
            </a:r>
            <a:r>
              <a:rPr lang="en-US" cap="non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saas</a:t>
            </a:r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cap="non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and management systems.</a:t>
            </a:r>
          </a:p>
          <a:p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scalable and user-friendly digital solutions.</a:t>
            </a:r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4033" y="4683967"/>
            <a:ext cx="4627984" cy="11569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MessManager </a:t>
            </a:r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automates shared mess management.</a:t>
            </a:r>
          </a:p>
          <a:p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Tracks meals, expenses, deposits, balances, and billing.</a:t>
            </a:r>
          </a:p>
          <a:p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role-based dashboards for super admin, manager, and user.</a:t>
            </a:r>
          </a:p>
          <a:p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calculation errors and improves transparency.</a:t>
            </a:r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Manual mess systems are paper-based and error-prone.</a:t>
            </a:r>
          </a:p>
          <a:p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Meal rate calculations are difficult.</a:t>
            </a:r>
          </a:p>
          <a:p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Deposit and balance tracking becomes confusing.</a:t>
            </a:r>
          </a:p>
          <a:p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 centralized management system exists.</a:t>
            </a:r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secure role-based mess management system.</a:t>
            </a:r>
          </a:p>
          <a:p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meal tracking and monthly billing.</a:t>
            </a:r>
          </a:p>
          <a:p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deposit approval and refund settlement.</a:t>
            </a:r>
          </a:p>
          <a:p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Provide financial transparency and reporting.</a:t>
            </a:r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System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calculations</a:t>
            </a:r>
          </a:p>
          <a:p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Reduced human error</a:t>
            </a:r>
          </a:p>
          <a:p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Transparent financial tracking</a:t>
            </a:r>
          </a:p>
          <a:p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control</a:t>
            </a:r>
          </a:p>
          <a:p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digital management</a:t>
            </a:r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Feasibility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feasibility: </a:t>
            </a:r>
            <a:r>
              <a:rPr lang="en-US" cap="non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laravel</a:t>
            </a:r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react, </a:t>
            </a:r>
            <a:r>
              <a:rPr lang="en-US" cap="non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endParaRPr lang="en-US" cap="none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feasibility: open-source technologies</a:t>
            </a:r>
          </a:p>
          <a:p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feasibility: user-friendly workflows</a:t>
            </a:r>
          </a:p>
          <a:p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Schedule feasibility: agile 12-week development</a:t>
            </a:r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451" y="319939"/>
            <a:ext cx="7773338" cy="1596177"/>
          </a:xfrm>
        </p:spPr>
        <p:txBody>
          <a:bodyPr/>
          <a:lstStyle/>
          <a:p>
            <a:r>
              <a:rPr dirty="0"/>
              <a:t>Agile Process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7380" y="1639306"/>
            <a:ext cx="7773339" cy="3424107"/>
          </a:xfrm>
        </p:spPr>
        <p:txBody>
          <a:bodyPr/>
          <a:lstStyle/>
          <a:p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Iterative development approach</a:t>
            </a:r>
          </a:p>
          <a:p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testing and improvement</a:t>
            </a:r>
          </a:p>
          <a:p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Sprint-based module implementation</a:t>
            </a:r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agi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7620" y="3351359"/>
            <a:ext cx="5715000" cy="317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Requirement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Stakeholder analysis</a:t>
            </a:r>
          </a:p>
          <a:p>
            <a:r>
              <a:rPr lang="en-SG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elicitation</a:t>
            </a:r>
          </a:p>
          <a:p>
            <a:r>
              <a:rPr lang="en-SG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</a:p>
          <a:p>
            <a:r>
              <a:rPr lang="en-SG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requirements</a:t>
            </a:r>
            <a:endParaRPr lang="en-SG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Meal entry</a:t>
            </a:r>
          </a:p>
          <a:p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Expense management</a:t>
            </a:r>
          </a:p>
          <a:p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Deposit approval</a:t>
            </a:r>
          </a:p>
          <a:p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Monthly billing</a:t>
            </a:r>
          </a:p>
          <a:p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Member management</a:t>
            </a:r>
          </a:p>
          <a:p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Refund settlement</a:t>
            </a:r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Non-Functional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</a:p>
          <a:p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</a:p>
          <a:p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Responsiveness</a:t>
            </a:r>
          </a:p>
          <a:p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</a:t>
            </a:r>
          </a:p>
          <a:p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</a:p>
          <a:p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Maintainability</a:t>
            </a:r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355" y="115309"/>
            <a:ext cx="7773338" cy="1218970"/>
          </a:xfrm>
        </p:spPr>
        <p:txBody>
          <a:bodyPr/>
          <a:lstStyle/>
          <a:p>
            <a:r>
              <a:rPr dirty="0"/>
              <a:t>Use Case Diagram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11256"/>
            <a:ext cx="9144000" cy="5715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510918"/>
            <a:ext cx="7773338" cy="1042331"/>
          </a:xfrm>
        </p:spPr>
        <p:txBody>
          <a:bodyPr/>
          <a:lstStyle/>
          <a:p>
            <a:r>
              <a:rPr dirty="0"/>
              <a:t>Activity Diagrams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2817" y="1524147"/>
            <a:ext cx="7773339" cy="47874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Admin Activity </a:t>
            </a:r>
            <a:r>
              <a:rPr dirty="0" smtClean="0"/>
              <a:t>Diagram</a:t>
            </a:r>
            <a:endParaRPr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07853"/>
            <a:ext cx="9143999" cy="48879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862" y="375923"/>
            <a:ext cx="7773338" cy="846388"/>
          </a:xfrm>
        </p:spPr>
        <p:txBody>
          <a:bodyPr/>
          <a:lstStyle/>
          <a:p>
            <a:r>
              <a:rPr dirty="0"/>
              <a:t>Activity Diagrams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732" y="1222311"/>
            <a:ext cx="7773339" cy="520615"/>
          </a:xfrm>
        </p:spPr>
        <p:txBody>
          <a:bodyPr/>
          <a:lstStyle/>
          <a:p>
            <a:pPr marL="0" indent="0">
              <a:buNone/>
            </a:pPr>
            <a:r>
              <a:rPr dirty="0" smtClean="0"/>
              <a:t>Manager </a:t>
            </a:r>
            <a:r>
              <a:rPr dirty="0"/>
              <a:t>Activity </a:t>
            </a:r>
            <a:r>
              <a:rPr dirty="0" smtClean="0"/>
              <a:t>Diagra</a:t>
            </a:r>
            <a:r>
              <a:rPr lang="en-US" dirty="0" smtClean="0"/>
              <a:t>m</a:t>
            </a:r>
            <a:endParaRPr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32858"/>
            <a:ext cx="9144000" cy="5403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718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318975"/>
            <a:ext cx="7773338" cy="931327"/>
          </a:xfrm>
        </p:spPr>
        <p:txBody>
          <a:bodyPr/>
          <a:lstStyle/>
          <a:p>
            <a:r>
              <a:rPr dirty="0"/>
              <a:t>Activity Diagrams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62" y="1268965"/>
            <a:ext cx="7773339" cy="466530"/>
          </a:xfrm>
        </p:spPr>
        <p:txBody>
          <a:bodyPr/>
          <a:lstStyle/>
          <a:p>
            <a:pPr marL="0" indent="0">
              <a:buNone/>
            </a:pPr>
            <a:r>
              <a:rPr dirty="0" smtClean="0"/>
              <a:t>User </a:t>
            </a:r>
            <a:r>
              <a:rPr dirty="0"/>
              <a:t>Activity </a:t>
            </a:r>
            <a:r>
              <a:rPr dirty="0" smtClean="0"/>
              <a:t>Diagram</a:t>
            </a:r>
            <a:endParaRPr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44827"/>
            <a:ext cx="9144000" cy="5122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956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356" y="348573"/>
            <a:ext cx="7773338" cy="995035"/>
          </a:xfrm>
        </p:spPr>
        <p:txBody>
          <a:bodyPr/>
          <a:lstStyle/>
          <a:p>
            <a:r>
              <a:rPr dirty="0" err="1"/>
              <a:t>Swimlane</a:t>
            </a:r>
            <a:r>
              <a:rPr dirty="0"/>
              <a:t> Diagram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380931"/>
            <a:ext cx="9144000" cy="551439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105334"/>
            <a:ext cx="7773338" cy="921033"/>
          </a:xfrm>
        </p:spPr>
        <p:txBody>
          <a:bodyPr/>
          <a:lstStyle/>
          <a:p>
            <a:r>
              <a:rPr dirty="0"/>
              <a:t>Sequence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8895" y="808883"/>
            <a:ext cx="7773339" cy="1215859"/>
          </a:xfrm>
        </p:spPr>
        <p:txBody>
          <a:bodyPr>
            <a:noAutofit/>
          </a:bodyPr>
          <a:lstStyle/>
          <a:p>
            <a:r>
              <a:rPr lang="en-US" sz="16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Monthly billing calculation workflow.</a:t>
            </a:r>
          </a:p>
          <a:p>
            <a:r>
              <a:rPr lang="en-US" sz="16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Deposit approval process.</a:t>
            </a:r>
          </a:p>
          <a:p>
            <a:r>
              <a:rPr lang="en-US" sz="16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Refund settlement sequence.</a:t>
            </a:r>
            <a:endParaRPr lang="en-US" sz="16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514" y="2090056"/>
            <a:ext cx="8220270" cy="476794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365" y="68655"/>
            <a:ext cx="7773338" cy="967044"/>
          </a:xfrm>
        </p:spPr>
        <p:txBody>
          <a:bodyPr/>
          <a:lstStyle/>
          <a:p>
            <a:r>
              <a:rPr dirty="0"/>
              <a:t>Class Diagram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282" y="1045030"/>
            <a:ext cx="8845420" cy="698263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372" y="86673"/>
            <a:ext cx="7773338" cy="1200951"/>
          </a:xfrm>
        </p:spPr>
        <p:txBody>
          <a:bodyPr/>
          <a:lstStyle/>
          <a:p>
            <a:r>
              <a:rPr dirty="0"/>
              <a:t>DFD Level 0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7624"/>
            <a:ext cx="9144000" cy="557037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4703" y="105335"/>
            <a:ext cx="7773338" cy="1182289"/>
          </a:xfrm>
        </p:spPr>
        <p:txBody>
          <a:bodyPr/>
          <a:lstStyle/>
          <a:p>
            <a:r>
              <a:rPr dirty="0"/>
              <a:t>DFD Level 1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7624"/>
            <a:ext cx="9144000" cy="557037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373" y="121298"/>
            <a:ext cx="7773338" cy="1119673"/>
          </a:xfrm>
        </p:spPr>
        <p:txBody>
          <a:bodyPr/>
          <a:lstStyle/>
          <a:p>
            <a:r>
              <a:rPr dirty="0"/>
              <a:t>DFD Level </a:t>
            </a:r>
            <a:r>
              <a:rPr dirty="0" smtClean="0"/>
              <a:t>2</a:t>
            </a:r>
            <a:r>
              <a:rPr lang="en-US" dirty="0" smtClean="0"/>
              <a:t> </a:t>
            </a:r>
            <a:r>
              <a:rPr lang="en-SG" dirty="0"/>
              <a:t>(Billing Sub-flow)</a:t>
            </a:r>
            <a:endParaRPr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83566"/>
            <a:ext cx="9144000" cy="537443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189311"/>
            <a:ext cx="7773338" cy="1359572"/>
          </a:xfrm>
        </p:spPr>
        <p:txBody>
          <a:bodyPr/>
          <a:lstStyle/>
          <a:p>
            <a:r>
              <a:rPr dirty="0"/>
              <a:t>DFD Level </a:t>
            </a:r>
            <a:r>
              <a:rPr dirty="0" smtClean="0"/>
              <a:t>2</a:t>
            </a:r>
            <a:r>
              <a:rPr lang="en-US" dirty="0" smtClean="0"/>
              <a:t> </a:t>
            </a:r>
            <a:r>
              <a:rPr lang="en-SG" dirty="0"/>
              <a:t>( Transaction &amp; </a:t>
            </a:r>
            <a:r>
              <a:rPr lang="en-SG" dirty="0" smtClean="0"/>
              <a:t>Settlement </a:t>
            </a:r>
            <a:r>
              <a:rPr lang="en-SG" dirty="0"/>
              <a:t>)</a:t>
            </a:r>
            <a:endParaRPr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548882"/>
            <a:ext cx="9144000" cy="5309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0088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96647"/>
            <a:ext cx="7773338" cy="1125664"/>
          </a:xfrm>
        </p:spPr>
        <p:txBody>
          <a:bodyPr/>
          <a:lstStyle/>
          <a:p>
            <a:r>
              <a:rPr dirty="0"/>
              <a:t>Entity Relationship Diagram (ERD)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43" y="1222311"/>
            <a:ext cx="7837714" cy="563568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react + </a:t>
            </a:r>
            <a:r>
              <a:rPr lang="en-SG" cap="non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redux</a:t>
            </a:r>
            <a:r>
              <a:rPr lang="en-SG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toolkit</a:t>
            </a:r>
          </a:p>
          <a:p>
            <a:r>
              <a:rPr lang="en-SG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</a:t>
            </a:r>
            <a:r>
              <a:rPr lang="en-SG" cap="non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laravel</a:t>
            </a:r>
            <a:r>
              <a:rPr lang="en-SG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API</a:t>
            </a:r>
          </a:p>
          <a:p>
            <a:r>
              <a:rPr lang="en-SG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  <a:r>
              <a:rPr lang="en-SG" cap="non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endParaRPr lang="en-SG" cap="none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SG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Authentication: </a:t>
            </a:r>
            <a:r>
              <a:rPr lang="en-SG" cap="non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laravel</a:t>
            </a:r>
            <a:r>
              <a:rPr lang="en-SG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sanctum</a:t>
            </a:r>
            <a:endParaRPr lang="en-SG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365" y="3340"/>
            <a:ext cx="7773338" cy="1200309"/>
          </a:xfrm>
        </p:spPr>
        <p:txBody>
          <a:bodyPr/>
          <a:lstStyle/>
          <a:p>
            <a:r>
              <a:rPr dirty="0"/>
              <a:t>Database Design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44" y="1312736"/>
            <a:ext cx="7959012" cy="501270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API Design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REST API based architecture</a:t>
            </a:r>
          </a:p>
          <a:p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route groups</a:t>
            </a:r>
          </a:p>
          <a:p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Secure token authentication</a:t>
            </a:r>
          </a:p>
          <a:p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/</a:t>
            </a:r>
            <a:r>
              <a:rPr lang="en-US" cap="non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/login, /</a:t>
            </a:r>
            <a:r>
              <a:rPr lang="en-US" cap="non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/user/meals</a:t>
            </a:r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Billing Calculation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Meal rate = total bazaar expense / total meals</a:t>
            </a:r>
          </a:p>
          <a:p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Total bill = meal cost + fixed share</a:t>
            </a:r>
          </a:p>
          <a:p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Backend handles authoritative calculations</a:t>
            </a:r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Refund Settlement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Handles overpaid member settlements.</a:t>
            </a:r>
          </a:p>
          <a:p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Separates meal and fixed refund amounts.</a:t>
            </a:r>
          </a:p>
          <a:p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Creates negative transactions for auditing.</a:t>
            </a:r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7380" y="3341"/>
            <a:ext cx="7773338" cy="1060350"/>
          </a:xfrm>
        </p:spPr>
        <p:txBody>
          <a:bodyPr/>
          <a:lstStyle/>
          <a:p>
            <a:r>
              <a:rPr dirty="0"/>
              <a:t>Super Admin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7380" y="861986"/>
            <a:ext cx="7773339" cy="13587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Manage mess requests</a:t>
            </a:r>
          </a:p>
          <a:p>
            <a:pPr>
              <a:lnSpc>
                <a:spcPct val="100000"/>
              </a:lnSpc>
            </a:pPr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Approve/reject managers</a:t>
            </a:r>
          </a:p>
          <a:p>
            <a:pPr>
              <a:lnSpc>
                <a:spcPct val="100000"/>
              </a:lnSpc>
            </a:pPr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View system reports</a:t>
            </a:r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20686"/>
            <a:ext cx="9144000" cy="46228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4032" y="114665"/>
            <a:ext cx="7773338" cy="820055"/>
          </a:xfrm>
        </p:spPr>
        <p:txBody>
          <a:bodyPr/>
          <a:lstStyle/>
          <a:p>
            <a:r>
              <a:rPr dirty="0"/>
              <a:t>Manager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2291" y="853069"/>
            <a:ext cx="7773339" cy="128053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Manage members and expenses</a:t>
            </a:r>
          </a:p>
          <a:p>
            <a:pPr>
              <a:lnSpc>
                <a:spcPct val="100000"/>
              </a:lnSpc>
            </a:pPr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Approve deposits</a:t>
            </a:r>
          </a:p>
          <a:p>
            <a:pPr>
              <a:lnSpc>
                <a:spcPct val="100000"/>
              </a:lnSpc>
            </a:pPr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View monthly reports</a:t>
            </a:r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0" y="2214880"/>
            <a:ext cx="9099370" cy="46431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100359"/>
            <a:ext cx="7773338" cy="763242"/>
          </a:xfrm>
        </p:spPr>
        <p:txBody>
          <a:bodyPr/>
          <a:lstStyle/>
          <a:p>
            <a:r>
              <a:rPr dirty="0"/>
              <a:t>User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3891" y="863601"/>
            <a:ext cx="7773339" cy="12903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Meal entry and meal chart</a:t>
            </a:r>
          </a:p>
          <a:p>
            <a:pPr>
              <a:lnSpc>
                <a:spcPct val="100000"/>
              </a:lnSpc>
            </a:pPr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View bills and balance</a:t>
            </a:r>
          </a:p>
          <a:p>
            <a:pPr>
              <a:lnSpc>
                <a:spcPct val="100000"/>
              </a:lnSpc>
            </a:pPr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Deposit requests</a:t>
            </a:r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153920"/>
            <a:ext cx="9144000" cy="470408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testing</a:t>
            </a:r>
          </a:p>
          <a:p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Meal entry testing</a:t>
            </a:r>
          </a:p>
          <a:p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Billing calculation testing</a:t>
            </a:r>
          </a:p>
          <a:p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Refund settlement testing</a:t>
            </a:r>
          </a:p>
          <a:p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 core modules passed successfully.</a:t>
            </a:r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18519"/>
            <a:ext cx="7773338" cy="809066"/>
          </a:xfrm>
        </p:spPr>
        <p:txBody>
          <a:bodyPr/>
          <a:lstStyle/>
          <a:p>
            <a:r>
              <a:rPr dirty="0"/>
              <a:t>Testing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647149"/>
              </p:ext>
            </p:extLst>
          </p:nvPr>
        </p:nvGraphicFramePr>
        <p:xfrm>
          <a:off x="475861" y="1427585"/>
          <a:ext cx="8098971" cy="19773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95774">
                  <a:extLst>
                    <a:ext uri="{9D8B030D-6E8A-4147-A177-3AD203B41FA5}">
                      <a16:colId xmlns:a16="http://schemas.microsoft.com/office/drawing/2014/main" val="2746447795"/>
                    </a:ext>
                  </a:extLst>
                </a:gridCol>
                <a:gridCol w="1088715">
                  <a:extLst>
                    <a:ext uri="{9D8B030D-6E8A-4147-A177-3AD203B41FA5}">
                      <a16:colId xmlns:a16="http://schemas.microsoft.com/office/drawing/2014/main" val="3950514011"/>
                    </a:ext>
                  </a:extLst>
                </a:gridCol>
                <a:gridCol w="1009052">
                  <a:extLst>
                    <a:ext uri="{9D8B030D-6E8A-4147-A177-3AD203B41FA5}">
                      <a16:colId xmlns:a16="http://schemas.microsoft.com/office/drawing/2014/main" val="2880807083"/>
                    </a:ext>
                  </a:extLst>
                </a:gridCol>
                <a:gridCol w="2044658">
                  <a:extLst>
                    <a:ext uri="{9D8B030D-6E8A-4147-A177-3AD203B41FA5}">
                      <a16:colId xmlns:a16="http://schemas.microsoft.com/office/drawing/2014/main" val="3978450176"/>
                    </a:ext>
                  </a:extLst>
                </a:gridCol>
                <a:gridCol w="1964998">
                  <a:extLst>
                    <a:ext uri="{9D8B030D-6E8A-4147-A177-3AD203B41FA5}">
                      <a16:colId xmlns:a16="http://schemas.microsoft.com/office/drawing/2014/main" val="3987572286"/>
                    </a:ext>
                  </a:extLst>
                </a:gridCol>
                <a:gridCol w="995774">
                  <a:extLst>
                    <a:ext uri="{9D8B030D-6E8A-4147-A177-3AD203B41FA5}">
                      <a16:colId xmlns:a16="http://schemas.microsoft.com/office/drawing/2014/main" val="178781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20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Test Case ID</a:t>
                      </a:r>
                      <a:endParaRPr lang="en-SG" sz="12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20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Module</a:t>
                      </a:r>
                      <a:endParaRPr lang="en-SG" sz="12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20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Test Title</a:t>
                      </a:r>
                      <a:endParaRPr lang="en-SG" sz="12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20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Expected Result</a:t>
                      </a:r>
                      <a:endParaRPr lang="en-SG" sz="12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20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Actual Result</a:t>
                      </a:r>
                      <a:endParaRPr lang="en-SG" sz="12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20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Status</a:t>
                      </a:r>
                      <a:endParaRPr lang="en-SG" sz="12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71988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20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TC-01</a:t>
                      </a:r>
                      <a:endParaRPr lang="en-SG" sz="12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20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Auth</a:t>
                      </a:r>
                      <a:endParaRPr lang="en-SG" sz="12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User Login Test</a:t>
                      </a:r>
                      <a:endParaRPr lang="en-SG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20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User is redirected to their specific dashboard based on role.</a:t>
                      </a:r>
                      <a:endParaRPr lang="en-SG" sz="12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20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Logged in and redirected to Manager Dashboard.</a:t>
                      </a:r>
                      <a:endParaRPr lang="en-SG" sz="12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20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Pass</a:t>
                      </a:r>
                      <a:endParaRPr lang="en-SG" sz="12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700955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20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TC-02</a:t>
                      </a:r>
                      <a:endParaRPr lang="en-SG" sz="12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20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Auth</a:t>
                      </a:r>
                      <a:endParaRPr lang="en-SG" sz="12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20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First Login Password Setup</a:t>
                      </a:r>
                      <a:endParaRPr lang="en-SG" sz="12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20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User is forced to change their temporary password on first login.</a:t>
                      </a:r>
                      <a:endParaRPr lang="en-SG" sz="12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20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"Change Password" prompt appeared and updated successfully.</a:t>
                      </a:r>
                      <a:endParaRPr lang="en-SG" sz="12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Pass</a:t>
                      </a:r>
                      <a:endParaRPr lang="en-SG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1584852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4257203"/>
              </p:ext>
            </p:extLst>
          </p:nvPr>
        </p:nvGraphicFramePr>
        <p:xfrm>
          <a:off x="475861" y="3552039"/>
          <a:ext cx="8098971" cy="30937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07190">
                  <a:extLst>
                    <a:ext uri="{9D8B030D-6E8A-4147-A177-3AD203B41FA5}">
                      <a16:colId xmlns:a16="http://schemas.microsoft.com/office/drawing/2014/main" val="1339616630"/>
                    </a:ext>
                  </a:extLst>
                </a:gridCol>
                <a:gridCol w="1156996">
                  <a:extLst>
                    <a:ext uri="{9D8B030D-6E8A-4147-A177-3AD203B41FA5}">
                      <a16:colId xmlns:a16="http://schemas.microsoft.com/office/drawing/2014/main" val="723793336"/>
                    </a:ext>
                  </a:extLst>
                </a:gridCol>
                <a:gridCol w="1156996">
                  <a:extLst>
                    <a:ext uri="{9D8B030D-6E8A-4147-A177-3AD203B41FA5}">
                      <a16:colId xmlns:a16="http://schemas.microsoft.com/office/drawing/2014/main" val="1182170746"/>
                    </a:ext>
                  </a:extLst>
                </a:gridCol>
                <a:gridCol w="2077333">
                  <a:extLst>
                    <a:ext uri="{9D8B030D-6E8A-4147-A177-3AD203B41FA5}">
                      <a16:colId xmlns:a16="http://schemas.microsoft.com/office/drawing/2014/main" val="466431861"/>
                    </a:ext>
                  </a:extLst>
                </a:gridCol>
                <a:gridCol w="1814380">
                  <a:extLst>
                    <a:ext uri="{9D8B030D-6E8A-4147-A177-3AD203B41FA5}">
                      <a16:colId xmlns:a16="http://schemas.microsoft.com/office/drawing/2014/main" val="3152340761"/>
                    </a:ext>
                  </a:extLst>
                </a:gridCol>
                <a:gridCol w="986076">
                  <a:extLst>
                    <a:ext uri="{9D8B030D-6E8A-4147-A177-3AD203B41FA5}">
                      <a16:colId xmlns:a16="http://schemas.microsoft.com/office/drawing/2014/main" val="19413258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200">
                          <a:effectLst/>
                        </a:rPr>
                        <a:t>Test Case ID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Module</a:t>
                      </a:r>
                      <a:endParaRPr lang="en-SG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200">
                          <a:effectLst/>
                        </a:rPr>
                        <a:t>Test Title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200">
                          <a:effectLst/>
                        </a:rPr>
                        <a:t>Expected Result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200">
                          <a:effectLst/>
                        </a:rPr>
                        <a:t>Actual Result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200">
                          <a:effectLst/>
                        </a:rPr>
                        <a:t>Status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44218861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200">
                          <a:effectLst/>
                        </a:rPr>
                        <a:t>TC-03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200">
                          <a:effectLst/>
                        </a:rPr>
                        <a:t>Meals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200">
                          <a:effectLst/>
                        </a:rPr>
                        <a:t>Add Meal Entry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200">
                          <a:effectLst/>
                        </a:rPr>
                        <a:t>System stores meal status and updates quantity to 0 for "Off".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200">
                          <a:effectLst/>
                        </a:rPr>
                        <a:t>Meal stored correctly with accurate quantities.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200">
                          <a:effectLst/>
                        </a:rPr>
                        <a:t>Pass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563463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200">
                          <a:effectLst/>
                        </a:rPr>
                        <a:t>TC-04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200">
                          <a:effectLst/>
                        </a:rPr>
                        <a:t>Billing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200">
                          <a:effectLst/>
                        </a:rPr>
                        <a:t>Meal Rate Calculation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200">
                          <a:effectLst/>
                        </a:rPr>
                        <a:t>System correctly divides total bazaar costs by total meals.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200">
                          <a:effectLst/>
                        </a:rPr>
                        <a:t>Calculation matched manual verification exactly.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200">
                          <a:effectLst/>
                        </a:rPr>
                        <a:t>Pass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946627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200">
                          <a:effectLst/>
                        </a:rPr>
                        <a:t>TC-05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200">
                          <a:effectLst/>
                        </a:rPr>
                        <a:t>Deposits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200">
                          <a:effectLst/>
                        </a:rPr>
                        <a:t>Deposit Approval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200">
                          <a:effectLst/>
                        </a:rPr>
                        <a:t>Manager approval creates a transaction and updates user balance.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200">
                          <a:effectLst/>
                        </a:rPr>
                        <a:t>Balance updated and transaction record created.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Pass</a:t>
                      </a:r>
                      <a:endParaRPr lang="en-SG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598066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45206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Analysis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9738178"/>
              </p:ext>
            </p:extLst>
          </p:nvPr>
        </p:nvGraphicFramePr>
        <p:xfrm>
          <a:off x="867748" y="1996751"/>
          <a:ext cx="7408506" cy="414279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44619">
                  <a:extLst>
                    <a:ext uri="{9D8B030D-6E8A-4147-A177-3AD203B41FA5}">
                      <a16:colId xmlns:a16="http://schemas.microsoft.com/office/drawing/2014/main" val="3641986338"/>
                    </a:ext>
                  </a:extLst>
                </a:gridCol>
                <a:gridCol w="4963887">
                  <a:extLst>
                    <a:ext uri="{9D8B030D-6E8A-4147-A177-3AD203B41FA5}">
                      <a16:colId xmlns:a16="http://schemas.microsoft.com/office/drawing/2014/main" val="2621695144"/>
                    </a:ext>
                  </a:extLst>
                </a:gridCol>
              </a:tblGrid>
              <a:tr h="3685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200">
                          <a:effectLst/>
                        </a:rPr>
                        <a:t>Risk Type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200">
                          <a:effectLst/>
                        </a:rPr>
                        <a:t>Possible Risk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23971873"/>
                  </a:ext>
                </a:extLst>
              </a:tr>
              <a:tr h="7548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200">
                          <a:effectLst/>
                        </a:rPr>
                        <a:t>Technical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200">
                          <a:effectLst/>
                        </a:rPr>
                        <a:t>System crashes, Laravel/PHP framework issues, or MySQL database downtime.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95668497"/>
                  </a:ext>
                </a:extLst>
              </a:tr>
              <a:tr h="7548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200">
                          <a:effectLst/>
                        </a:rPr>
                        <a:t>Security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200">
                          <a:effectLst/>
                        </a:rPr>
                        <a:t>Data breaches, unauthorized access to member financial records, or token leakage.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41846511"/>
                  </a:ext>
                </a:extLst>
              </a:tr>
              <a:tr h="7548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200">
                          <a:effectLst/>
                        </a:rPr>
                        <a:t>Operational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200">
                          <a:effectLst/>
                        </a:rPr>
                        <a:t>Low user adoption, data entry errors by managers, or calculation discrepancies.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72446070"/>
                  </a:ext>
                </a:extLst>
              </a:tr>
              <a:tr h="7548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200">
                          <a:effectLst/>
                        </a:rPr>
                        <a:t>Financial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200">
                          <a:effectLst/>
                        </a:rPr>
                        <a:t>Failures in deposit tracking or future payment gateway integrations.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27807463"/>
                  </a:ext>
                </a:extLst>
              </a:tr>
              <a:tr h="7548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200">
                          <a:effectLst/>
                        </a:rPr>
                        <a:t>Performance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200" dirty="0">
                          <a:effectLst/>
                        </a:rPr>
                        <a:t>Slow response times during peak hours when all members log meals simultaneously.</a:t>
                      </a:r>
                      <a:endParaRPr lang="en-SG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035832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Analysis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0602283"/>
              </p:ext>
            </p:extLst>
          </p:nvPr>
        </p:nvGraphicFramePr>
        <p:xfrm>
          <a:off x="685332" y="2006082"/>
          <a:ext cx="7842848" cy="41147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01680">
                  <a:extLst>
                    <a:ext uri="{9D8B030D-6E8A-4147-A177-3AD203B41FA5}">
                      <a16:colId xmlns:a16="http://schemas.microsoft.com/office/drawing/2014/main" val="197185852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791540427"/>
                    </a:ext>
                  </a:extLst>
                </a:gridCol>
                <a:gridCol w="2397968">
                  <a:extLst>
                    <a:ext uri="{9D8B030D-6E8A-4147-A177-3AD203B41FA5}">
                      <a16:colId xmlns:a16="http://schemas.microsoft.com/office/drawing/2014/main" val="1970513800"/>
                    </a:ext>
                  </a:extLst>
                </a:gridCol>
              </a:tblGrid>
              <a:tr h="82903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Possible Risk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Probability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Impact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43717705"/>
                  </a:ext>
                </a:extLst>
              </a:tr>
              <a:tr h="82903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System Downtime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30-40% (Moderate)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Serious 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79866856"/>
                  </a:ext>
                </a:extLst>
              </a:tr>
              <a:tr h="79865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Data Breaches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20-30% (Moderate)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Catastrophic 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59253302"/>
                  </a:ext>
                </a:extLst>
              </a:tr>
              <a:tr h="82903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Unauthorized Edits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20-30% (Moderate)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Serious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44426213"/>
                  </a:ext>
                </a:extLst>
              </a:tr>
              <a:tr h="82903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Low User Adoption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30-40% (Moderate)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Tolerable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74252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75814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RMMM Plan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3262246"/>
              </p:ext>
            </p:extLst>
          </p:nvPr>
        </p:nvGraphicFramePr>
        <p:xfrm>
          <a:off x="503850" y="1903445"/>
          <a:ext cx="8220270" cy="452037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79717">
                  <a:extLst>
                    <a:ext uri="{9D8B030D-6E8A-4147-A177-3AD203B41FA5}">
                      <a16:colId xmlns:a16="http://schemas.microsoft.com/office/drawing/2014/main" val="767607318"/>
                    </a:ext>
                  </a:extLst>
                </a:gridCol>
                <a:gridCol w="1362270">
                  <a:extLst>
                    <a:ext uri="{9D8B030D-6E8A-4147-A177-3AD203B41FA5}">
                      <a16:colId xmlns:a16="http://schemas.microsoft.com/office/drawing/2014/main" val="4228593268"/>
                    </a:ext>
                  </a:extLst>
                </a:gridCol>
                <a:gridCol w="1399592">
                  <a:extLst>
                    <a:ext uri="{9D8B030D-6E8A-4147-A177-3AD203B41FA5}">
                      <a16:colId xmlns:a16="http://schemas.microsoft.com/office/drawing/2014/main" val="969302857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65430293"/>
                    </a:ext>
                  </a:extLst>
                </a:gridCol>
                <a:gridCol w="1446245">
                  <a:extLst>
                    <a:ext uri="{9D8B030D-6E8A-4147-A177-3AD203B41FA5}">
                      <a16:colId xmlns:a16="http://schemas.microsoft.com/office/drawing/2014/main" val="3150327254"/>
                    </a:ext>
                  </a:extLst>
                </a:gridCol>
                <a:gridCol w="1530218">
                  <a:extLst>
                    <a:ext uri="{9D8B030D-6E8A-4147-A177-3AD203B41FA5}">
                      <a16:colId xmlns:a16="http://schemas.microsoft.com/office/drawing/2014/main" val="3773775987"/>
                    </a:ext>
                  </a:extLst>
                </a:gridCol>
              </a:tblGrid>
              <a:tr h="28624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800">
                          <a:effectLst/>
                        </a:rPr>
                        <a:t>Risk ID</a:t>
                      </a:r>
                      <a:endParaRPr lang="en-SG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042" marR="6042" marT="6042" marB="6042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800">
                          <a:effectLst/>
                        </a:rPr>
                        <a:t>Risk Type</a:t>
                      </a:r>
                      <a:endParaRPr lang="en-SG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042" marR="6042" marT="6042" marB="6042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800">
                          <a:effectLst/>
                        </a:rPr>
                        <a:t>Risk Description</a:t>
                      </a:r>
                      <a:endParaRPr lang="en-SG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042" marR="6042" marT="6042" marB="6042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800">
                          <a:effectLst/>
                        </a:rPr>
                        <a:t>Mitigation Plan</a:t>
                      </a:r>
                      <a:endParaRPr lang="en-SG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042" marR="6042" marT="6042" marB="6042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800">
                          <a:effectLst/>
                        </a:rPr>
                        <a:t>Monitoring Plan</a:t>
                      </a:r>
                      <a:endParaRPr lang="en-SG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042" marR="6042" marT="6042" marB="6042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800">
                          <a:effectLst/>
                        </a:rPr>
                        <a:t>Management Strategy</a:t>
                      </a:r>
                      <a:endParaRPr lang="en-SG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042" marR="6042" marT="6042" marB="6042" anchor="ctr"/>
                </a:tc>
                <a:extLst>
                  <a:ext uri="{0D108BD9-81ED-4DB2-BD59-A6C34878D82A}">
                    <a16:rowId xmlns:a16="http://schemas.microsoft.com/office/drawing/2014/main" val="2582177092"/>
                  </a:ext>
                </a:extLst>
              </a:tr>
              <a:tr h="8468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800">
                          <a:effectLst/>
                        </a:rPr>
                        <a:t>R1</a:t>
                      </a:r>
                      <a:endParaRPr lang="en-SG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042" marR="6042" marT="6042" marB="6042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800">
                          <a:effectLst/>
                        </a:rPr>
                        <a:t>Technical Risk</a:t>
                      </a:r>
                      <a:endParaRPr lang="en-SG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042" marR="6042" marT="6042" marB="6042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800">
                          <a:effectLst/>
                        </a:rPr>
                        <a:t>System crashes or server downtime</a:t>
                      </a:r>
                      <a:endParaRPr lang="en-SG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042" marR="6042" marT="6042" marB="6042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800">
                          <a:effectLst/>
                        </a:rPr>
                        <a:t>Use reliable cloud hosting and automated database backups to prevent data loss</a:t>
                      </a:r>
                      <a:endParaRPr lang="en-SG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042" marR="6042" marT="6042" marB="6042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800">
                          <a:effectLst/>
                        </a:rPr>
                        <a:t>Implement real-time monitoring tools to detect service interruptions</a:t>
                      </a:r>
                      <a:endParaRPr lang="en-SG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042" marR="6042" marT="6042" marB="6042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800">
                          <a:effectLst/>
                        </a:rPr>
                        <a:t>Restore services immediately using latest backup and respond to alerts quickly</a:t>
                      </a:r>
                      <a:endParaRPr lang="en-SG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042" marR="6042" marT="6042" marB="6042" anchor="ctr"/>
                </a:tc>
                <a:extLst>
                  <a:ext uri="{0D108BD9-81ED-4DB2-BD59-A6C34878D82A}">
                    <a16:rowId xmlns:a16="http://schemas.microsoft.com/office/drawing/2014/main" val="2968845419"/>
                  </a:ext>
                </a:extLst>
              </a:tr>
              <a:tr h="8468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800">
                          <a:effectLst/>
                        </a:rPr>
                        <a:t>R2</a:t>
                      </a:r>
                      <a:endParaRPr lang="en-SG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042" marR="6042" marT="6042" marB="6042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800" dirty="0">
                          <a:effectLst/>
                        </a:rPr>
                        <a:t>Security Risk</a:t>
                      </a:r>
                      <a:endParaRPr lang="en-SG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042" marR="6042" marT="6042" marB="6042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800">
                          <a:effectLst/>
                        </a:rPr>
                        <a:t>Unauthorized access or data breaches</a:t>
                      </a:r>
                      <a:endParaRPr lang="en-SG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042" marR="6042" marT="6042" marB="6042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800">
                          <a:effectLst/>
                        </a:rPr>
                        <a:t>Use Bcrypt password hashing and Laravel Sanctum token authentication</a:t>
                      </a:r>
                      <a:endParaRPr lang="en-SG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042" marR="6042" marT="6042" marB="6042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800">
                          <a:effectLst/>
                        </a:rPr>
                        <a:t>Review activity logs and login logs to detect suspicious access attempts</a:t>
                      </a:r>
                      <a:endParaRPr lang="en-SG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042" marR="6042" marT="6042" marB="6042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800">
                          <a:effectLst/>
                        </a:rPr>
                        <a:t>Revoke affected tokens and apply security patches to middleware if breach occurs</a:t>
                      </a:r>
                      <a:endParaRPr lang="en-SG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042" marR="6042" marT="6042" marB="6042" anchor="ctr"/>
                </a:tc>
                <a:extLst>
                  <a:ext uri="{0D108BD9-81ED-4DB2-BD59-A6C34878D82A}">
                    <a16:rowId xmlns:a16="http://schemas.microsoft.com/office/drawing/2014/main" val="1966038613"/>
                  </a:ext>
                </a:extLst>
              </a:tr>
              <a:tr h="8468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800">
                          <a:effectLst/>
                        </a:rPr>
                        <a:t>R3</a:t>
                      </a:r>
                      <a:endParaRPr lang="en-SG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042" marR="6042" marT="6042" marB="6042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800">
                          <a:effectLst/>
                        </a:rPr>
                        <a:t>Operational Risk</a:t>
                      </a:r>
                      <a:endParaRPr lang="en-SG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042" marR="6042" marT="6042" marB="6042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800">
                          <a:effectLst/>
                        </a:rPr>
                        <a:t>Low user adoption, data entry mistakes, or calculation discrepancies</a:t>
                      </a:r>
                      <a:endParaRPr lang="en-SG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042" marR="6042" marT="6042" marB="6042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800">
                          <a:effectLst/>
                        </a:rPr>
                        <a:t>Design simple user-friendly interfaces and provide proper workflow guidance</a:t>
                      </a:r>
                      <a:endParaRPr lang="en-SG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042" marR="6042" marT="6042" marB="6042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800">
                          <a:effectLst/>
                        </a:rPr>
                        <a:t>Collect user feedback and review system usage regularly</a:t>
                      </a:r>
                      <a:endParaRPr lang="en-SG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042" marR="6042" marT="6042" marB="6042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800">
                          <a:effectLst/>
                        </a:rPr>
                        <a:t>Improve UI/UX gradually and provide corrections for operational issues</a:t>
                      </a:r>
                      <a:endParaRPr lang="en-SG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042" marR="6042" marT="6042" marB="6042" anchor="ctr"/>
                </a:tc>
                <a:extLst>
                  <a:ext uri="{0D108BD9-81ED-4DB2-BD59-A6C34878D82A}">
                    <a16:rowId xmlns:a16="http://schemas.microsoft.com/office/drawing/2014/main" val="1019199506"/>
                  </a:ext>
                </a:extLst>
              </a:tr>
              <a:tr h="8468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800">
                          <a:effectLst/>
                        </a:rPr>
                        <a:t>R4</a:t>
                      </a:r>
                      <a:endParaRPr lang="en-SG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042" marR="6042" marT="6042" marB="6042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800">
                          <a:effectLst/>
                        </a:rPr>
                        <a:t>Financial Risk</a:t>
                      </a:r>
                      <a:endParaRPr lang="en-SG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042" marR="6042" marT="6042" marB="6042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800">
                          <a:effectLst/>
                        </a:rPr>
                        <a:t>Deposit tracking failures or future payment gateway integration issues</a:t>
                      </a:r>
                      <a:endParaRPr lang="en-SG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042" marR="6042" marT="6042" marB="6042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800">
                          <a:effectLst/>
                        </a:rPr>
                        <a:t>Maintain transaction validation and backup financial records</a:t>
                      </a:r>
                      <a:endParaRPr lang="en-SG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042" marR="6042" marT="6042" marB="6042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800">
                          <a:effectLst/>
                        </a:rPr>
                        <a:t>Monitor transaction logs and payment activities regularly</a:t>
                      </a:r>
                      <a:endParaRPr lang="en-SG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042" marR="6042" marT="6042" marB="6042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800">
                          <a:effectLst/>
                        </a:rPr>
                        <a:t>Resolve transaction mismatches quickly and maintain audit history</a:t>
                      </a:r>
                      <a:endParaRPr lang="en-SG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042" marR="6042" marT="6042" marB="6042" anchor="ctr"/>
                </a:tc>
                <a:extLst>
                  <a:ext uri="{0D108BD9-81ED-4DB2-BD59-A6C34878D82A}">
                    <a16:rowId xmlns:a16="http://schemas.microsoft.com/office/drawing/2014/main" val="1531444351"/>
                  </a:ext>
                </a:extLst>
              </a:tr>
              <a:tr h="8468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800">
                          <a:effectLst/>
                        </a:rPr>
                        <a:t>R5</a:t>
                      </a:r>
                      <a:endParaRPr lang="en-SG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042" marR="6042" marT="6042" marB="6042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800" dirty="0">
                          <a:effectLst/>
                        </a:rPr>
                        <a:t>Performance Risk</a:t>
                      </a:r>
                      <a:endParaRPr lang="en-SG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042" marR="6042" marT="6042" marB="6042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800">
                          <a:effectLst/>
                        </a:rPr>
                        <a:t>Slow response time during peak usage or simultaneous meal entries</a:t>
                      </a:r>
                      <a:endParaRPr lang="en-SG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042" marR="6042" marT="6042" marB="6042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800">
                          <a:effectLst/>
                        </a:rPr>
                        <a:t>Optimize database queries and use efficient API handling</a:t>
                      </a:r>
                      <a:endParaRPr lang="en-SG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042" marR="6042" marT="6042" marB="6042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800">
                          <a:effectLst/>
                        </a:rPr>
                        <a:t>Track server response time and monitor heavy traffic conditions</a:t>
                      </a:r>
                      <a:endParaRPr lang="en-SG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042" marR="6042" marT="6042" marB="6042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800" dirty="0">
                          <a:effectLst/>
                        </a:rPr>
                        <a:t>Scale server resources and optimize performance bottlenecks when needed</a:t>
                      </a:r>
                      <a:endParaRPr lang="en-SG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042" marR="6042" marT="6042" marB="6042" anchor="ctr"/>
                </a:tc>
                <a:extLst>
                  <a:ext uri="{0D108BD9-81ED-4DB2-BD59-A6C34878D82A}">
                    <a16:rowId xmlns:a16="http://schemas.microsoft.com/office/drawing/2014/main" val="113100485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7380" y="1816588"/>
            <a:ext cx="7773339" cy="63736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12-week Agile development plan</a:t>
            </a:r>
            <a:r>
              <a:rPr dirty="0" smtClean="0"/>
              <a:t>.</a:t>
            </a:r>
            <a:endParaRPr dirty="0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765110" y="2369976"/>
            <a:ext cx="7693560" cy="3862873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Function Point Estimation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32" y="2609691"/>
            <a:ext cx="7773339" cy="34241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sz="14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value adjustment </a:t>
            </a:r>
            <a:r>
              <a:rPr lang="en-US" sz="14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factor</a:t>
            </a:r>
            <a:r>
              <a:rPr lang="en-SG" sz="14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(VAF) and adjusted function point (AFP) are calculated as follows: </a:t>
            </a:r>
          </a:p>
          <a:p>
            <a:r>
              <a:rPr lang="en-SG" sz="14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Total degree of influence (TDI) = 55</a:t>
            </a:r>
          </a:p>
          <a:p>
            <a:pPr lvl="0"/>
            <a:r>
              <a:rPr lang="en-SG" sz="14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 adjustment </a:t>
            </a:r>
            <a:r>
              <a:rPr lang="en-US" sz="14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factor (</a:t>
            </a:r>
            <a:r>
              <a:rPr lang="en-SG" sz="14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VAF) = 0.65 + (0.01 \times TDI)</a:t>
            </a:r>
          </a:p>
          <a:p>
            <a:pPr lvl="0"/>
            <a:r>
              <a:rPr lang="en-SG" sz="1400" cap="non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Vaf</a:t>
            </a:r>
            <a:r>
              <a:rPr lang="en-SG" sz="14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0.65 + (0.01 \times 55) = 1.10</a:t>
            </a:r>
          </a:p>
          <a:p>
            <a:pPr lvl="0"/>
            <a:r>
              <a:rPr lang="en-SG" sz="14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Total unadjusted function point (UFP) = </a:t>
            </a:r>
            <a:r>
              <a:rPr lang="en-SG" sz="1400" cap="non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ufp</a:t>
            </a:r>
            <a:r>
              <a:rPr lang="en-SG" sz="14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(transaction) + </a:t>
            </a:r>
            <a:r>
              <a:rPr lang="en-SG" sz="1400" cap="non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ufp</a:t>
            </a:r>
            <a:r>
              <a:rPr lang="en-SG" sz="14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(data) = 25 + 35 = 60</a:t>
            </a:r>
          </a:p>
          <a:p>
            <a:pPr lvl="0"/>
            <a:r>
              <a:rPr lang="en-SG" sz="14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Adjusted function point (AFP) = UFP \times VAF = 60 \times 1.10 = 66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Estimation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9105163"/>
              </p:ext>
            </p:extLst>
          </p:nvPr>
        </p:nvGraphicFramePr>
        <p:xfrm>
          <a:off x="615818" y="2006084"/>
          <a:ext cx="8033660" cy="42547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47464">
                  <a:extLst>
                    <a:ext uri="{9D8B030D-6E8A-4147-A177-3AD203B41FA5}">
                      <a16:colId xmlns:a16="http://schemas.microsoft.com/office/drawing/2014/main" val="1022762590"/>
                    </a:ext>
                  </a:extLst>
                </a:gridCol>
                <a:gridCol w="2313991">
                  <a:extLst>
                    <a:ext uri="{9D8B030D-6E8A-4147-A177-3AD203B41FA5}">
                      <a16:colId xmlns:a16="http://schemas.microsoft.com/office/drawing/2014/main" val="1537689114"/>
                    </a:ext>
                  </a:extLst>
                </a:gridCol>
                <a:gridCol w="1595535">
                  <a:extLst>
                    <a:ext uri="{9D8B030D-6E8A-4147-A177-3AD203B41FA5}">
                      <a16:colId xmlns:a16="http://schemas.microsoft.com/office/drawing/2014/main" val="27452654"/>
                    </a:ext>
                  </a:extLst>
                </a:gridCol>
                <a:gridCol w="2276670">
                  <a:extLst>
                    <a:ext uri="{9D8B030D-6E8A-4147-A177-3AD203B41FA5}">
                      <a16:colId xmlns:a16="http://schemas.microsoft.com/office/drawing/2014/main" val="2085586388"/>
                    </a:ext>
                  </a:extLst>
                </a:gridCol>
              </a:tblGrid>
              <a:tr h="2315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>
                          <a:effectLst/>
                        </a:rPr>
                        <a:t>Cost Category</a:t>
                      </a:r>
                      <a:endParaRPr lang="en-SG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8263" marR="8263" marT="8263" marB="8263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>
                          <a:effectLst/>
                        </a:rPr>
                        <a:t>Resource / Tool</a:t>
                      </a:r>
                      <a:endParaRPr lang="en-SG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8263" marR="8263" marT="8263" marB="8263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>
                          <a:effectLst/>
                        </a:rPr>
                        <a:t>Estimated Cost</a:t>
                      </a:r>
                      <a:endParaRPr lang="en-SG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8263" marR="8263" marT="8263" marB="8263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>
                          <a:effectLst/>
                        </a:rPr>
                        <a:t>Remarks</a:t>
                      </a:r>
                      <a:endParaRPr lang="en-SG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8263" marR="8263" marT="8263" marB="8263" anchor="ctr"/>
                </a:tc>
                <a:extLst>
                  <a:ext uri="{0D108BD9-81ED-4DB2-BD59-A6C34878D82A}">
                    <a16:rowId xmlns:a16="http://schemas.microsoft.com/office/drawing/2014/main" val="1238578797"/>
                  </a:ext>
                </a:extLst>
              </a:tr>
              <a:tr h="44246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 dirty="0">
                          <a:effectLst/>
                        </a:rPr>
                        <a:t>Development Environment</a:t>
                      </a:r>
                      <a:endParaRPr lang="en-SG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8263" marR="8263" marT="8263" marB="8263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>
                          <a:effectLst/>
                        </a:rPr>
                        <a:t>VS Code, Node.js, PHP, Laravel, React</a:t>
                      </a:r>
                      <a:endParaRPr lang="en-SG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8263" marR="8263" marT="8263" marB="8263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>
                          <a:effectLst/>
                        </a:rPr>
                        <a:t>Free</a:t>
                      </a:r>
                      <a:endParaRPr lang="en-SG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8263" marR="8263" marT="8263" marB="8263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>
                          <a:effectLst/>
                        </a:rPr>
                        <a:t>Open-source technologies used</a:t>
                      </a:r>
                      <a:endParaRPr lang="en-SG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8263" marR="8263" marT="8263" marB="8263" anchor="ctr"/>
                </a:tc>
                <a:extLst>
                  <a:ext uri="{0D108BD9-81ED-4DB2-BD59-A6C34878D82A}">
                    <a16:rowId xmlns:a16="http://schemas.microsoft.com/office/drawing/2014/main" val="3788261991"/>
                  </a:ext>
                </a:extLst>
              </a:tr>
              <a:tr h="44246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>
                          <a:effectLst/>
                        </a:rPr>
                        <a:t>Database Management</a:t>
                      </a:r>
                      <a:endParaRPr lang="en-SG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8263" marR="8263" marT="8263" marB="8263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>
                          <a:effectLst/>
                        </a:rPr>
                        <a:t>MySQL</a:t>
                      </a:r>
                      <a:endParaRPr lang="en-SG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8263" marR="8263" marT="8263" marB="8263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>
                          <a:effectLst/>
                        </a:rPr>
                        <a:t>Free</a:t>
                      </a:r>
                      <a:endParaRPr lang="en-SG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8263" marR="8263" marT="8263" marB="8263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>
                          <a:effectLst/>
                        </a:rPr>
                        <a:t>Open-source relational database</a:t>
                      </a:r>
                      <a:endParaRPr lang="en-SG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8263" marR="8263" marT="8263" marB="8263" anchor="ctr"/>
                </a:tc>
                <a:extLst>
                  <a:ext uri="{0D108BD9-81ED-4DB2-BD59-A6C34878D82A}">
                    <a16:rowId xmlns:a16="http://schemas.microsoft.com/office/drawing/2014/main" val="2464242279"/>
                  </a:ext>
                </a:extLst>
              </a:tr>
              <a:tr h="44246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>
                          <a:effectLst/>
                        </a:rPr>
                        <a:t>Version Control</a:t>
                      </a:r>
                      <a:endParaRPr lang="en-SG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8263" marR="8263" marT="8263" marB="8263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>
                          <a:effectLst/>
                        </a:rPr>
                        <a:t>Git &amp; GitHub</a:t>
                      </a:r>
                      <a:endParaRPr lang="en-SG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8263" marR="8263" marT="8263" marB="8263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>
                          <a:effectLst/>
                        </a:rPr>
                        <a:t>Free</a:t>
                      </a:r>
                      <a:endParaRPr lang="en-SG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8263" marR="8263" marT="8263" marB="8263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>
                          <a:effectLst/>
                        </a:rPr>
                        <a:t>Used for source code management</a:t>
                      </a:r>
                      <a:endParaRPr lang="en-SG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8263" marR="8263" marT="8263" marB="8263" anchor="ctr"/>
                </a:tc>
                <a:extLst>
                  <a:ext uri="{0D108BD9-81ED-4DB2-BD59-A6C34878D82A}">
                    <a16:rowId xmlns:a16="http://schemas.microsoft.com/office/drawing/2014/main" val="2052373918"/>
                  </a:ext>
                </a:extLst>
              </a:tr>
              <a:tr h="44246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>
                          <a:effectLst/>
                        </a:rPr>
                        <a:t>Hosting / Server</a:t>
                      </a:r>
                      <a:endParaRPr lang="en-SG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8263" marR="8263" marT="8263" marB="8263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>
                          <a:effectLst/>
                        </a:rPr>
                        <a:t>Localhost / XAMPP</a:t>
                      </a:r>
                      <a:endParaRPr lang="en-SG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8263" marR="8263" marT="8263" marB="8263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>
                          <a:effectLst/>
                        </a:rPr>
                        <a:t>Free</a:t>
                      </a:r>
                      <a:endParaRPr lang="en-SG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8263" marR="8263" marT="8263" marB="8263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>
                          <a:effectLst/>
                        </a:rPr>
                        <a:t>Used during development phase</a:t>
                      </a:r>
                      <a:endParaRPr lang="en-SG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8263" marR="8263" marT="8263" marB="8263" anchor="ctr"/>
                </a:tc>
                <a:extLst>
                  <a:ext uri="{0D108BD9-81ED-4DB2-BD59-A6C34878D82A}">
                    <a16:rowId xmlns:a16="http://schemas.microsoft.com/office/drawing/2014/main" val="3336931295"/>
                  </a:ext>
                </a:extLst>
              </a:tr>
              <a:tr h="44246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>
                          <a:effectLst/>
                        </a:rPr>
                        <a:t>Internet &amp; Utilities</a:t>
                      </a:r>
                      <a:endParaRPr lang="en-SG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8263" marR="8263" marT="8263" marB="8263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>
                          <a:effectLst/>
                        </a:rPr>
                        <a:t>Internet connection and electricity</a:t>
                      </a:r>
                      <a:endParaRPr lang="en-SG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8263" marR="8263" marT="8263" marB="8263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>
                          <a:effectLst/>
                        </a:rPr>
                        <a:t>Approx. 500 BDT</a:t>
                      </a:r>
                      <a:endParaRPr lang="en-SG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8263" marR="8263" marT="8263" marB="8263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>
                          <a:effectLst/>
                        </a:rPr>
                        <a:t>Daily development usage</a:t>
                      </a:r>
                      <a:endParaRPr lang="en-SG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8263" marR="8263" marT="8263" marB="8263" anchor="ctr"/>
                </a:tc>
                <a:extLst>
                  <a:ext uri="{0D108BD9-81ED-4DB2-BD59-A6C34878D82A}">
                    <a16:rowId xmlns:a16="http://schemas.microsoft.com/office/drawing/2014/main" val="1939079085"/>
                  </a:ext>
                </a:extLst>
              </a:tr>
              <a:tr h="23150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>
                          <a:effectLst/>
                        </a:rPr>
                        <a:t>Hardware</a:t>
                      </a:r>
                      <a:endParaRPr lang="en-SG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8263" marR="8263" marT="8263" marB="8263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>
                          <a:effectLst/>
                        </a:rPr>
                        <a:t>Personal Laptop</a:t>
                      </a:r>
                      <a:endParaRPr lang="en-SG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8263" marR="8263" marT="8263" marB="8263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>
                          <a:effectLst/>
                        </a:rPr>
                        <a:t>Existing Resource</a:t>
                      </a:r>
                      <a:endParaRPr lang="en-SG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8263" marR="8263" marT="8263" marB="8263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>
                          <a:effectLst/>
                        </a:rPr>
                        <a:t>No additional hardware cost</a:t>
                      </a:r>
                      <a:endParaRPr lang="en-SG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8263" marR="8263" marT="8263" marB="8263" anchor="ctr"/>
                </a:tc>
                <a:extLst>
                  <a:ext uri="{0D108BD9-81ED-4DB2-BD59-A6C34878D82A}">
                    <a16:rowId xmlns:a16="http://schemas.microsoft.com/office/drawing/2014/main" val="3438871503"/>
                  </a:ext>
                </a:extLst>
              </a:tr>
              <a:tr h="231500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>
                          <a:effectLst/>
                        </a:rPr>
                        <a:t>Mouse </a:t>
                      </a:r>
                      <a:endParaRPr lang="en-SG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8263" marR="8263" marT="8263" marB="8263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>
                          <a:effectLst/>
                        </a:rPr>
                        <a:t>1000 BDT</a:t>
                      </a:r>
                      <a:endParaRPr lang="en-SG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8263" marR="8263" marT="8263" marB="8263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>
                          <a:effectLst/>
                        </a:rPr>
                        <a:t>Bought new mouse</a:t>
                      </a:r>
                      <a:endParaRPr lang="en-SG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8263" marR="8263" marT="8263" marB="8263" anchor="ctr"/>
                </a:tc>
                <a:extLst>
                  <a:ext uri="{0D108BD9-81ED-4DB2-BD59-A6C34878D82A}">
                    <a16:rowId xmlns:a16="http://schemas.microsoft.com/office/drawing/2014/main" val="3065138078"/>
                  </a:ext>
                </a:extLst>
              </a:tr>
              <a:tr h="44246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>
                          <a:effectLst/>
                        </a:rPr>
                        <a:t>Testing &amp; Debugging</a:t>
                      </a:r>
                      <a:endParaRPr lang="en-SG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8263" marR="8263" marT="8263" marB="8263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>
                          <a:effectLst/>
                        </a:rPr>
                        <a:t>Browser DevTools, Postman</a:t>
                      </a:r>
                      <a:endParaRPr lang="en-SG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8263" marR="8263" marT="8263" marB="8263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>
                          <a:effectLst/>
                        </a:rPr>
                        <a:t>Free</a:t>
                      </a:r>
                      <a:endParaRPr lang="en-SG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8263" marR="8263" marT="8263" marB="8263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>
                          <a:effectLst/>
                        </a:rPr>
                        <a:t>Used for API testing and debugging</a:t>
                      </a:r>
                      <a:endParaRPr lang="en-SG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8263" marR="8263" marT="8263" marB="8263" anchor="ctr"/>
                </a:tc>
                <a:extLst>
                  <a:ext uri="{0D108BD9-81ED-4DB2-BD59-A6C34878D82A}">
                    <a16:rowId xmlns:a16="http://schemas.microsoft.com/office/drawing/2014/main" val="2425082253"/>
                  </a:ext>
                </a:extLst>
              </a:tr>
              <a:tr h="44246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>
                          <a:effectLst/>
                        </a:rPr>
                        <a:t>Human Resource</a:t>
                      </a:r>
                      <a:endParaRPr lang="en-SG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8263" marR="8263" marT="8263" marB="8263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>
                          <a:effectLst/>
                        </a:rPr>
                        <a:t>Developer (Self)</a:t>
                      </a:r>
                      <a:endParaRPr lang="en-SG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8263" marR="8263" marT="8263" marB="8263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>
                          <a:effectLst/>
                        </a:rPr>
                        <a:t>Internship Based</a:t>
                      </a:r>
                      <a:endParaRPr lang="en-SG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8263" marR="8263" marT="8263" marB="8263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>
                          <a:effectLst/>
                        </a:rPr>
                        <a:t>Developed during practicum/internship</a:t>
                      </a:r>
                      <a:endParaRPr lang="en-SG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8263" marR="8263" marT="8263" marB="8263" anchor="ctr"/>
                </a:tc>
                <a:extLst>
                  <a:ext uri="{0D108BD9-81ED-4DB2-BD59-A6C34878D82A}">
                    <a16:rowId xmlns:a16="http://schemas.microsoft.com/office/drawing/2014/main" val="1690518102"/>
                  </a:ext>
                </a:extLst>
              </a:tr>
              <a:tr h="2315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>
                          <a:effectLst/>
                        </a:rPr>
                        <a:t>Documentation</a:t>
                      </a:r>
                      <a:endParaRPr lang="en-SG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8263" marR="8263" marT="8263" marB="8263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>
                          <a:effectLst/>
                        </a:rPr>
                        <a:t>Microsoft Word </a:t>
                      </a:r>
                      <a:endParaRPr lang="en-SG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8263" marR="8263" marT="8263" marB="8263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>
                          <a:effectLst/>
                        </a:rPr>
                        <a:t>Free / Existing</a:t>
                      </a:r>
                      <a:endParaRPr lang="en-SG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8263" marR="8263" marT="8263" marB="8263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>
                          <a:effectLst/>
                        </a:rPr>
                        <a:t>Used for report preparation</a:t>
                      </a:r>
                      <a:endParaRPr lang="en-SG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8263" marR="8263" marT="8263" marB="8263" anchor="ctr"/>
                </a:tc>
                <a:extLst>
                  <a:ext uri="{0D108BD9-81ED-4DB2-BD59-A6C34878D82A}">
                    <a16:rowId xmlns:a16="http://schemas.microsoft.com/office/drawing/2014/main" val="614469070"/>
                  </a:ext>
                </a:extLst>
              </a:tr>
              <a:tr h="2315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>
                          <a:effectLst/>
                        </a:rPr>
                        <a:t>Design</a:t>
                      </a:r>
                      <a:endParaRPr lang="en-SG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8263" marR="8263" marT="8263" marB="8263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>
                          <a:effectLst/>
                        </a:rPr>
                        <a:t>Figma</a:t>
                      </a:r>
                      <a:endParaRPr lang="en-SG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8263" marR="8263" marT="8263" marB="8263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>
                          <a:effectLst/>
                        </a:rPr>
                        <a:t>1500 BDT</a:t>
                      </a:r>
                      <a:endParaRPr lang="en-SG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8263" marR="8263" marT="8263" marB="8263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000" dirty="0">
                          <a:effectLst/>
                        </a:rPr>
                        <a:t>For diagram design</a:t>
                      </a:r>
                      <a:endParaRPr lang="en-SG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8263" marR="8263" marT="8263" marB="8263" anchor="ctr"/>
                </a:tc>
                <a:extLst>
                  <a:ext uri="{0D108BD9-81ED-4DB2-BD59-A6C34878D82A}">
                    <a16:rowId xmlns:a16="http://schemas.microsoft.com/office/drawing/2014/main" val="26959652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86250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Limitations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617920" y="2401665"/>
            <a:ext cx="790816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expense entry: managers manually enter bazaar expenses. </a:t>
            </a: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Offline access: requires internet connection for syncing data. </a:t>
            </a: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Currency restriction: supports only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bangladeshi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taka (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bdt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mobile app: native mobile app is not available yet. 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31" y="2367095"/>
            <a:ext cx="7773339" cy="1663730"/>
          </a:xfrm>
        </p:spPr>
        <p:txBody>
          <a:bodyPr/>
          <a:lstStyle/>
          <a:p>
            <a:r>
              <a:rPr lang="en-US" cap="non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Ocr</a:t>
            </a:r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-based bazaar receipt scanning</a:t>
            </a:r>
          </a:p>
          <a:p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support</a:t>
            </a:r>
          </a:p>
          <a:p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expense prediction</a:t>
            </a:r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MessManager </a:t>
            </a:r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automates mess operations efficiently.</a:t>
            </a:r>
          </a:p>
          <a:p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transparency and accountability.</a:t>
            </a:r>
          </a:p>
          <a:p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scalable role-based architecture.</a:t>
            </a:r>
          </a:p>
          <a:p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work and billing errors.</a:t>
            </a:r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9699" y="1296956"/>
            <a:ext cx="5785501" cy="412152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392859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Thank you png Images - Free Download on Magnific (formerly Freepik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0481" y="1293068"/>
            <a:ext cx="5962650" cy="421957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8333132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261</TotalTime>
  <Words>1284</Words>
  <Application>Microsoft Office PowerPoint</Application>
  <PresentationFormat>On-screen Show (4:3)</PresentationFormat>
  <Paragraphs>321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3" baseType="lpstr">
      <vt:lpstr>Arial</vt:lpstr>
      <vt:lpstr>Arial Narrow</vt:lpstr>
      <vt:lpstr>Calibri</vt:lpstr>
      <vt:lpstr>Times New Roman</vt:lpstr>
      <vt:lpstr>Tw Cen MT</vt:lpstr>
      <vt:lpstr>Vrinda</vt:lpstr>
      <vt:lpstr>Wingdings</vt:lpstr>
      <vt:lpstr>Droplet</vt:lpstr>
      <vt:lpstr>PowerPoint Presentation</vt:lpstr>
      <vt:lpstr>Topics To Be Covered</vt:lpstr>
      <vt:lpstr>Organization Overview</vt:lpstr>
      <vt:lpstr>Project Overview</vt:lpstr>
      <vt:lpstr>Problem Statement</vt:lpstr>
      <vt:lpstr>Objectives</vt:lpstr>
      <vt:lpstr>System Benefits</vt:lpstr>
      <vt:lpstr>Feasibility Analysis</vt:lpstr>
      <vt:lpstr>Agile Process Model</vt:lpstr>
      <vt:lpstr>Requirement Engineering</vt:lpstr>
      <vt:lpstr>Functional Requirements</vt:lpstr>
      <vt:lpstr>Non-Functional Requirements</vt:lpstr>
      <vt:lpstr>Use Case Diagram</vt:lpstr>
      <vt:lpstr>Activity Diagrams</vt:lpstr>
      <vt:lpstr>Activity Diagrams</vt:lpstr>
      <vt:lpstr>Activity Diagrams</vt:lpstr>
      <vt:lpstr>Swimlane Diagram</vt:lpstr>
      <vt:lpstr>Sequence Diagram</vt:lpstr>
      <vt:lpstr>Class Diagram</vt:lpstr>
      <vt:lpstr>DFD Level 0</vt:lpstr>
      <vt:lpstr>DFD Level 1</vt:lpstr>
      <vt:lpstr>DFD Level 2 (Billing Sub-flow)</vt:lpstr>
      <vt:lpstr>DFD Level 2 ( Transaction &amp; Settlement )</vt:lpstr>
      <vt:lpstr>Entity Relationship Diagram (ERD)</vt:lpstr>
      <vt:lpstr>System Architecture</vt:lpstr>
      <vt:lpstr>Database Design</vt:lpstr>
      <vt:lpstr>API Design Summary</vt:lpstr>
      <vt:lpstr>Billing Calculation Logic</vt:lpstr>
      <vt:lpstr>Refund Settlement Logic</vt:lpstr>
      <vt:lpstr>Super Admin Dashboard</vt:lpstr>
      <vt:lpstr>Manager Dashboard</vt:lpstr>
      <vt:lpstr>User Dashboard</vt:lpstr>
      <vt:lpstr>Testing</vt:lpstr>
      <vt:lpstr>Testing</vt:lpstr>
      <vt:lpstr>Risk Analysis</vt:lpstr>
      <vt:lpstr>Risk Analysis</vt:lpstr>
      <vt:lpstr>RMMM Plan</vt:lpstr>
      <vt:lpstr>Project Timeline</vt:lpstr>
      <vt:lpstr>Function Point Estimation</vt:lpstr>
      <vt:lpstr>Cost Estimation</vt:lpstr>
      <vt:lpstr>Limitations</vt:lpstr>
      <vt:lpstr>Future Work</vt:lpstr>
      <vt:lpstr>Conclusion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hasan imam</cp:lastModifiedBy>
  <cp:revision>24</cp:revision>
  <dcterms:created xsi:type="dcterms:W3CDTF">2013-01-27T09:14:16Z</dcterms:created>
  <dcterms:modified xsi:type="dcterms:W3CDTF">2026-05-31T17:52:57Z</dcterms:modified>
  <cp:category/>
</cp:coreProperties>
</file>