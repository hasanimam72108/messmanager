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6" r:id="rId16"/>
    <p:sldId id="295" r:id="rId17"/>
    <p:sldId id="270" r:id="rId18"/>
    <p:sldId id="272" r:id="rId19"/>
    <p:sldId id="271" r:id="rId20"/>
    <p:sldId id="273" r:id="rId21"/>
    <p:sldId id="274" r:id="rId22"/>
    <p:sldId id="275" r:id="rId23"/>
    <p:sldId id="297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98" r:id="rId35"/>
    <p:sldId id="286" r:id="rId36"/>
    <p:sldId id="299" r:id="rId37"/>
    <p:sldId id="287" r:id="rId38"/>
    <p:sldId id="288" r:id="rId39"/>
    <p:sldId id="289" r:id="rId40"/>
    <p:sldId id="300" r:id="rId41"/>
    <p:sldId id="290" r:id="rId42"/>
    <p:sldId id="291" r:id="rId43"/>
    <p:sldId id="292" r:id="rId44"/>
    <p:sldId id="301" r:id="rId45"/>
    <p:sldId id="302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47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00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697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89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4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89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5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671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1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92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026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8653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792911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21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7281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7774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7964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7509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21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2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866300" y="2630760"/>
            <a:ext cx="7620000" cy="1828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3200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Prepared for:  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2000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1800" b="1" dirty="0" smtClean="0">
                <a:latin typeface="Times New Roman" pitchFamily="18" charset="0"/>
                <a:cs typeface="Times New Roman" pitchFamily="18" charset="0"/>
              </a:rPr>
              <a:t>Practicum Defense Committee  </a:t>
            </a:r>
            <a:br>
              <a:rPr lang="en-US" sz="1800" b="1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1800" b="1" dirty="0" smtClean="0">
                <a:latin typeface="Times New Roman" pitchFamily="18" charset="0"/>
                <a:cs typeface="Times New Roman" pitchFamily="18" charset="0"/>
              </a:rPr>
              <a:t>Department of  Computer Science and Engineering</a:t>
            </a:r>
            <a:r>
              <a:rPr lang="en-US" sz="3200" dirty="0" smtClean="0"/>
              <a:t/>
            </a:r>
            <a:br>
              <a:rPr lang="en-US" sz="3200" dirty="0" smtClean="0"/>
            </a:br>
            <a:endParaRPr lang="en-US" sz="3200" dirty="0"/>
          </a:p>
        </p:txBody>
      </p:sp>
      <p:sp>
        <p:nvSpPr>
          <p:cNvPr id="7" name="WordArt 5"/>
          <p:cNvSpPr>
            <a:spLocks noChangeArrowheads="1" noChangeShapeType="1" noTextEdit="1"/>
          </p:cNvSpPr>
          <p:nvPr/>
        </p:nvSpPr>
        <p:spPr bwMode="auto">
          <a:xfrm>
            <a:off x="744583" y="321276"/>
            <a:ext cx="7683137" cy="26778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1200" b="1" kern="10" spc="240" dirty="0" smtClean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latin typeface="Arial Narrow"/>
              </a:rPr>
              <a:t>IUBAT–INTERNATIONAL </a:t>
            </a:r>
            <a:r>
              <a:rPr lang="en-US" sz="1200" b="1" kern="10" spc="240" dirty="0" smtClean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effectLst/>
                <a:latin typeface="Arial Narrow"/>
              </a:rPr>
              <a:t>UNIVERSITY OF BUSINESS AGRICULTURE AND TECHNOLOGY</a:t>
            </a:r>
            <a:endParaRPr lang="en-US" sz="1200" b="1" kern="10" spc="240" dirty="0">
              <a:ln w="9525">
                <a:solidFill>
                  <a:srgbClr val="008000"/>
                </a:solidFill>
                <a:round/>
                <a:headEnd/>
                <a:tailEnd/>
              </a:ln>
              <a:solidFill>
                <a:srgbClr val="008000"/>
              </a:solidFill>
              <a:effectLst/>
              <a:latin typeface="Arial Narrow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24200" y="713601"/>
            <a:ext cx="29633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i="1" dirty="0" smtClean="0">
                <a:solidFill>
                  <a:srgbClr val="008000"/>
                </a:solidFill>
                <a:latin typeface="Arial" pitchFamily="34" charset="0"/>
                <a:ea typeface="Times New Roman" pitchFamily="18" charset="0"/>
                <a:cs typeface="Times New Roman" pitchFamily="18" charset="0"/>
              </a:rPr>
              <a:t>Founded 1991 by Md. Alimullah Miyan</a:t>
            </a:r>
            <a:endParaRPr lang="en-US" sz="11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6200" y="15240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/>
        </p:nvSpPr>
        <p:spPr>
          <a:xfrm>
            <a:off x="2895600" y="2209800"/>
            <a:ext cx="39180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u="sng" dirty="0" smtClean="0">
                <a:latin typeface="Times New Roman" pitchFamily="18" charset="0"/>
                <a:cs typeface="Times New Roman" pitchFamily="18" charset="0"/>
              </a:rPr>
              <a:t>Course Code: Practicum CSC 490</a:t>
            </a:r>
            <a:endParaRPr lang="en-US" sz="2000" dirty="0"/>
          </a:p>
        </p:txBody>
      </p:sp>
      <p:sp>
        <p:nvSpPr>
          <p:cNvPr id="12" name="Rectangle 11"/>
          <p:cNvSpPr/>
          <p:nvPr/>
        </p:nvSpPr>
        <p:spPr>
          <a:xfrm>
            <a:off x="5224291" y="4724400"/>
            <a:ext cx="3262009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Prepared by: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Student Name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: Hasan Imam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Student ID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: 22203032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910325" y="6309211"/>
            <a:ext cx="135165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01/06/2026</a:t>
            </a:r>
            <a:endParaRPr lang="en-US" sz="2000" dirty="0"/>
          </a:p>
        </p:txBody>
      </p:sp>
      <p:sp>
        <p:nvSpPr>
          <p:cNvPr id="14" name="Rectangle 13"/>
          <p:cNvSpPr/>
          <p:nvPr/>
        </p:nvSpPr>
        <p:spPr>
          <a:xfrm>
            <a:off x="685800" y="4724400"/>
            <a:ext cx="35052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Supervised by: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Faculty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Name: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Jannatul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Ferdous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Designation: Lecturer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5" name="Picture 14" descr="Logo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3030" y="3746272"/>
            <a:ext cx="457200" cy="470535"/>
          </a:xfrm>
          <a:prstGeom prst="rect">
            <a:avLst/>
          </a:prstGeom>
          <a:noFill/>
        </p:spPr>
      </p:pic>
      <p:sp>
        <p:nvSpPr>
          <p:cNvPr id="16" name="Rectangle 15"/>
          <p:cNvSpPr/>
          <p:nvPr/>
        </p:nvSpPr>
        <p:spPr>
          <a:xfrm>
            <a:off x="8338851" y="609600"/>
            <a:ext cx="76200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800" b="1" dirty="0" smtClean="0">
                <a:latin typeface="Arial" pitchFamily="34" charset="0"/>
                <a:cs typeface="Arial" pitchFamily="34" charset="0"/>
              </a:rPr>
              <a:t>1991-2026</a:t>
            </a:r>
            <a:endParaRPr lang="en-US" sz="6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486300" y="228600"/>
            <a:ext cx="609944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0" name="Rectangle 3"/>
          <p:cNvSpPr>
            <a:spLocks noChangeArrowheads="1"/>
          </p:cNvSpPr>
          <p:nvPr/>
        </p:nvSpPr>
        <p:spPr bwMode="auto">
          <a:xfrm>
            <a:off x="1379838" y="1115136"/>
            <a:ext cx="614937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MessManager — Bachelor Mess Expense &amp; Meal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Topics To Be Covered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4"/>
            <a:ext cx="8458669" cy="3744457"/>
          </a:xfrm>
        </p:spPr>
        <p:txBody>
          <a:bodyPr numCol="2"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dirty="0"/>
              <a:t>Organization Overview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Project Overview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 smtClean="0"/>
              <a:t>Objectives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SG" dirty="0"/>
              <a:t>System Benefits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Feasibility </a:t>
            </a:r>
            <a:r>
              <a:rPr dirty="0" smtClean="0"/>
              <a:t>Analysis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Project model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Requirement Engineering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System Architecture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Diagrams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Dashboard </a:t>
            </a:r>
            <a:r>
              <a:rPr dirty="0" smtClean="0"/>
              <a:t>Overview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Risk Analysis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 err="1" smtClean="0"/>
              <a:t>Rmmm</a:t>
            </a:r>
            <a:r>
              <a:rPr lang="en-US" dirty="0" smtClean="0"/>
              <a:t> plan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Timeline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SG"/>
              <a:t>Function </a:t>
            </a:r>
            <a:r>
              <a:rPr lang="en-SG"/>
              <a:t>Point </a:t>
            </a:r>
            <a:r>
              <a:rPr lang="en-SG" smtClean="0"/>
              <a:t>Estimation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mtClean="0"/>
              <a:t>Cost </a:t>
            </a:r>
            <a:r>
              <a:rPr lang="en-US" dirty="0" smtClean="0"/>
              <a:t>estimation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 smtClean="0"/>
              <a:t>Testing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limitation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Future Work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Organization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4"/>
            <a:ext cx="7773339" cy="2316873"/>
          </a:xfrm>
        </p:spPr>
        <p:txBody>
          <a:bodyPr/>
          <a:lstStyle/>
          <a:p>
            <a:r>
              <a:rPr lang="en-US" cap="none" dirty="0" smtClean="0"/>
              <a:t>CODETREE is a software and IT solutions company.</a:t>
            </a:r>
          </a:p>
          <a:p>
            <a:r>
              <a:rPr lang="en-US" cap="none" dirty="0" smtClean="0"/>
              <a:t>Provides web, mobile, </a:t>
            </a:r>
            <a:r>
              <a:rPr lang="en-US" cap="none" dirty="0" err="1" smtClean="0"/>
              <a:t>saas</a:t>
            </a:r>
            <a:r>
              <a:rPr lang="en-US" cap="none" dirty="0" smtClean="0"/>
              <a:t>, </a:t>
            </a:r>
            <a:r>
              <a:rPr lang="en-US" cap="none" dirty="0" err="1" smtClean="0"/>
              <a:t>pos</a:t>
            </a:r>
            <a:r>
              <a:rPr lang="en-US" cap="none" dirty="0" smtClean="0"/>
              <a:t>, and management systems.</a:t>
            </a:r>
          </a:p>
          <a:p>
            <a:r>
              <a:rPr lang="en-US" cap="none" dirty="0" smtClean="0"/>
              <a:t>Focuses on scalable and user-friendly digital solutions.</a:t>
            </a:r>
            <a:endParaRPr lang="en-US" cap="none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033" y="4683967"/>
            <a:ext cx="4627984" cy="11569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err="1" smtClean="0"/>
              <a:t>Messmanager</a:t>
            </a:r>
            <a:r>
              <a:rPr lang="en-US" cap="none" dirty="0" smtClean="0"/>
              <a:t> automates shared mess management.</a:t>
            </a:r>
          </a:p>
          <a:p>
            <a:r>
              <a:rPr lang="en-US" cap="none" dirty="0" smtClean="0"/>
              <a:t>Tracks meals, expenses, deposits, balances, and billing.</a:t>
            </a:r>
          </a:p>
          <a:p>
            <a:r>
              <a:rPr lang="en-US" cap="none" dirty="0" smtClean="0"/>
              <a:t>Provides role-based dashboards for super admin, manager, and user.</a:t>
            </a:r>
          </a:p>
          <a:p>
            <a:r>
              <a:rPr lang="en-US" cap="none" dirty="0" smtClean="0"/>
              <a:t>Reduces manual calculation errors and improves transparency.</a:t>
            </a:r>
            <a:endParaRPr lang="en-US" cap="non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Manual mess systems are paper-based and error-prone.</a:t>
            </a:r>
          </a:p>
          <a:p>
            <a:r>
              <a:t>Meal rate calculations are difficult.</a:t>
            </a:r>
          </a:p>
          <a:p>
            <a:r>
              <a:t>Deposit and balance tracking becomes confusing.</a:t>
            </a:r>
          </a:p>
          <a:p>
            <a:r>
              <a:t>No centralized management system exists.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Develop a secure role-based mess management system.</a:t>
            </a:r>
          </a:p>
          <a:p>
            <a:r>
              <a:t>Automate meal tracking and monthly billing.</a:t>
            </a:r>
          </a:p>
          <a:p>
            <a:r>
              <a:t>Implement deposit approval and refund settlement.</a:t>
            </a:r>
          </a:p>
          <a:p>
            <a:r>
              <a:t>Provide financial transparency and reporting.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System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Automated calculations</a:t>
            </a:r>
          </a:p>
          <a:p>
            <a:r>
              <a:t>Reduced human error</a:t>
            </a:r>
          </a:p>
          <a:p>
            <a:r>
              <a:t>Transparent financial tracking</a:t>
            </a:r>
          </a:p>
          <a:p>
            <a:r>
              <a:t>Role-based access control</a:t>
            </a:r>
          </a:p>
          <a:p>
            <a:r>
              <a:t>Centralized digital management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Feasibility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Technical Feasibility: </a:t>
            </a:r>
            <a:r>
              <a:rPr dirty="0" err="1"/>
              <a:t>Laravel</a:t>
            </a:r>
            <a:r>
              <a:rPr dirty="0"/>
              <a:t>, React, MySQL</a:t>
            </a:r>
          </a:p>
          <a:p>
            <a:r>
              <a:rPr dirty="0"/>
              <a:t>Economic Feasibility: Open-source technologies</a:t>
            </a:r>
          </a:p>
          <a:p>
            <a:r>
              <a:rPr dirty="0"/>
              <a:t>Operational Feasibility: User-friendly workflows</a:t>
            </a:r>
          </a:p>
          <a:p>
            <a:r>
              <a:rPr dirty="0"/>
              <a:t>Schedule Feasibility: Agile 12-week development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Agile Process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Iterative development approach</a:t>
            </a:r>
          </a:p>
          <a:p>
            <a:r>
              <a:rPr dirty="0"/>
              <a:t>Continuous testing and improvement</a:t>
            </a:r>
          </a:p>
          <a:p>
            <a:r>
              <a:rPr dirty="0"/>
              <a:t>Sprint-based module </a:t>
            </a:r>
            <a:r>
              <a:rPr dirty="0" smtClean="0"/>
              <a:t>implementation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795934" y="4631716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Stakeholder analysis</a:t>
            </a:r>
          </a:p>
          <a:p>
            <a:r>
              <a:t>Requirement elicitation</a:t>
            </a:r>
          </a:p>
          <a:p>
            <a:r>
              <a:t>Functional requirements</a:t>
            </a:r>
          </a:p>
          <a:p>
            <a:r>
              <a:t>Non-functional requirements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Meal Entry</a:t>
            </a:r>
          </a:p>
          <a:p>
            <a:r>
              <a:t>Expense Management</a:t>
            </a:r>
          </a:p>
          <a:p>
            <a:r>
              <a:t>Deposit Approval</a:t>
            </a:r>
          </a:p>
          <a:p>
            <a:r>
              <a:t>Monthly Billing</a:t>
            </a:r>
          </a:p>
          <a:p>
            <a:r>
              <a:t>Member Management</a:t>
            </a:r>
          </a:p>
          <a:p>
            <a:r>
              <a:t>Refund Settlement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Security</a:t>
            </a:r>
          </a:p>
          <a:p>
            <a:r>
              <a:t>Performance</a:t>
            </a:r>
          </a:p>
          <a:p>
            <a:r>
              <a:t>Responsiveness</a:t>
            </a:r>
          </a:p>
          <a:p>
            <a:r>
              <a:t>Availability</a:t>
            </a:r>
          </a:p>
          <a:p>
            <a:r>
              <a:t>Scalability</a:t>
            </a:r>
          </a:p>
          <a:p>
            <a:r>
              <a:t>Maintainability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Use Case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6425" y="4454434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PLACEHOLDER</a:t>
            </a:r>
          </a:p>
          <a:p>
            <a:r>
              <a:rPr dirty="0"/>
              <a:t>Insert Diagram/Image Here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768" y="1888351"/>
            <a:ext cx="7773339" cy="47874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Admin Activity </a:t>
            </a:r>
            <a:r>
              <a:rPr dirty="0" smtClean="0"/>
              <a:t>Diagram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890865" y="4715691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784" y="1858691"/>
            <a:ext cx="7773339" cy="712008"/>
          </a:xfrm>
        </p:spPr>
        <p:txBody>
          <a:bodyPr/>
          <a:lstStyle/>
          <a:p>
            <a:pPr marL="0" indent="0">
              <a:buNone/>
            </a:pPr>
            <a:r>
              <a:rPr dirty="0" smtClean="0"/>
              <a:t>Manager </a:t>
            </a:r>
            <a:r>
              <a:rPr dirty="0"/>
              <a:t>Activity </a:t>
            </a:r>
            <a:r>
              <a:rPr dirty="0" smtClean="0"/>
              <a:t>Diagra</a:t>
            </a:r>
            <a:r>
              <a:rPr lang="en-US" dirty="0" smtClean="0"/>
              <a:t>m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890865" y="4715691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  <p:extLst>
      <p:ext uri="{BB962C8B-B14F-4D97-AF65-F5344CB8AC3E}">
        <p14:creationId xmlns:p14="http://schemas.microsoft.com/office/powerpoint/2010/main" val="3061718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759" y="1825919"/>
            <a:ext cx="7773339" cy="628033"/>
          </a:xfrm>
        </p:spPr>
        <p:txBody>
          <a:bodyPr/>
          <a:lstStyle/>
          <a:p>
            <a:pPr marL="0" indent="0">
              <a:buNone/>
            </a:pPr>
            <a:r>
              <a:rPr dirty="0" smtClean="0"/>
              <a:t>User </a:t>
            </a:r>
            <a:r>
              <a:rPr dirty="0"/>
              <a:t>Activity </a:t>
            </a:r>
            <a:r>
              <a:rPr dirty="0" smtClean="0"/>
              <a:t>Diagram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890865" y="4715691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  <p:extLst>
      <p:ext uri="{BB962C8B-B14F-4D97-AF65-F5344CB8AC3E}">
        <p14:creationId xmlns:p14="http://schemas.microsoft.com/office/powerpoint/2010/main" val="2716956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Swimlane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1" y="3903929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Sequence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Monthly billing calculation workflow.</a:t>
            </a:r>
          </a:p>
          <a:p>
            <a:r>
              <a:t>Deposit approval process.</a:t>
            </a:r>
          </a:p>
          <a:p>
            <a:r>
              <a:t>Refund settlement sequence.</a:t>
            </a:r>
          </a:p>
          <a:p>
            <a:r>
              <a:t>Add sequence diagram 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1645920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3769568" y="4054887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DFD Level 0</a:t>
            </a:r>
          </a:p>
        </p:txBody>
      </p:sp>
      <p:sp>
        <p:nvSpPr>
          <p:cNvPr id="4" name="Rectangle 3"/>
          <p:cNvSpPr/>
          <p:nvPr/>
        </p:nvSpPr>
        <p:spPr>
          <a:xfrm>
            <a:off x="4236098" y="4482426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DFD Level 1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1" y="3941251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PLACEHOLDER</a:t>
            </a:r>
          </a:p>
          <a:p>
            <a:r>
              <a:rPr dirty="0"/>
              <a:t>Insert Diagram/Image Here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DFD Level </a:t>
            </a:r>
            <a:r>
              <a:rPr dirty="0" smtClean="0"/>
              <a:t>2</a:t>
            </a:r>
            <a:r>
              <a:rPr lang="en-US" dirty="0" smtClean="0"/>
              <a:t> </a:t>
            </a:r>
            <a:r>
              <a:rPr lang="en-SG" dirty="0"/>
              <a:t>(Billing Sub-flow)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508310" y="3278777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DFD Level </a:t>
            </a:r>
            <a:r>
              <a:rPr dirty="0" smtClean="0"/>
              <a:t>2</a:t>
            </a:r>
            <a:r>
              <a:rPr lang="en-US" dirty="0" smtClean="0"/>
              <a:t> </a:t>
            </a:r>
            <a:r>
              <a:rPr lang="en-SG" dirty="0"/>
              <a:t>( Transaction &amp; </a:t>
            </a:r>
            <a:r>
              <a:rPr lang="en-SG" dirty="0" smtClean="0"/>
              <a:t>Settlement </a:t>
            </a:r>
            <a:r>
              <a:rPr lang="en-SG" dirty="0"/>
              <a:t>)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508310" y="3278777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  <p:extLst>
      <p:ext uri="{BB962C8B-B14F-4D97-AF65-F5344CB8AC3E}">
        <p14:creationId xmlns:p14="http://schemas.microsoft.com/office/powerpoint/2010/main" val="2736008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Entity Relationship Diagram (ERD)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6465" y="4286484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Frontend: React + </a:t>
            </a:r>
            <a:r>
              <a:rPr dirty="0" err="1"/>
              <a:t>Redux</a:t>
            </a:r>
            <a:r>
              <a:rPr dirty="0"/>
              <a:t> Toolkit</a:t>
            </a:r>
          </a:p>
          <a:p>
            <a:r>
              <a:rPr dirty="0"/>
              <a:t>Backend: </a:t>
            </a:r>
            <a:r>
              <a:rPr dirty="0" err="1"/>
              <a:t>Laravel</a:t>
            </a:r>
            <a:r>
              <a:rPr dirty="0"/>
              <a:t> API</a:t>
            </a:r>
          </a:p>
          <a:p>
            <a:r>
              <a:rPr dirty="0"/>
              <a:t>Database: MySQL</a:t>
            </a:r>
          </a:p>
          <a:p>
            <a:r>
              <a:rPr dirty="0"/>
              <a:t>Authentication: </a:t>
            </a:r>
            <a:r>
              <a:rPr dirty="0" err="1"/>
              <a:t>Laravel</a:t>
            </a:r>
            <a:r>
              <a:rPr dirty="0"/>
              <a:t> </a:t>
            </a:r>
            <a:r>
              <a:rPr dirty="0" smtClean="0"/>
              <a:t>Sanctum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Database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Users Table</a:t>
            </a:r>
          </a:p>
          <a:p>
            <a:r>
              <a:rPr dirty="0"/>
              <a:t>Meals Table</a:t>
            </a:r>
          </a:p>
          <a:p>
            <a:r>
              <a:rPr dirty="0"/>
              <a:t>Expenses Table</a:t>
            </a:r>
          </a:p>
          <a:p>
            <a:r>
              <a:rPr dirty="0"/>
              <a:t>Transactions Table</a:t>
            </a:r>
          </a:p>
          <a:p>
            <a:r>
              <a:rPr dirty="0"/>
              <a:t>Fixed Costs </a:t>
            </a:r>
            <a:r>
              <a:rPr dirty="0" smtClean="0"/>
              <a:t>Table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896947" y="2821577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Design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REST API based architecture</a:t>
            </a:r>
          </a:p>
          <a:p>
            <a:r>
              <a:rPr dirty="0"/>
              <a:t>Role-based route groups</a:t>
            </a:r>
          </a:p>
          <a:p>
            <a:r>
              <a:rPr dirty="0"/>
              <a:t>Secure token authentication</a:t>
            </a:r>
          </a:p>
          <a:p>
            <a:r>
              <a:rPr dirty="0"/>
              <a:t>Examples: /</a:t>
            </a:r>
            <a:r>
              <a:rPr dirty="0" err="1"/>
              <a:t>api</a:t>
            </a:r>
            <a:r>
              <a:rPr dirty="0"/>
              <a:t>/login, /</a:t>
            </a:r>
            <a:r>
              <a:rPr dirty="0" err="1"/>
              <a:t>api</a:t>
            </a:r>
            <a:r>
              <a:rPr dirty="0"/>
              <a:t>/user/meals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Billing Calculation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Meal Rate = Total Bazaar Expense / Total Meals</a:t>
            </a:r>
          </a:p>
          <a:p>
            <a:r>
              <a:t>Total Bill = Meal Cost + Fixed Share</a:t>
            </a:r>
          </a:p>
          <a:p>
            <a:r>
              <a:t>Backend handles authoritative calculations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Refund Settlement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Handles overpaid member settlements.</a:t>
            </a:r>
          </a:p>
          <a:p>
            <a:r>
              <a:t>Separates meal and fixed refund amounts.</a:t>
            </a:r>
          </a:p>
          <a:p>
            <a:r>
              <a:t>Creates negative transactions for auditing.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Super Admin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Manage mess requests</a:t>
            </a:r>
          </a:p>
          <a:p>
            <a:r>
              <a:rPr dirty="0"/>
              <a:t>Approve/reject managers</a:t>
            </a:r>
          </a:p>
          <a:p>
            <a:r>
              <a:rPr dirty="0"/>
              <a:t>View system </a:t>
            </a:r>
            <a:r>
              <a:rPr dirty="0" smtClean="0"/>
              <a:t>reports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074907" y="4267822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PLACEHOLDER</a:t>
            </a:r>
          </a:p>
          <a:p>
            <a:r>
              <a:rPr dirty="0"/>
              <a:t>Insert Diagram/Image Here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Manager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Manage members and expenses</a:t>
            </a:r>
          </a:p>
          <a:p>
            <a:r>
              <a:rPr dirty="0"/>
              <a:t>Approve deposits</a:t>
            </a:r>
          </a:p>
          <a:p>
            <a:r>
              <a:rPr dirty="0"/>
              <a:t>View monthly </a:t>
            </a:r>
            <a:r>
              <a:rPr dirty="0" smtClean="0"/>
              <a:t>reports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079101" y="4618653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Meal entry and meal chart</a:t>
            </a:r>
          </a:p>
          <a:p>
            <a:r>
              <a:rPr dirty="0"/>
              <a:t>View bills and balance</a:t>
            </a:r>
          </a:p>
          <a:p>
            <a:r>
              <a:rPr dirty="0"/>
              <a:t>Deposit </a:t>
            </a:r>
            <a:r>
              <a:rPr dirty="0" smtClean="0"/>
              <a:t>requests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415004" y="4258491"/>
            <a:ext cx="2743200" cy="1828800"/>
          </a:xfrm>
          <a:prstGeom prst="rect">
            <a:avLst/>
          </a:prstGeom>
          <a:solidFill>
            <a:srgbClr val="E6E6E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PLACEHOLDER</a:t>
            </a:r>
          </a:p>
          <a:p>
            <a:r>
              <a:t>Insert Diagram/Image Here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Authentication testing</a:t>
            </a:r>
          </a:p>
          <a:p>
            <a:r>
              <a:t>Meal entry testing</a:t>
            </a:r>
          </a:p>
          <a:p>
            <a:r>
              <a:t>Billing calculation testing</a:t>
            </a:r>
          </a:p>
          <a:p>
            <a:r>
              <a:t>Refund settlement testing</a:t>
            </a:r>
          </a:p>
          <a:p>
            <a:r>
              <a:t>All core modules passed successfully.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18519"/>
            <a:ext cx="7773338" cy="809066"/>
          </a:xfrm>
        </p:spPr>
        <p:txBody>
          <a:bodyPr/>
          <a:lstStyle/>
          <a:p>
            <a:r>
              <a:rPr dirty="0"/>
              <a:t>Testing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647149"/>
              </p:ext>
            </p:extLst>
          </p:nvPr>
        </p:nvGraphicFramePr>
        <p:xfrm>
          <a:off x="475861" y="1427585"/>
          <a:ext cx="8098971" cy="19773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95774">
                  <a:extLst>
                    <a:ext uri="{9D8B030D-6E8A-4147-A177-3AD203B41FA5}">
                      <a16:colId xmlns:a16="http://schemas.microsoft.com/office/drawing/2014/main" val="2746447795"/>
                    </a:ext>
                  </a:extLst>
                </a:gridCol>
                <a:gridCol w="1088715">
                  <a:extLst>
                    <a:ext uri="{9D8B030D-6E8A-4147-A177-3AD203B41FA5}">
                      <a16:colId xmlns:a16="http://schemas.microsoft.com/office/drawing/2014/main" val="3950514011"/>
                    </a:ext>
                  </a:extLst>
                </a:gridCol>
                <a:gridCol w="1009052">
                  <a:extLst>
                    <a:ext uri="{9D8B030D-6E8A-4147-A177-3AD203B41FA5}">
                      <a16:colId xmlns:a16="http://schemas.microsoft.com/office/drawing/2014/main" val="2880807083"/>
                    </a:ext>
                  </a:extLst>
                </a:gridCol>
                <a:gridCol w="2044658">
                  <a:extLst>
                    <a:ext uri="{9D8B030D-6E8A-4147-A177-3AD203B41FA5}">
                      <a16:colId xmlns:a16="http://schemas.microsoft.com/office/drawing/2014/main" val="3978450176"/>
                    </a:ext>
                  </a:extLst>
                </a:gridCol>
                <a:gridCol w="1964998">
                  <a:extLst>
                    <a:ext uri="{9D8B030D-6E8A-4147-A177-3AD203B41FA5}">
                      <a16:colId xmlns:a16="http://schemas.microsoft.com/office/drawing/2014/main" val="3987572286"/>
                    </a:ext>
                  </a:extLst>
                </a:gridCol>
                <a:gridCol w="995774">
                  <a:extLst>
                    <a:ext uri="{9D8B030D-6E8A-4147-A177-3AD203B41FA5}">
                      <a16:colId xmlns:a16="http://schemas.microsoft.com/office/drawing/2014/main" val="178781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Test Case ID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Module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Test Title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Expected Result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Actual Result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Status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71988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TC-01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Auth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Login Test</a:t>
                      </a:r>
                      <a:endParaRPr lang="en-SG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is redirected to their specific dashboard based on role.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Logged in and redirected to Manager Dashboard.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Pass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70095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TC-02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Auth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First Login Password Setup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is forced to change their temporary password on first login.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"Change Password" prompt appeared and updated successfully.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Pass</a:t>
                      </a:r>
                      <a:endParaRPr lang="en-SG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15848521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257203"/>
              </p:ext>
            </p:extLst>
          </p:nvPr>
        </p:nvGraphicFramePr>
        <p:xfrm>
          <a:off x="475861" y="3552039"/>
          <a:ext cx="8098971" cy="30937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07190">
                  <a:extLst>
                    <a:ext uri="{9D8B030D-6E8A-4147-A177-3AD203B41FA5}">
                      <a16:colId xmlns:a16="http://schemas.microsoft.com/office/drawing/2014/main" val="1339616630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723793336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182170746"/>
                    </a:ext>
                  </a:extLst>
                </a:gridCol>
                <a:gridCol w="2077333">
                  <a:extLst>
                    <a:ext uri="{9D8B030D-6E8A-4147-A177-3AD203B41FA5}">
                      <a16:colId xmlns:a16="http://schemas.microsoft.com/office/drawing/2014/main" val="466431861"/>
                    </a:ext>
                  </a:extLst>
                </a:gridCol>
                <a:gridCol w="1814380">
                  <a:extLst>
                    <a:ext uri="{9D8B030D-6E8A-4147-A177-3AD203B41FA5}">
                      <a16:colId xmlns:a16="http://schemas.microsoft.com/office/drawing/2014/main" val="3152340761"/>
                    </a:ext>
                  </a:extLst>
                </a:gridCol>
                <a:gridCol w="986076">
                  <a:extLst>
                    <a:ext uri="{9D8B030D-6E8A-4147-A177-3AD203B41FA5}">
                      <a16:colId xmlns:a16="http://schemas.microsoft.com/office/drawing/2014/main" val="19413258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Test Case ID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Module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Test Title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Expected Result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Actual Result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Status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4421886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TC-03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Add Meal Entry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stores meal status and updates quantity to 0 for "Off".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 stored correctly with accurate quantities.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Pass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63463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TC-04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Billing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 Rate Calculation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correctly divides total bazaar costs by total meals.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Calculation matched manual verification exactly.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Pass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94662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TC-05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Deposits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Deposit Approval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Manager approval creates a transaction and updates user balance.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Balance updated and transaction record created.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Pass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598066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4520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38178"/>
              </p:ext>
            </p:extLst>
          </p:nvPr>
        </p:nvGraphicFramePr>
        <p:xfrm>
          <a:off x="867748" y="1996751"/>
          <a:ext cx="7408506" cy="414279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44619">
                  <a:extLst>
                    <a:ext uri="{9D8B030D-6E8A-4147-A177-3AD203B41FA5}">
                      <a16:colId xmlns:a16="http://schemas.microsoft.com/office/drawing/2014/main" val="3641986338"/>
                    </a:ext>
                  </a:extLst>
                </a:gridCol>
                <a:gridCol w="4963887">
                  <a:extLst>
                    <a:ext uri="{9D8B030D-6E8A-4147-A177-3AD203B41FA5}">
                      <a16:colId xmlns:a16="http://schemas.microsoft.com/office/drawing/2014/main" val="2621695144"/>
                    </a:ext>
                  </a:extLst>
                </a:gridCol>
              </a:tblGrid>
              <a:tr h="36850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Risk Type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Possible Risk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23971873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Technical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crashes, Laravel/PHP framework issues, or MySQL database downtime.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95668497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Security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Data breaches, unauthorized access to member financial records, or token leakage.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41846511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Operational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Low user adoption, data entry errors by managers, or calculation discrepancies.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72446070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Financial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Failures in deposit tracking or future payment gateway integrations.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27807463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Performance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Slow response times during peak hours when all members log meals simultaneously.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035832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602283"/>
              </p:ext>
            </p:extLst>
          </p:nvPr>
        </p:nvGraphicFramePr>
        <p:xfrm>
          <a:off x="685332" y="2006082"/>
          <a:ext cx="7842848" cy="41147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01680">
                  <a:extLst>
                    <a:ext uri="{9D8B030D-6E8A-4147-A177-3AD203B41FA5}">
                      <a16:colId xmlns:a16="http://schemas.microsoft.com/office/drawing/2014/main" val="197185852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791540427"/>
                    </a:ext>
                  </a:extLst>
                </a:gridCol>
                <a:gridCol w="2397968">
                  <a:extLst>
                    <a:ext uri="{9D8B030D-6E8A-4147-A177-3AD203B41FA5}">
                      <a16:colId xmlns:a16="http://schemas.microsoft.com/office/drawing/2014/main" val="1970513800"/>
                    </a:ext>
                  </a:extLst>
                </a:gridCol>
              </a:tblGrid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Possible Risk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Probability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Impact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43717705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System Downtime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30-40%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Serious 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79866856"/>
                  </a:ext>
                </a:extLst>
              </a:tr>
              <a:tr h="7986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Data Breaches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20-30%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Catastrophic 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59253302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Unauthorized Edits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20-30%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Serious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744426213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Low User Adoption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30-40%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Tolerable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4252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75814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RMMM Plan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3262246"/>
              </p:ext>
            </p:extLst>
          </p:nvPr>
        </p:nvGraphicFramePr>
        <p:xfrm>
          <a:off x="503850" y="1903445"/>
          <a:ext cx="8220270" cy="45203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9717">
                  <a:extLst>
                    <a:ext uri="{9D8B030D-6E8A-4147-A177-3AD203B41FA5}">
                      <a16:colId xmlns:a16="http://schemas.microsoft.com/office/drawing/2014/main" val="767607318"/>
                    </a:ext>
                  </a:extLst>
                </a:gridCol>
                <a:gridCol w="1362270">
                  <a:extLst>
                    <a:ext uri="{9D8B030D-6E8A-4147-A177-3AD203B41FA5}">
                      <a16:colId xmlns:a16="http://schemas.microsoft.com/office/drawing/2014/main" val="4228593268"/>
                    </a:ext>
                  </a:extLst>
                </a:gridCol>
                <a:gridCol w="1399592">
                  <a:extLst>
                    <a:ext uri="{9D8B030D-6E8A-4147-A177-3AD203B41FA5}">
                      <a16:colId xmlns:a16="http://schemas.microsoft.com/office/drawing/2014/main" val="96930285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65430293"/>
                    </a:ext>
                  </a:extLst>
                </a:gridCol>
                <a:gridCol w="1446245">
                  <a:extLst>
                    <a:ext uri="{9D8B030D-6E8A-4147-A177-3AD203B41FA5}">
                      <a16:colId xmlns:a16="http://schemas.microsoft.com/office/drawing/2014/main" val="3150327254"/>
                    </a:ext>
                  </a:extLst>
                </a:gridCol>
                <a:gridCol w="1530218">
                  <a:extLst>
                    <a:ext uri="{9D8B030D-6E8A-4147-A177-3AD203B41FA5}">
                      <a16:colId xmlns:a16="http://schemas.microsoft.com/office/drawing/2014/main" val="3773775987"/>
                    </a:ext>
                  </a:extLst>
                </a:gridCol>
              </a:tblGrid>
              <a:tr h="28624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ID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Type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Description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Mitigation Plan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Monitoring Plan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Management Strategy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2582177092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R1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Technical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System crashes or server downtime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Use reliable cloud hosting and automated database backups to prevent data loss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Implement real-time monitoring tools to detect service interruptions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Restore services immediately using latest backup and respond to alerts quickly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2968845419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R2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 dirty="0">
                          <a:effectLst/>
                        </a:rPr>
                        <a:t>Security Risk</a:t>
                      </a:r>
                      <a:endParaRPr lang="en-SG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Unauthorized access or data breaches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Use Bcrypt password hashing and Laravel Sanctum token authentication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Review activity logs and login logs to detect suspicious access attempts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Revoke affected tokens and apply security patches to middleware if breach occurs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966038613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R3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Operational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Low user adoption, data entry mistakes, or calculation discrepancies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Design simple user-friendly interfaces and provide proper workflow guidance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Collect user feedback and review system usage regularly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Improve UI/UX gradually and provide corrections for operational issues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019199506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R4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Financial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Deposit tracking failures or future payment gateway integration issues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Maintain transaction validation and backup financial records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Monitor transaction logs and payment activities regularly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Resolve transaction mismatches quickly and maintain audit history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531444351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R5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Performance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Slow response time during peak usage or simultaneous meal entries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Optimize database queries and use efficient API handling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Track server response time and monitor heavy traffic conditions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 dirty="0">
                          <a:effectLst/>
                        </a:rPr>
                        <a:t>Scale server resources and optimize performance bottlenecks when needed</a:t>
                      </a:r>
                      <a:endParaRPr lang="en-SG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13100485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380" y="1816588"/>
            <a:ext cx="7773339" cy="63736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12-week Agile development plan</a:t>
            </a:r>
            <a:r>
              <a:rPr dirty="0" smtClean="0"/>
              <a:t>.</a:t>
            </a:r>
            <a:endParaRPr dirty="0"/>
          </a:p>
        </p:txBody>
      </p:sp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765110" y="2369976"/>
            <a:ext cx="7693560" cy="386287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Function Point Estimation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2" y="2609691"/>
            <a:ext cx="7773339" cy="3424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1400" dirty="0"/>
              <a:t>The Value Adjustment </a:t>
            </a:r>
            <a:r>
              <a:rPr lang="en-US" sz="1400" dirty="0"/>
              <a:t>Factor</a:t>
            </a:r>
            <a:r>
              <a:rPr lang="en-SG" sz="1400" dirty="0"/>
              <a:t> (VAF) and Adjusted Function Point (AFP) are calculated as follows: </a:t>
            </a:r>
            <a:endParaRPr lang="en-SG" sz="1400" dirty="0" smtClean="0"/>
          </a:p>
          <a:p>
            <a:r>
              <a:rPr lang="en-SG" sz="1400" dirty="0"/>
              <a:t>Total Degree of Influence (TDI</a:t>
            </a:r>
            <a:r>
              <a:rPr lang="en-SG" sz="1400" dirty="0" smtClean="0"/>
              <a:t>) = 55</a:t>
            </a:r>
            <a:endParaRPr lang="en-SG" sz="1400" dirty="0"/>
          </a:p>
          <a:p>
            <a:pPr lvl="0"/>
            <a:r>
              <a:rPr lang="en-SG" sz="1400" dirty="0"/>
              <a:t>Value Adjustment </a:t>
            </a:r>
            <a:r>
              <a:rPr lang="en-US" sz="1400"/>
              <a:t>Factor </a:t>
            </a:r>
            <a:r>
              <a:rPr lang="en-US" sz="1400" smtClean="0"/>
              <a:t>(</a:t>
            </a:r>
            <a:r>
              <a:rPr lang="en-SG" sz="1400" smtClean="0"/>
              <a:t>VAF) </a:t>
            </a:r>
            <a:r>
              <a:rPr lang="en-SG" sz="1400" dirty="0"/>
              <a:t>= 0.65 + (0.01 \times TDI)</a:t>
            </a:r>
          </a:p>
          <a:p>
            <a:pPr lvl="0"/>
            <a:r>
              <a:rPr lang="en-SG" sz="1400" dirty="0"/>
              <a:t>VAF = 0.65 + (0.01 \times 55) = 1.10</a:t>
            </a:r>
          </a:p>
          <a:p>
            <a:pPr lvl="0"/>
            <a:r>
              <a:rPr lang="en-SG" sz="1400" dirty="0"/>
              <a:t>Total Unadjusted Function Point </a:t>
            </a:r>
            <a:r>
              <a:rPr lang="en-SG" sz="1400" dirty="0" smtClean="0"/>
              <a:t>(UFP) </a:t>
            </a:r>
            <a:r>
              <a:rPr lang="en-SG" sz="1400" dirty="0"/>
              <a:t>= UFP(Transaction) + UFP(Data) = 25 + 35 = 60</a:t>
            </a:r>
          </a:p>
          <a:p>
            <a:pPr lvl="0"/>
            <a:r>
              <a:rPr lang="en-SG" sz="1400" dirty="0"/>
              <a:t>Adjusted Function Point </a:t>
            </a:r>
            <a:r>
              <a:rPr lang="en-SG" sz="1400" dirty="0" smtClean="0"/>
              <a:t>(AFP) </a:t>
            </a:r>
            <a:r>
              <a:rPr lang="en-SG" sz="1400" dirty="0"/>
              <a:t>= UFP \times VAF = 60 \times 1.10 = 66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Estimation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105163"/>
              </p:ext>
            </p:extLst>
          </p:nvPr>
        </p:nvGraphicFramePr>
        <p:xfrm>
          <a:off x="615818" y="2006084"/>
          <a:ext cx="8033660" cy="42547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47464">
                  <a:extLst>
                    <a:ext uri="{9D8B030D-6E8A-4147-A177-3AD203B41FA5}">
                      <a16:colId xmlns:a16="http://schemas.microsoft.com/office/drawing/2014/main" val="1022762590"/>
                    </a:ext>
                  </a:extLst>
                </a:gridCol>
                <a:gridCol w="2313991">
                  <a:extLst>
                    <a:ext uri="{9D8B030D-6E8A-4147-A177-3AD203B41FA5}">
                      <a16:colId xmlns:a16="http://schemas.microsoft.com/office/drawing/2014/main" val="1537689114"/>
                    </a:ext>
                  </a:extLst>
                </a:gridCol>
                <a:gridCol w="1595535">
                  <a:extLst>
                    <a:ext uri="{9D8B030D-6E8A-4147-A177-3AD203B41FA5}">
                      <a16:colId xmlns:a16="http://schemas.microsoft.com/office/drawing/2014/main" val="27452654"/>
                    </a:ext>
                  </a:extLst>
                </a:gridCol>
                <a:gridCol w="2276670">
                  <a:extLst>
                    <a:ext uri="{9D8B030D-6E8A-4147-A177-3AD203B41FA5}">
                      <a16:colId xmlns:a16="http://schemas.microsoft.com/office/drawing/2014/main" val="2085586388"/>
                    </a:ext>
                  </a:extLst>
                </a:gridCol>
              </a:tblGrid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Cost Category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Resource / Tool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Estimated Cost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Remarks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238578797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 dirty="0">
                          <a:effectLst/>
                        </a:rPr>
                        <a:t>Development Environment</a:t>
                      </a:r>
                      <a:endParaRPr lang="en-SG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VS Code, Node.js, PHP, Laravel, React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Open-source technologies used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788261991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Database Management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MySQL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Open-source relational database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464242279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Version Control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Git &amp; GitHub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source code management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052373918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Hosting / Server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Localhost / XAMPP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during development phase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336931295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Internet &amp; Utilities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Internet connection and electricity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Approx. 500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Daily development usage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939079085"/>
                  </a:ext>
                </a:extLst>
              </a:tr>
              <a:tr h="23150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Hardware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Personal Laptop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Existing Resource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No additional hardware cost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438871503"/>
                  </a:ext>
                </a:extLst>
              </a:tr>
              <a:tr h="231500">
                <a:tc vMerge="1">
                  <a:txBody>
                    <a:bodyPr/>
                    <a:lstStyle/>
                    <a:p>
                      <a:endParaRPr lang="en-S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Mouse 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1000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Bought new mouse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065138078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Testing &amp; Debugging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Browser DevTools, Postman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API testing and debugging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425082253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Human Resource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Developer (Self)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Internship Based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Developed during practicum/internship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690518102"/>
                  </a:ext>
                </a:extLst>
              </a:tr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Documentation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Microsoft Word 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 / Existing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report preparation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614469070"/>
                  </a:ext>
                </a:extLst>
              </a:tr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Design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Figma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1500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 dirty="0">
                          <a:effectLst/>
                        </a:rPr>
                        <a:t>For diagram design</a:t>
                      </a:r>
                      <a:endParaRPr lang="en-SG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695965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86250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Limitations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685332" y="2838545"/>
            <a:ext cx="790816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Manual Expense Entry: Managers manually enter bazaar expenses.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Offline Access: Requires internet connection for syncing data.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Currency Restriction: Supports only Bangladeshi Taka (BDT).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No Mobile App: Native mobile app is not available yet.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5"/>
            <a:ext cx="7773339" cy="1663730"/>
          </a:xfrm>
        </p:spPr>
        <p:txBody>
          <a:bodyPr/>
          <a:lstStyle/>
          <a:p>
            <a:r>
              <a:rPr dirty="0"/>
              <a:t>OCR-based bazaar receipt scanning</a:t>
            </a:r>
          </a:p>
          <a:p>
            <a:r>
              <a:rPr dirty="0"/>
              <a:t>Mobile application support</a:t>
            </a:r>
          </a:p>
          <a:p>
            <a:r>
              <a:rPr smtClean="0"/>
              <a:t>AI-based </a:t>
            </a:r>
            <a:r>
              <a:rPr dirty="0"/>
              <a:t>expense prediction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err="1" smtClean="0"/>
              <a:t>MessManager</a:t>
            </a:r>
            <a:r>
              <a:rPr lang="en-US" cap="none" dirty="0" smtClean="0"/>
              <a:t> automates mess operations efficiently.</a:t>
            </a:r>
          </a:p>
          <a:p>
            <a:r>
              <a:rPr lang="en-US" cap="none" dirty="0" smtClean="0"/>
              <a:t>Improves transparency and accountability.</a:t>
            </a:r>
          </a:p>
          <a:p>
            <a:r>
              <a:rPr lang="en-US" cap="none" dirty="0" smtClean="0"/>
              <a:t>Provides scalable role-based architecture.</a:t>
            </a:r>
          </a:p>
          <a:p>
            <a:r>
              <a:rPr lang="en-US" cap="none" dirty="0" smtClean="0"/>
              <a:t>Reduces manual work and billing errors.</a:t>
            </a:r>
            <a:endParaRPr lang="en-US" cap="none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699" y="1296956"/>
            <a:ext cx="5785501" cy="41215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392859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hank you png Images - Free Download on Magnific (formerly Freepik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481" y="1293068"/>
            <a:ext cx="5962650" cy="4219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333132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181</TotalTime>
  <Words>1368</Words>
  <Application>Microsoft Office PowerPoint</Application>
  <PresentationFormat>On-screen Show (4:3)</PresentationFormat>
  <Paragraphs>361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Arial Narrow</vt:lpstr>
      <vt:lpstr>Calibri</vt:lpstr>
      <vt:lpstr>Times New Roman</vt:lpstr>
      <vt:lpstr>Tw Cen MT</vt:lpstr>
      <vt:lpstr>Vrinda</vt:lpstr>
      <vt:lpstr>Wingdings</vt:lpstr>
      <vt:lpstr>Droplet</vt:lpstr>
      <vt:lpstr>PowerPoint Presentation</vt:lpstr>
      <vt:lpstr>Topics To Be Covered</vt:lpstr>
      <vt:lpstr>Organization Overview</vt:lpstr>
      <vt:lpstr>Project Overview</vt:lpstr>
      <vt:lpstr>Problem Statement</vt:lpstr>
      <vt:lpstr>Objectives</vt:lpstr>
      <vt:lpstr>System Benefits</vt:lpstr>
      <vt:lpstr>Feasibility Analysis</vt:lpstr>
      <vt:lpstr>Agile Process Model</vt:lpstr>
      <vt:lpstr>Requirement Engineering</vt:lpstr>
      <vt:lpstr>Functional Requirements</vt:lpstr>
      <vt:lpstr>Non-Functional Requirements</vt:lpstr>
      <vt:lpstr>Use Case Diagram</vt:lpstr>
      <vt:lpstr>Activity Diagrams</vt:lpstr>
      <vt:lpstr>Activity Diagrams</vt:lpstr>
      <vt:lpstr>Activity Diagrams</vt:lpstr>
      <vt:lpstr>Swimlane Diagram</vt:lpstr>
      <vt:lpstr>Sequence Diagram</vt:lpstr>
      <vt:lpstr>Class Diagram</vt:lpstr>
      <vt:lpstr>DFD Level 0</vt:lpstr>
      <vt:lpstr>DFD Level 1</vt:lpstr>
      <vt:lpstr>DFD Level 2 (Billing Sub-flow)</vt:lpstr>
      <vt:lpstr>DFD Level 2 ( Transaction &amp; Settlement )</vt:lpstr>
      <vt:lpstr>Entity Relationship Diagram (ERD)</vt:lpstr>
      <vt:lpstr>System Architecture</vt:lpstr>
      <vt:lpstr>Database Design</vt:lpstr>
      <vt:lpstr>API Design Summary</vt:lpstr>
      <vt:lpstr>Billing Calculation Logic</vt:lpstr>
      <vt:lpstr>Refund Settlement Logic</vt:lpstr>
      <vt:lpstr>Super Admin Dashboard</vt:lpstr>
      <vt:lpstr>Manager Dashboard</vt:lpstr>
      <vt:lpstr>User Dashboard</vt:lpstr>
      <vt:lpstr>Testing</vt:lpstr>
      <vt:lpstr>Testing</vt:lpstr>
      <vt:lpstr>Risk Analysis</vt:lpstr>
      <vt:lpstr>Risk Analysis</vt:lpstr>
      <vt:lpstr>RMMM Plan</vt:lpstr>
      <vt:lpstr>Project Timeline</vt:lpstr>
      <vt:lpstr>Function Point Estimation</vt:lpstr>
      <vt:lpstr>Cost Estimation</vt:lpstr>
      <vt:lpstr>Limitations</vt:lpstr>
      <vt:lpstr>Future Work</vt:lpstr>
      <vt:lpstr>Conclusion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hasan imam</cp:lastModifiedBy>
  <cp:revision>14</cp:revision>
  <dcterms:created xsi:type="dcterms:W3CDTF">2013-01-27T09:14:16Z</dcterms:created>
  <dcterms:modified xsi:type="dcterms:W3CDTF">2026-05-22T19:21:53Z</dcterms:modified>
  <cp:category/>
</cp:coreProperties>
</file>