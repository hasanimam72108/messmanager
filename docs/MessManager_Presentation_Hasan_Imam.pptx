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96" r:id="rId16"/>
    <p:sldId id="295" r:id="rId17"/>
    <p:sldId id="270" r:id="rId18"/>
    <p:sldId id="272" r:id="rId19"/>
    <p:sldId id="271" r:id="rId20"/>
    <p:sldId id="273" r:id="rId21"/>
    <p:sldId id="274" r:id="rId22"/>
    <p:sldId id="275" r:id="rId23"/>
    <p:sldId id="297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98" r:id="rId35"/>
    <p:sldId id="286" r:id="rId36"/>
    <p:sldId id="299" r:id="rId37"/>
    <p:sldId id="287" r:id="rId38"/>
    <p:sldId id="288" r:id="rId39"/>
    <p:sldId id="289" r:id="rId40"/>
    <p:sldId id="300" r:id="rId41"/>
    <p:sldId id="290" r:id="rId42"/>
    <p:sldId id="291" r:id="rId43"/>
    <p:sldId id="292" r:id="rId44"/>
    <p:sldId id="301" r:id="rId45"/>
    <p:sldId id="302" r:id="rId4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17" autoAdjust="0"/>
    <p:restoredTop sz="94660"/>
  </p:normalViewPr>
  <p:slideViewPr>
    <p:cSldViewPr snapToGrid="0" snapToObjects="1">
      <p:cViewPr varScale="1">
        <p:scale>
          <a:sx n="82" d="100"/>
          <a:sy n="82" d="100"/>
        </p:scale>
        <p:origin x="1478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S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13259" y="1300786"/>
            <a:ext cx="6517482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13259" y="3886201"/>
            <a:ext cx="6517482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5005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685330" y="2367093"/>
            <a:ext cx="7772870" cy="3424107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66976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828564"/>
            <a:ext cx="7763814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331" y="3657458"/>
            <a:ext cx="7763814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1893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685332" y="618518"/>
            <a:ext cx="7773338" cy="159617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685330" y="2367093"/>
            <a:ext cx="3829520" cy="3424107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4629150" y="2367093"/>
            <a:ext cx="3829050" cy="3424107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341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685332" y="618518"/>
            <a:ext cx="7773338" cy="159617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9746" y="2371018"/>
            <a:ext cx="3655106" cy="679994"/>
          </a:xfrm>
        </p:spPr>
        <p:txBody>
          <a:bodyPr anchor="b">
            <a:noAutofit/>
          </a:bodyPr>
          <a:lstStyle>
            <a:lvl1pPr marL="0" indent="0">
              <a:lnSpc>
                <a:spcPct val="7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685331" y="3051013"/>
            <a:ext cx="3829520" cy="2740187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97317" y="2371018"/>
            <a:ext cx="3661353" cy="679994"/>
          </a:xfrm>
        </p:spPr>
        <p:txBody>
          <a:bodyPr anchor="b">
            <a:noAutofit/>
          </a:bodyPr>
          <a:lstStyle>
            <a:lvl1pPr marL="0" indent="0">
              <a:lnSpc>
                <a:spcPct val="7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4629150" y="3051013"/>
            <a:ext cx="3829051" cy="2740187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895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65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6714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609600"/>
            <a:ext cx="2951766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3808547" y="609601"/>
            <a:ext cx="4650122" cy="5181599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2632852"/>
            <a:ext cx="2951767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314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2" y="609600"/>
            <a:ext cx="4129618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04270" y="609601"/>
            <a:ext cx="3005851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6" y="2632853"/>
            <a:ext cx="4129604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92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6" y="4289374"/>
            <a:ext cx="7773324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88558" y="698261"/>
            <a:ext cx="7366899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5108728"/>
            <a:ext cx="7773339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0264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609600"/>
            <a:ext cx="7773339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4204821"/>
            <a:ext cx="7773339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28653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59" y="872588"/>
            <a:ext cx="6977064" cy="2729915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290484" y="3610032"/>
            <a:ext cx="6564224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4372797"/>
            <a:ext cx="7773339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737626" y="887859"/>
            <a:ext cx="546888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50130" y="3120015"/>
            <a:ext cx="553641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792911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2138722"/>
            <a:ext cx="7773339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4662335"/>
            <a:ext cx="777333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792139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85331" y="609600"/>
            <a:ext cx="7773339" cy="1605094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331" y="2367093"/>
            <a:ext cx="2474232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7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331" y="2943356"/>
            <a:ext cx="2474232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9292" y="2367093"/>
            <a:ext cx="246864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7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31012" y="2943356"/>
            <a:ext cx="2477513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9974" y="2367093"/>
            <a:ext cx="247869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7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79974" y="2943356"/>
            <a:ext cx="247869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572817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5331" y="610772"/>
            <a:ext cx="7773339" cy="1603922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5331" y="4204820"/>
            <a:ext cx="2472307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7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5331" y="2367093"/>
            <a:ext cx="2472307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5331" y="4781082"/>
            <a:ext cx="2472307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2069" y="4204820"/>
            <a:ext cx="247637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7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331011" y="2367093"/>
            <a:ext cx="2477514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331011" y="4781081"/>
            <a:ext cx="2477514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9974" y="4204820"/>
            <a:ext cx="247551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7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979974" y="2367093"/>
            <a:ext cx="2478696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79880" y="4781079"/>
            <a:ext cx="2478790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77749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685331" y="2367094"/>
            <a:ext cx="7773339" cy="3424107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7964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609602"/>
            <a:ext cx="1914995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685331" y="609602"/>
            <a:ext cx="5744043" cy="5181599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75091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26215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332" y="618518"/>
            <a:ext cx="7773338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331" y="2367094"/>
            <a:ext cx="7773339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759053" y="5883276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331" y="5883276"/>
            <a:ext cx="50046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85509" y="5883276"/>
            <a:ext cx="57316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226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9" r:id="rId1"/>
    <p:sldLayoutId id="2147483700" r:id="rId2"/>
    <p:sldLayoutId id="2147483701" r:id="rId3"/>
    <p:sldLayoutId id="2147483702" r:id="rId4"/>
    <p:sldLayoutId id="2147483703" r:id="rId5"/>
    <p:sldLayoutId id="2147483704" r:id="rId6"/>
    <p:sldLayoutId id="2147483705" r:id="rId7"/>
    <p:sldLayoutId id="2147483706" r:id="rId8"/>
    <p:sldLayoutId id="2147483707" r:id="rId9"/>
    <p:sldLayoutId id="2147483708" r:id="rId10"/>
    <p:sldLayoutId id="2147483709" r:id="rId11"/>
    <p:sldLayoutId id="2147483710" r:id="rId12"/>
    <p:sldLayoutId id="2147483711" r:id="rId13"/>
    <p:sldLayoutId id="2147483712" r:id="rId14"/>
    <p:sldLayoutId id="2147483713" r:id="rId15"/>
    <p:sldLayoutId id="2147483714" r:id="rId16"/>
    <p:sldLayoutId id="2147483715" r:id="rId17"/>
    <p:sldLayoutId id="2147483716" r:id="rId18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8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8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>
          <a:xfrm>
            <a:off x="866300" y="2630760"/>
            <a:ext cx="7620000" cy="18288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/>
            </a:r>
            <a:br>
              <a:rPr lang="en-US" sz="3200" dirty="0" smtClean="0">
                <a:latin typeface="Times New Roman" pitchFamily="18" charset="0"/>
                <a:cs typeface="Times New Roman" pitchFamily="18" charset="0"/>
              </a:rPr>
            </a:br>
            <a:r>
              <a:rPr lang="en-US" sz="2000" b="1" dirty="0" smtClean="0">
                <a:latin typeface="Times New Roman" pitchFamily="18" charset="0"/>
                <a:cs typeface="Times New Roman" pitchFamily="18" charset="0"/>
              </a:rPr>
              <a:t>Prepared for:   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/>
            </a:r>
            <a:br>
              <a:rPr lang="en-US" sz="2000" dirty="0" smtClean="0">
                <a:latin typeface="Times New Roman" pitchFamily="18" charset="0"/>
                <a:cs typeface="Times New Roman" pitchFamily="18" charset="0"/>
              </a:rPr>
            </a:br>
            <a:r>
              <a:rPr lang="en-US" sz="1800" b="1" dirty="0" smtClean="0">
                <a:latin typeface="Times New Roman" pitchFamily="18" charset="0"/>
                <a:cs typeface="Times New Roman" pitchFamily="18" charset="0"/>
              </a:rPr>
              <a:t>Practicum Defense Committee  </a:t>
            </a:r>
            <a:br>
              <a:rPr lang="en-US" sz="1800" b="1" dirty="0" smtClean="0">
                <a:latin typeface="Times New Roman" pitchFamily="18" charset="0"/>
                <a:cs typeface="Times New Roman" pitchFamily="18" charset="0"/>
              </a:rPr>
            </a:br>
            <a:r>
              <a:rPr lang="en-US" sz="1800" b="1" dirty="0" smtClean="0">
                <a:latin typeface="Times New Roman" pitchFamily="18" charset="0"/>
                <a:cs typeface="Times New Roman" pitchFamily="18" charset="0"/>
              </a:rPr>
              <a:t>Department of  Computer Science and Engineering</a:t>
            </a:r>
            <a:r>
              <a:rPr lang="en-US" sz="3200" dirty="0" smtClean="0"/>
              <a:t/>
            </a:r>
            <a:br>
              <a:rPr lang="en-US" sz="3200" dirty="0" smtClean="0"/>
            </a:br>
            <a:endParaRPr lang="en-US" sz="3200" dirty="0"/>
          </a:p>
        </p:txBody>
      </p:sp>
      <p:sp>
        <p:nvSpPr>
          <p:cNvPr id="7" name="WordArt 5"/>
          <p:cNvSpPr>
            <a:spLocks noChangeArrowheads="1" noChangeShapeType="1" noTextEdit="1"/>
          </p:cNvSpPr>
          <p:nvPr/>
        </p:nvSpPr>
        <p:spPr bwMode="auto">
          <a:xfrm>
            <a:off x="744583" y="321276"/>
            <a:ext cx="7683137" cy="267789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1200" b="1" kern="10" spc="240" dirty="0" smtClean="0">
                <a:ln w="9525">
                  <a:solidFill>
                    <a:srgbClr val="008000"/>
                  </a:solidFill>
                  <a:round/>
                  <a:headEnd/>
                  <a:tailEnd/>
                </a:ln>
                <a:solidFill>
                  <a:srgbClr val="008000"/>
                </a:solidFill>
                <a:latin typeface="Arial Narrow"/>
              </a:rPr>
              <a:t>IUBAT–INTERNATIONAL </a:t>
            </a:r>
            <a:r>
              <a:rPr lang="en-US" sz="1200" b="1" kern="10" spc="240" dirty="0" smtClean="0">
                <a:ln w="9525">
                  <a:solidFill>
                    <a:srgbClr val="008000"/>
                  </a:solidFill>
                  <a:round/>
                  <a:headEnd/>
                  <a:tailEnd/>
                </a:ln>
                <a:solidFill>
                  <a:srgbClr val="008000"/>
                </a:solidFill>
                <a:effectLst/>
                <a:latin typeface="Arial Narrow"/>
              </a:rPr>
              <a:t>UNIVERSITY OF BUSINESS AGRICULTURE AND TECHNOLOGY</a:t>
            </a:r>
            <a:endParaRPr lang="en-US" sz="1200" b="1" kern="10" spc="240" dirty="0">
              <a:ln w="9525">
                <a:solidFill>
                  <a:srgbClr val="008000"/>
                </a:solidFill>
                <a:round/>
                <a:headEnd/>
                <a:tailEnd/>
              </a:ln>
              <a:solidFill>
                <a:srgbClr val="008000"/>
              </a:solidFill>
              <a:effectLst/>
              <a:latin typeface="Arial Narrow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124200" y="713601"/>
            <a:ext cx="29633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fontAlgn="base">
              <a:spcBef>
                <a:spcPct val="0"/>
              </a:spcBef>
              <a:spcAft>
                <a:spcPct val="0"/>
              </a:spcAft>
            </a:pPr>
            <a:r>
              <a:rPr lang="en-US" sz="1200" b="1" i="1" dirty="0" smtClean="0">
                <a:solidFill>
                  <a:srgbClr val="008000"/>
                </a:solidFill>
                <a:latin typeface="Arial" pitchFamily="34" charset="0"/>
                <a:ea typeface="Times New Roman" pitchFamily="18" charset="0"/>
                <a:cs typeface="Times New Roman" pitchFamily="18" charset="0"/>
              </a:rPr>
              <a:t>Founded 1991 by Md. Alimullah Miyan</a:t>
            </a:r>
            <a:endParaRPr lang="en-US" sz="1100" dirty="0" smtClean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76200" y="15240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1" name="Rectangle 10"/>
          <p:cNvSpPr/>
          <p:nvPr/>
        </p:nvSpPr>
        <p:spPr>
          <a:xfrm>
            <a:off x="2895600" y="2209800"/>
            <a:ext cx="391806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u="sng" dirty="0" smtClean="0">
                <a:latin typeface="Times New Roman" pitchFamily="18" charset="0"/>
                <a:cs typeface="Times New Roman" pitchFamily="18" charset="0"/>
              </a:rPr>
              <a:t>Course Code: Practicum CSC 490</a:t>
            </a:r>
            <a:endParaRPr lang="en-US" sz="2000" dirty="0"/>
          </a:p>
        </p:txBody>
      </p:sp>
      <p:sp>
        <p:nvSpPr>
          <p:cNvPr id="12" name="Rectangle 11"/>
          <p:cNvSpPr/>
          <p:nvPr/>
        </p:nvSpPr>
        <p:spPr>
          <a:xfrm>
            <a:off x="5224291" y="4724400"/>
            <a:ext cx="3262009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b="1" u="sng" dirty="0" smtClean="0">
                <a:latin typeface="Times New Roman" pitchFamily="18" charset="0"/>
                <a:cs typeface="Times New Roman" pitchFamily="18" charset="0"/>
              </a:rPr>
              <a:t>Prepared by:</a:t>
            </a:r>
          </a:p>
          <a:p>
            <a:pPr>
              <a:spcAft>
                <a:spcPts val="600"/>
              </a:spcAft>
            </a:pP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Student Name: Hasan Imam</a:t>
            </a:r>
          </a:p>
          <a:p>
            <a:pPr>
              <a:spcAft>
                <a:spcPts val="600"/>
              </a:spcAft>
            </a:pP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Student ID: 22203032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10325" y="6309211"/>
            <a:ext cx="135165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 smtClean="0">
                <a:latin typeface="Times New Roman" pitchFamily="18" charset="0"/>
                <a:cs typeface="Times New Roman" pitchFamily="18" charset="0"/>
              </a:rPr>
              <a:t>01/06/2026</a:t>
            </a:r>
            <a:endParaRPr lang="en-US" sz="2000" dirty="0"/>
          </a:p>
        </p:txBody>
      </p:sp>
      <p:sp>
        <p:nvSpPr>
          <p:cNvPr id="14" name="Rectangle 13"/>
          <p:cNvSpPr/>
          <p:nvPr/>
        </p:nvSpPr>
        <p:spPr>
          <a:xfrm>
            <a:off x="685800" y="4724400"/>
            <a:ext cx="3505200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b="1" u="sng" dirty="0" smtClean="0">
                <a:latin typeface="Times New Roman" pitchFamily="18" charset="0"/>
                <a:cs typeface="Times New Roman" pitchFamily="18" charset="0"/>
              </a:rPr>
              <a:t>Supervised by:</a:t>
            </a:r>
          </a:p>
          <a:p>
            <a:pPr>
              <a:spcAft>
                <a:spcPts val="600"/>
              </a:spcAft>
            </a:pP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Faculty Name: 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Jannatul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Ferdous</a:t>
            </a:r>
            <a:endParaRPr lang="en-US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spcAft>
                <a:spcPts val="600"/>
              </a:spcAft>
            </a:pP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Designation: Lecturer</a:t>
            </a:r>
          </a:p>
        </p:txBody>
      </p:sp>
      <p:pic>
        <p:nvPicPr>
          <p:cNvPr id="15" name="Picture 14" descr="Logo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3030" y="3746272"/>
            <a:ext cx="457200" cy="470535"/>
          </a:xfrm>
          <a:prstGeom prst="rect">
            <a:avLst/>
          </a:prstGeom>
          <a:noFill/>
        </p:spPr>
      </p:pic>
      <p:sp>
        <p:nvSpPr>
          <p:cNvPr id="16" name="Rectangle 15"/>
          <p:cNvSpPr/>
          <p:nvPr/>
        </p:nvSpPr>
        <p:spPr>
          <a:xfrm>
            <a:off x="8338851" y="609600"/>
            <a:ext cx="762000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800" b="1" dirty="0" smtClean="0">
                <a:latin typeface="Arial" pitchFamily="34" charset="0"/>
                <a:cs typeface="Arial" pitchFamily="34" charset="0"/>
              </a:rPr>
              <a:t>1991-2026</a:t>
            </a:r>
            <a:endParaRPr lang="en-US" sz="600" dirty="0" smtClean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17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8486300" y="228600"/>
            <a:ext cx="609944" cy="390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0" name="Rectangle 3"/>
          <p:cNvSpPr>
            <a:spLocks noChangeArrowheads="1"/>
          </p:cNvSpPr>
          <p:nvPr/>
        </p:nvSpPr>
        <p:spPr bwMode="auto">
          <a:xfrm>
            <a:off x="1379838" y="1115136"/>
            <a:ext cx="6149371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MessManager — Bachelor Mess Expense &amp; Meal 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Topics To Be Covered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331" y="2367094"/>
            <a:ext cx="8458669" cy="3744457"/>
          </a:xfrm>
        </p:spPr>
        <p:txBody>
          <a:bodyPr numCol="2">
            <a:normAutofit fontScale="77500" lnSpcReduction="20000"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dirty="0"/>
              <a:t>Organization Overview</a:t>
            </a:r>
          </a:p>
          <a:p>
            <a:pPr>
              <a:buFont typeface="Wingdings" panose="05000000000000000000" pitchFamily="2" charset="2"/>
              <a:buChar char="q"/>
            </a:pPr>
            <a:r>
              <a:rPr dirty="0"/>
              <a:t>Project Overview</a:t>
            </a:r>
          </a:p>
          <a:p>
            <a:pPr>
              <a:buFont typeface="Wingdings" panose="05000000000000000000" pitchFamily="2" charset="2"/>
              <a:buChar char="q"/>
            </a:pPr>
            <a:r>
              <a:rPr dirty="0" smtClean="0"/>
              <a:t>Objectives</a:t>
            </a:r>
            <a:endParaRPr lang="en-US" dirty="0" smtClean="0"/>
          </a:p>
          <a:p>
            <a:pPr>
              <a:buFont typeface="Wingdings" panose="05000000000000000000" pitchFamily="2" charset="2"/>
              <a:buChar char="q"/>
            </a:pPr>
            <a:r>
              <a:rPr lang="en-SG" dirty="0"/>
              <a:t>System Benefits</a:t>
            </a:r>
            <a:endParaRPr dirty="0"/>
          </a:p>
          <a:p>
            <a:pPr>
              <a:buFont typeface="Wingdings" panose="05000000000000000000" pitchFamily="2" charset="2"/>
              <a:buChar char="q"/>
            </a:pPr>
            <a:r>
              <a:rPr dirty="0"/>
              <a:t>Feasibility </a:t>
            </a:r>
            <a:r>
              <a:rPr dirty="0" smtClean="0"/>
              <a:t>Analysis</a:t>
            </a:r>
            <a:endParaRPr lang="en-US" dirty="0" smtClean="0"/>
          </a:p>
          <a:p>
            <a:pPr>
              <a:buFont typeface="Wingdings" panose="05000000000000000000" pitchFamily="2" charset="2"/>
              <a:buChar char="q"/>
            </a:pPr>
            <a:r>
              <a:rPr lang="en-US" dirty="0" smtClean="0"/>
              <a:t>Project model</a:t>
            </a:r>
            <a:endParaRPr dirty="0"/>
          </a:p>
          <a:p>
            <a:pPr>
              <a:buFont typeface="Wingdings" panose="05000000000000000000" pitchFamily="2" charset="2"/>
              <a:buChar char="q"/>
            </a:pPr>
            <a:r>
              <a:rPr dirty="0"/>
              <a:t>Requirement Engineering</a:t>
            </a:r>
          </a:p>
          <a:p>
            <a:pPr>
              <a:buFont typeface="Wingdings" panose="05000000000000000000" pitchFamily="2" charset="2"/>
              <a:buChar char="q"/>
            </a:pPr>
            <a:r>
              <a:rPr dirty="0"/>
              <a:t>System Architecture</a:t>
            </a:r>
          </a:p>
          <a:p>
            <a:pPr>
              <a:buFont typeface="Wingdings" panose="05000000000000000000" pitchFamily="2" charset="2"/>
              <a:buChar char="q"/>
            </a:pPr>
            <a:r>
              <a:rPr dirty="0"/>
              <a:t>Diagrams</a:t>
            </a:r>
          </a:p>
          <a:p>
            <a:pPr>
              <a:buFont typeface="Wingdings" panose="05000000000000000000" pitchFamily="2" charset="2"/>
              <a:buChar char="q"/>
            </a:pPr>
            <a:r>
              <a:rPr dirty="0"/>
              <a:t>Dashboard </a:t>
            </a:r>
            <a:r>
              <a:rPr dirty="0" smtClean="0"/>
              <a:t>Overview</a:t>
            </a:r>
            <a:endParaRPr lang="en-US" dirty="0" smtClean="0"/>
          </a:p>
          <a:p>
            <a:pPr>
              <a:buFont typeface="Wingdings" panose="05000000000000000000" pitchFamily="2" charset="2"/>
              <a:buChar char="q"/>
            </a:pPr>
            <a:r>
              <a:rPr lang="en-US" dirty="0" smtClean="0"/>
              <a:t>Risk Analysis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dirty="0" err="1" smtClean="0"/>
              <a:t>Rmmm</a:t>
            </a:r>
            <a:r>
              <a:rPr lang="en-US" dirty="0" smtClean="0"/>
              <a:t> plan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dirty="0" smtClean="0"/>
              <a:t>Timeline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SG"/>
              <a:t>Function Point </a:t>
            </a:r>
            <a:r>
              <a:rPr lang="en-SG" smtClean="0"/>
              <a:t>Estimation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mtClean="0"/>
              <a:t>Cost </a:t>
            </a:r>
            <a:r>
              <a:rPr lang="en-US" dirty="0" smtClean="0"/>
              <a:t>estimation</a:t>
            </a:r>
            <a:endParaRPr dirty="0"/>
          </a:p>
          <a:p>
            <a:pPr>
              <a:buFont typeface="Wingdings" panose="05000000000000000000" pitchFamily="2" charset="2"/>
              <a:buChar char="q"/>
            </a:pPr>
            <a:r>
              <a:rPr dirty="0" smtClean="0"/>
              <a:t>Testing</a:t>
            </a:r>
            <a:endParaRPr lang="en-US" dirty="0" smtClean="0"/>
          </a:p>
          <a:p>
            <a:pPr>
              <a:buFont typeface="Wingdings" panose="05000000000000000000" pitchFamily="2" charset="2"/>
              <a:buChar char="q"/>
            </a:pPr>
            <a:r>
              <a:rPr lang="en-US" dirty="0" smtClean="0"/>
              <a:t>limitation</a:t>
            </a:r>
            <a:endParaRPr dirty="0"/>
          </a:p>
          <a:p>
            <a:pPr>
              <a:buFont typeface="Wingdings" panose="05000000000000000000" pitchFamily="2" charset="2"/>
              <a:buChar char="q"/>
            </a:pPr>
            <a:r>
              <a:rPr dirty="0"/>
              <a:t>Future Work</a:t>
            </a:r>
          </a:p>
          <a:p>
            <a:pPr>
              <a:buFont typeface="Wingdings" panose="05000000000000000000" pitchFamily="2" charset="2"/>
              <a:buChar char="q"/>
            </a:pPr>
            <a:r>
              <a:rPr dirty="0"/>
              <a:t>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Organization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331" y="2367094"/>
            <a:ext cx="7773339" cy="2316873"/>
          </a:xfrm>
        </p:spPr>
        <p:txBody>
          <a:bodyPr/>
          <a:lstStyle/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CODETREE is a software and IT solutions company.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web, mobile, </a:t>
            </a:r>
            <a:r>
              <a:rPr lang="en-US" cap="non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saas</a:t>
            </a:r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cap="non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pos</a:t>
            </a:r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and management systems.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Focuses on scalable and user-friendly digital solutions.</a:t>
            </a:r>
            <a:endParaRPr lang="en-US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4033" y="4683967"/>
            <a:ext cx="4627984" cy="115699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cap="non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Messmanager</a:t>
            </a:r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automates shared mess management.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Tracks meals, expenses, deposits, balances, and billing.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role-based dashboards for super admin, manager, and user.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Reduces manual calculation errors and improves transparency.</a:t>
            </a:r>
            <a:endParaRPr lang="en-US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Manual mess systems are paper-based and error-prone.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Meal rate calculations are difficult.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Deposit and balance tracking becomes confusing.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 centralized management system exists.</a:t>
            </a:r>
            <a:endParaRPr lang="en-US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Develop a secure role-based mess management system.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Automate meal tracking and monthly billing.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 deposit approval and refund settlement.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Provide financial transparency and reporting.</a:t>
            </a:r>
            <a:endParaRPr lang="en-US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System Benefits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Automated calculations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Reduced human error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Transparent financial tracking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Role-based access control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digital management</a:t>
            </a:r>
            <a:endParaRPr lang="en-US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Feasibility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Technical feasibility: </a:t>
            </a:r>
            <a:r>
              <a:rPr lang="en-US" cap="non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laravel</a:t>
            </a:r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react, </a:t>
            </a:r>
            <a:r>
              <a:rPr lang="en-US" cap="non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mysql</a:t>
            </a:r>
            <a:endParaRPr lang="en-US" cap="none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Economic feasibility: open-source technologies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Operational feasibility: user-friendly workflows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Schedule feasibility: agile 12-week development</a:t>
            </a:r>
            <a:endParaRPr lang="en-US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8451" y="319939"/>
            <a:ext cx="7773338" cy="1596177"/>
          </a:xfrm>
        </p:spPr>
        <p:txBody>
          <a:bodyPr/>
          <a:lstStyle/>
          <a:p>
            <a:r>
              <a:rPr dirty="0"/>
              <a:t>Agile Process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7380" y="1639306"/>
            <a:ext cx="7773339" cy="3424107"/>
          </a:xfrm>
        </p:spPr>
        <p:txBody>
          <a:bodyPr/>
          <a:lstStyle/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Iterative development approach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Continuous testing and improvement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Sprint-based module implementation</a:t>
            </a:r>
            <a:endParaRPr lang="en-US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agil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7620" y="3351359"/>
            <a:ext cx="5715000" cy="3170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Requirement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Stakeholder analysis</a:t>
            </a:r>
          </a:p>
          <a:p>
            <a:r>
              <a:rPr lang="en-SG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Requirement elicitation</a:t>
            </a:r>
          </a:p>
          <a:p>
            <a:r>
              <a:rPr lang="en-SG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Functional requirements</a:t>
            </a:r>
          </a:p>
          <a:p>
            <a:r>
              <a:rPr lang="en-SG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Non-functional requirements</a:t>
            </a:r>
            <a:endParaRPr lang="en-SG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Functional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Meal entry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Expense management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Deposit approval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Monthly billing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Member management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Refund settlement</a:t>
            </a:r>
            <a:endParaRPr lang="en-US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Non-Functional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Security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Performance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Responsiveness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Availability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Scalability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Maintainability</a:t>
            </a:r>
            <a:endParaRPr lang="en-US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355" y="115309"/>
            <a:ext cx="7773338" cy="1218970"/>
          </a:xfrm>
        </p:spPr>
        <p:txBody>
          <a:bodyPr/>
          <a:lstStyle/>
          <a:p>
            <a:r>
              <a:rPr dirty="0"/>
              <a:t>Use Case Diagram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11256"/>
            <a:ext cx="9144000" cy="5715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510918"/>
            <a:ext cx="7773338" cy="1042331"/>
          </a:xfrm>
        </p:spPr>
        <p:txBody>
          <a:bodyPr/>
          <a:lstStyle/>
          <a:p>
            <a:r>
              <a:rPr dirty="0"/>
              <a:t>Activity Diagrams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2817" y="1524147"/>
            <a:ext cx="7773339" cy="478743"/>
          </a:xfrm>
        </p:spPr>
        <p:txBody>
          <a:bodyPr/>
          <a:lstStyle/>
          <a:p>
            <a:pPr marL="0" indent="0">
              <a:buNone/>
            </a:pPr>
            <a:r>
              <a:rPr dirty="0"/>
              <a:t>Admin Activity </a:t>
            </a:r>
            <a:r>
              <a:rPr dirty="0" smtClean="0"/>
              <a:t>Diagram</a:t>
            </a:r>
            <a:endParaRPr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07853"/>
            <a:ext cx="9143999" cy="488797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862" y="375923"/>
            <a:ext cx="7773338" cy="846388"/>
          </a:xfrm>
        </p:spPr>
        <p:txBody>
          <a:bodyPr/>
          <a:lstStyle/>
          <a:p>
            <a:r>
              <a:rPr dirty="0"/>
              <a:t>Activity Diagrams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732" y="1222311"/>
            <a:ext cx="7773339" cy="520615"/>
          </a:xfrm>
        </p:spPr>
        <p:txBody>
          <a:bodyPr/>
          <a:lstStyle/>
          <a:p>
            <a:pPr marL="0" indent="0">
              <a:buNone/>
            </a:pPr>
            <a:r>
              <a:rPr dirty="0" smtClean="0"/>
              <a:t>Manager </a:t>
            </a:r>
            <a:r>
              <a:rPr dirty="0"/>
              <a:t>Activity </a:t>
            </a:r>
            <a:r>
              <a:rPr dirty="0" smtClean="0"/>
              <a:t>Diagra</a:t>
            </a:r>
            <a:r>
              <a:rPr lang="en-US" dirty="0" smtClean="0"/>
              <a:t>m</a:t>
            </a:r>
            <a:endParaRPr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32858"/>
            <a:ext cx="9144000" cy="5403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7181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318975"/>
            <a:ext cx="7773338" cy="931327"/>
          </a:xfrm>
        </p:spPr>
        <p:txBody>
          <a:bodyPr/>
          <a:lstStyle/>
          <a:p>
            <a:r>
              <a:rPr dirty="0"/>
              <a:t>Activity Diagrams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262" y="1268965"/>
            <a:ext cx="7773339" cy="466530"/>
          </a:xfrm>
        </p:spPr>
        <p:txBody>
          <a:bodyPr/>
          <a:lstStyle/>
          <a:p>
            <a:pPr marL="0" indent="0">
              <a:buNone/>
            </a:pPr>
            <a:r>
              <a:rPr dirty="0" smtClean="0"/>
              <a:t>User </a:t>
            </a:r>
            <a:r>
              <a:rPr dirty="0"/>
              <a:t>Activity </a:t>
            </a:r>
            <a:r>
              <a:rPr dirty="0" smtClean="0"/>
              <a:t>Diagram</a:t>
            </a:r>
            <a:endParaRPr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44827"/>
            <a:ext cx="9144000" cy="5122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69568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356" y="348573"/>
            <a:ext cx="7773338" cy="995035"/>
          </a:xfrm>
        </p:spPr>
        <p:txBody>
          <a:bodyPr/>
          <a:lstStyle/>
          <a:p>
            <a:r>
              <a:rPr dirty="0" err="1"/>
              <a:t>Swimlane</a:t>
            </a:r>
            <a:r>
              <a:rPr dirty="0"/>
              <a:t> Diagram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343608"/>
            <a:ext cx="9144000" cy="5514391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105334"/>
            <a:ext cx="7773338" cy="921033"/>
          </a:xfrm>
        </p:spPr>
        <p:txBody>
          <a:bodyPr/>
          <a:lstStyle/>
          <a:p>
            <a:r>
              <a:rPr dirty="0"/>
              <a:t>Sequence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48895" y="808883"/>
            <a:ext cx="7773339" cy="1215859"/>
          </a:xfrm>
        </p:spPr>
        <p:txBody>
          <a:bodyPr>
            <a:noAutofit/>
          </a:bodyPr>
          <a:lstStyle/>
          <a:p>
            <a:r>
              <a:rPr lang="en-US" sz="1600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Monthly billing calculation workflow.</a:t>
            </a:r>
          </a:p>
          <a:p>
            <a:r>
              <a:rPr lang="en-US" sz="1600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Deposit approval process.</a:t>
            </a:r>
          </a:p>
          <a:p>
            <a:r>
              <a:rPr lang="en-US" sz="1600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Refund settlement sequence.</a:t>
            </a:r>
            <a:endParaRPr lang="en-US" sz="1600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514" y="2090056"/>
            <a:ext cx="8220270" cy="4767943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3365" y="68655"/>
            <a:ext cx="7773338" cy="967044"/>
          </a:xfrm>
        </p:spPr>
        <p:txBody>
          <a:bodyPr/>
          <a:lstStyle/>
          <a:p>
            <a:r>
              <a:rPr dirty="0"/>
              <a:t>Class Diagram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282" y="1045030"/>
            <a:ext cx="8845420" cy="698263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5372" y="86673"/>
            <a:ext cx="7773338" cy="1200951"/>
          </a:xfrm>
        </p:spPr>
        <p:txBody>
          <a:bodyPr/>
          <a:lstStyle/>
          <a:p>
            <a:r>
              <a:rPr dirty="0"/>
              <a:t>DFD Level 0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87624"/>
            <a:ext cx="9144000" cy="557037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4703" y="105335"/>
            <a:ext cx="7773338" cy="1182289"/>
          </a:xfrm>
        </p:spPr>
        <p:txBody>
          <a:bodyPr/>
          <a:lstStyle/>
          <a:p>
            <a:r>
              <a:rPr dirty="0"/>
              <a:t>DFD Level 1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87624"/>
            <a:ext cx="9144000" cy="557037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5373" y="121298"/>
            <a:ext cx="7773338" cy="1119673"/>
          </a:xfrm>
        </p:spPr>
        <p:txBody>
          <a:bodyPr/>
          <a:lstStyle/>
          <a:p>
            <a:r>
              <a:rPr dirty="0"/>
              <a:t>DFD Level </a:t>
            </a:r>
            <a:r>
              <a:rPr dirty="0" smtClean="0"/>
              <a:t>2</a:t>
            </a:r>
            <a:r>
              <a:rPr lang="en-US" dirty="0" smtClean="0"/>
              <a:t> </a:t>
            </a:r>
            <a:r>
              <a:rPr lang="en-SG" dirty="0"/>
              <a:t>(Billing Sub-flow)</a:t>
            </a:r>
            <a:endParaRPr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83566"/>
            <a:ext cx="9144000" cy="5374433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2" y="189311"/>
            <a:ext cx="7773338" cy="1359572"/>
          </a:xfrm>
        </p:spPr>
        <p:txBody>
          <a:bodyPr/>
          <a:lstStyle/>
          <a:p>
            <a:r>
              <a:rPr dirty="0"/>
              <a:t>DFD Level </a:t>
            </a:r>
            <a:r>
              <a:rPr dirty="0" smtClean="0"/>
              <a:t>2</a:t>
            </a:r>
            <a:r>
              <a:rPr lang="en-US" dirty="0" smtClean="0"/>
              <a:t> </a:t>
            </a:r>
            <a:r>
              <a:rPr lang="en-SG" dirty="0"/>
              <a:t>( Transaction &amp; </a:t>
            </a:r>
            <a:r>
              <a:rPr lang="en-SG" dirty="0" smtClean="0"/>
              <a:t>Settlement </a:t>
            </a:r>
            <a:r>
              <a:rPr lang="en-SG" dirty="0"/>
              <a:t>)</a:t>
            </a:r>
            <a:endParaRPr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548882"/>
            <a:ext cx="9144000" cy="5309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60088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2" y="96647"/>
            <a:ext cx="7773338" cy="1125664"/>
          </a:xfrm>
        </p:spPr>
        <p:txBody>
          <a:bodyPr/>
          <a:lstStyle/>
          <a:p>
            <a:r>
              <a:rPr dirty="0"/>
              <a:t>Entity Relationship Diagram (ERD)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143" y="1222311"/>
            <a:ext cx="7837714" cy="5635689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Frontend: react + </a:t>
            </a:r>
            <a:r>
              <a:rPr lang="en-SG" cap="non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redux</a:t>
            </a:r>
            <a:r>
              <a:rPr lang="en-SG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toolkit</a:t>
            </a:r>
          </a:p>
          <a:p>
            <a:r>
              <a:rPr lang="en-SG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Backend: </a:t>
            </a:r>
            <a:r>
              <a:rPr lang="en-SG" cap="non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laravel</a:t>
            </a:r>
            <a:r>
              <a:rPr lang="en-SG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API</a:t>
            </a:r>
          </a:p>
          <a:p>
            <a:r>
              <a:rPr lang="en-SG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Database: </a:t>
            </a:r>
            <a:r>
              <a:rPr lang="en-SG" cap="non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mysql</a:t>
            </a:r>
            <a:endParaRPr lang="en-SG" cap="none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SG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Authentication: </a:t>
            </a:r>
            <a:r>
              <a:rPr lang="en-SG" cap="non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laravel</a:t>
            </a:r>
            <a:r>
              <a:rPr lang="en-SG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sanctum</a:t>
            </a:r>
            <a:endParaRPr lang="en-SG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3365" y="3340"/>
            <a:ext cx="7773338" cy="1200309"/>
          </a:xfrm>
        </p:spPr>
        <p:txBody>
          <a:bodyPr/>
          <a:lstStyle/>
          <a:p>
            <a:r>
              <a:rPr dirty="0"/>
              <a:t>Database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1217" y="1312736"/>
            <a:ext cx="7945488" cy="2596791"/>
          </a:xfrm>
        </p:spPr>
        <p:txBody>
          <a:bodyPr>
            <a:noAutofit/>
          </a:bodyPr>
          <a:lstStyle/>
          <a:p>
            <a:pPr>
              <a:lnSpc>
                <a:spcPct val="110000"/>
              </a:lnSpc>
            </a:pPr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Users table</a:t>
            </a:r>
          </a:p>
          <a:p>
            <a:pPr>
              <a:lnSpc>
                <a:spcPct val="110000"/>
              </a:lnSpc>
            </a:pPr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Meals table</a:t>
            </a:r>
          </a:p>
          <a:p>
            <a:pPr>
              <a:lnSpc>
                <a:spcPct val="110000"/>
              </a:lnSpc>
            </a:pPr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Expenses table</a:t>
            </a:r>
          </a:p>
          <a:p>
            <a:pPr>
              <a:lnSpc>
                <a:spcPct val="110000"/>
              </a:lnSpc>
            </a:pPr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Transactions table</a:t>
            </a:r>
          </a:p>
          <a:p>
            <a:pPr>
              <a:lnSpc>
                <a:spcPct val="110000"/>
              </a:lnSpc>
            </a:pPr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Fixed costs table</a:t>
            </a:r>
            <a:endParaRPr lang="en-US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991" y="1312736"/>
            <a:ext cx="6400009" cy="403082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API Design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REST API based architecture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Role-based route groups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Secure token authentication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Examples: /</a:t>
            </a:r>
            <a:r>
              <a:rPr lang="en-US" cap="non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api</a:t>
            </a:r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/login, /</a:t>
            </a:r>
            <a:r>
              <a:rPr lang="en-US" cap="non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api</a:t>
            </a:r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/user/meals</a:t>
            </a:r>
            <a:endParaRPr lang="en-US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Billing Calculation Logic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Meal rate = total bazaar expense / total meals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Total bill = meal cost + fixed share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Backend handles authoritative calculations</a:t>
            </a:r>
            <a:endParaRPr lang="en-US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Refund Settlement Logic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Handles overpaid member settlements.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Separates meal and fixed refund amounts.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Creates negative transactions for auditing.</a:t>
            </a:r>
            <a:endParaRPr lang="en-US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7380" y="3341"/>
            <a:ext cx="7773338" cy="1060350"/>
          </a:xfrm>
        </p:spPr>
        <p:txBody>
          <a:bodyPr/>
          <a:lstStyle/>
          <a:p>
            <a:r>
              <a:rPr dirty="0"/>
              <a:t>Super Admin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7380" y="861986"/>
            <a:ext cx="7773339" cy="1358700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Manage mess requests</a:t>
            </a:r>
          </a:p>
          <a:p>
            <a:pPr>
              <a:lnSpc>
                <a:spcPct val="100000"/>
              </a:lnSpc>
            </a:pPr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Approve/reject managers</a:t>
            </a:r>
          </a:p>
          <a:p>
            <a:pPr>
              <a:lnSpc>
                <a:spcPct val="100000"/>
              </a:lnSpc>
            </a:pPr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View system reports</a:t>
            </a:r>
            <a:endParaRPr lang="en-US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20686"/>
            <a:ext cx="9144000" cy="46228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4032" y="114665"/>
            <a:ext cx="7773338" cy="820055"/>
          </a:xfrm>
        </p:spPr>
        <p:txBody>
          <a:bodyPr/>
          <a:lstStyle/>
          <a:p>
            <a:r>
              <a:rPr dirty="0"/>
              <a:t>Manager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2291" y="853069"/>
            <a:ext cx="7773339" cy="1280531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Manage members and expenses</a:t>
            </a:r>
          </a:p>
          <a:p>
            <a:pPr>
              <a:lnSpc>
                <a:spcPct val="100000"/>
              </a:lnSpc>
            </a:pPr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Approve deposits</a:t>
            </a:r>
          </a:p>
          <a:p>
            <a:pPr>
              <a:lnSpc>
                <a:spcPct val="100000"/>
              </a:lnSpc>
            </a:pPr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View monthly reports</a:t>
            </a:r>
            <a:endParaRPr lang="en-US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30" y="2214880"/>
            <a:ext cx="9099370" cy="464312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100359"/>
            <a:ext cx="7773338" cy="763242"/>
          </a:xfrm>
        </p:spPr>
        <p:txBody>
          <a:bodyPr/>
          <a:lstStyle/>
          <a:p>
            <a:r>
              <a:rPr dirty="0"/>
              <a:t>User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3891" y="863601"/>
            <a:ext cx="7773339" cy="12903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Meal entry and meal chart</a:t>
            </a:r>
          </a:p>
          <a:p>
            <a:pPr>
              <a:lnSpc>
                <a:spcPct val="100000"/>
              </a:lnSpc>
            </a:pPr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View bills and balance</a:t>
            </a:r>
          </a:p>
          <a:p>
            <a:pPr>
              <a:lnSpc>
                <a:spcPct val="100000"/>
              </a:lnSpc>
            </a:pPr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Deposit requests</a:t>
            </a:r>
            <a:endParaRPr lang="en-US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2153920"/>
            <a:ext cx="9144000" cy="470408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Authentication testing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Meal entry testing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Billing calculation testing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Refund settlement testing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All core modules passed successfully.</a:t>
            </a:r>
            <a:endParaRPr lang="en-US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2" y="618519"/>
            <a:ext cx="7773338" cy="809066"/>
          </a:xfrm>
        </p:spPr>
        <p:txBody>
          <a:bodyPr/>
          <a:lstStyle/>
          <a:p>
            <a:r>
              <a:rPr dirty="0"/>
              <a:t>Testing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3647149"/>
              </p:ext>
            </p:extLst>
          </p:nvPr>
        </p:nvGraphicFramePr>
        <p:xfrm>
          <a:off x="475861" y="1427585"/>
          <a:ext cx="8098971" cy="197739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995774">
                  <a:extLst>
                    <a:ext uri="{9D8B030D-6E8A-4147-A177-3AD203B41FA5}">
                      <a16:colId xmlns:a16="http://schemas.microsoft.com/office/drawing/2014/main" val="2746447795"/>
                    </a:ext>
                  </a:extLst>
                </a:gridCol>
                <a:gridCol w="1088715">
                  <a:extLst>
                    <a:ext uri="{9D8B030D-6E8A-4147-A177-3AD203B41FA5}">
                      <a16:colId xmlns:a16="http://schemas.microsoft.com/office/drawing/2014/main" val="3950514011"/>
                    </a:ext>
                  </a:extLst>
                </a:gridCol>
                <a:gridCol w="1009052">
                  <a:extLst>
                    <a:ext uri="{9D8B030D-6E8A-4147-A177-3AD203B41FA5}">
                      <a16:colId xmlns:a16="http://schemas.microsoft.com/office/drawing/2014/main" val="2880807083"/>
                    </a:ext>
                  </a:extLst>
                </a:gridCol>
                <a:gridCol w="2044658">
                  <a:extLst>
                    <a:ext uri="{9D8B030D-6E8A-4147-A177-3AD203B41FA5}">
                      <a16:colId xmlns:a16="http://schemas.microsoft.com/office/drawing/2014/main" val="3978450176"/>
                    </a:ext>
                  </a:extLst>
                </a:gridCol>
                <a:gridCol w="1964998">
                  <a:extLst>
                    <a:ext uri="{9D8B030D-6E8A-4147-A177-3AD203B41FA5}">
                      <a16:colId xmlns:a16="http://schemas.microsoft.com/office/drawing/2014/main" val="3987572286"/>
                    </a:ext>
                  </a:extLst>
                </a:gridCol>
                <a:gridCol w="995774">
                  <a:extLst>
                    <a:ext uri="{9D8B030D-6E8A-4147-A177-3AD203B41FA5}">
                      <a16:colId xmlns:a16="http://schemas.microsoft.com/office/drawing/2014/main" val="1787815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Test Case ID</a:t>
                      </a:r>
                      <a:endParaRPr lang="en-SG" sz="12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Module</a:t>
                      </a:r>
                      <a:endParaRPr lang="en-SG" sz="12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Test Title</a:t>
                      </a:r>
                      <a:endParaRPr lang="en-SG" sz="12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Expected Result</a:t>
                      </a:r>
                      <a:endParaRPr lang="en-SG" sz="12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Actual Result</a:t>
                      </a:r>
                      <a:endParaRPr lang="en-SG" sz="12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Status</a:t>
                      </a:r>
                      <a:endParaRPr lang="en-SG" sz="12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7719887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TC-01</a:t>
                      </a:r>
                      <a:endParaRPr lang="en-SG" sz="12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Auth</a:t>
                      </a:r>
                      <a:endParaRPr lang="en-SG" sz="12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User Login Test</a:t>
                      </a:r>
                      <a:endParaRPr lang="en-SG" sz="12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User is redirected to their specific dashboard based on role.</a:t>
                      </a:r>
                      <a:endParaRPr lang="en-SG" sz="12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Logged in and redirected to Manager Dashboard.</a:t>
                      </a:r>
                      <a:endParaRPr lang="en-SG" sz="12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Pass</a:t>
                      </a:r>
                      <a:endParaRPr lang="en-SG" sz="12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2700955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TC-02</a:t>
                      </a:r>
                      <a:endParaRPr lang="en-SG" sz="12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Auth</a:t>
                      </a:r>
                      <a:endParaRPr lang="en-SG" sz="12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First Login Password Setup</a:t>
                      </a:r>
                      <a:endParaRPr lang="en-SG" sz="12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User is forced to change their temporary password on first login.</a:t>
                      </a:r>
                      <a:endParaRPr lang="en-SG" sz="12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"Change Password" prompt appeared and updated successfully.</a:t>
                      </a:r>
                      <a:endParaRPr lang="en-SG" sz="12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Pass</a:t>
                      </a:r>
                      <a:endParaRPr lang="en-SG" sz="12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915848521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4257203"/>
              </p:ext>
            </p:extLst>
          </p:nvPr>
        </p:nvGraphicFramePr>
        <p:xfrm>
          <a:off x="475861" y="3552039"/>
          <a:ext cx="8098971" cy="309372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907190">
                  <a:extLst>
                    <a:ext uri="{9D8B030D-6E8A-4147-A177-3AD203B41FA5}">
                      <a16:colId xmlns:a16="http://schemas.microsoft.com/office/drawing/2014/main" val="1339616630"/>
                    </a:ext>
                  </a:extLst>
                </a:gridCol>
                <a:gridCol w="1156996">
                  <a:extLst>
                    <a:ext uri="{9D8B030D-6E8A-4147-A177-3AD203B41FA5}">
                      <a16:colId xmlns:a16="http://schemas.microsoft.com/office/drawing/2014/main" val="723793336"/>
                    </a:ext>
                  </a:extLst>
                </a:gridCol>
                <a:gridCol w="1156996">
                  <a:extLst>
                    <a:ext uri="{9D8B030D-6E8A-4147-A177-3AD203B41FA5}">
                      <a16:colId xmlns:a16="http://schemas.microsoft.com/office/drawing/2014/main" val="1182170746"/>
                    </a:ext>
                  </a:extLst>
                </a:gridCol>
                <a:gridCol w="2077333">
                  <a:extLst>
                    <a:ext uri="{9D8B030D-6E8A-4147-A177-3AD203B41FA5}">
                      <a16:colId xmlns:a16="http://schemas.microsoft.com/office/drawing/2014/main" val="466431861"/>
                    </a:ext>
                  </a:extLst>
                </a:gridCol>
                <a:gridCol w="1814380">
                  <a:extLst>
                    <a:ext uri="{9D8B030D-6E8A-4147-A177-3AD203B41FA5}">
                      <a16:colId xmlns:a16="http://schemas.microsoft.com/office/drawing/2014/main" val="3152340761"/>
                    </a:ext>
                  </a:extLst>
                </a:gridCol>
                <a:gridCol w="986076">
                  <a:extLst>
                    <a:ext uri="{9D8B030D-6E8A-4147-A177-3AD203B41FA5}">
                      <a16:colId xmlns:a16="http://schemas.microsoft.com/office/drawing/2014/main" val="194132581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Test Case ID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 dirty="0">
                          <a:effectLst/>
                        </a:rPr>
                        <a:t>Module</a:t>
                      </a:r>
                      <a:endParaRPr lang="en-SG" sz="12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Test Title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Expected Result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Actual Result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Status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744218861"/>
                  </a:ext>
                </a:extLst>
              </a:tr>
              <a:tr h="66294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TC-03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Meals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Add Meal Entry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System stores meal status and updates quantity to 0 for "Off".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Meal stored correctly with accurate quantities.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Pass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9563463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TC-04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Billing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Meal Rate Calculation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System correctly divides total bazaar costs by total meals.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Calculation matched manual verification exactly.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Pass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8946627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TC-05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Deposits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Deposit Approval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Manager approval creates a transaction and updates user balance.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Balance updated and transaction record created.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 dirty="0">
                          <a:effectLst/>
                        </a:rPr>
                        <a:t>Pass</a:t>
                      </a:r>
                      <a:endParaRPr lang="en-SG" sz="12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8598066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1452065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Risk Analysis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9738178"/>
              </p:ext>
            </p:extLst>
          </p:nvPr>
        </p:nvGraphicFramePr>
        <p:xfrm>
          <a:off x="867748" y="1996751"/>
          <a:ext cx="7408506" cy="414279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444619">
                  <a:extLst>
                    <a:ext uri="{9D8B030D-6E8A-4147-A177-3AD203B41FA5}">
                      <a16:colId xmlns:a16="http://schemas.microsoft.com/office/drawing/2014/main" val="3641986338"/>
                    </a:ext>
                  </a:extLst>
                </a:gridCol>
                <a:gridCol w="4963887">
                  <a:extLst>
                    <a:ext uri="{9D8B030D-6E8A-4147-A177-3AD203B41FA5}">
                      <a16:colId xmlns:a16="http://schemas.microsoft.com/office/drawing/2014/main" val="2621695144"/>
                    </a:ext>
                  </a:extLst>
                </a:gridCol>
              </a:tblGrid>
              <a:tr h="368507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Risk Type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Possible Risk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323971873"/>
                  </a:ext>
                </a:extLst>
              </a:tr>
              <a:tr h="754857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Technical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System crashes, Laravel/PHP framework issues, or MySQL database downtime.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095668497"/>
                  </a:ext>
                </a:extLst>
              </a:tr>
              <a:tr h="754857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Security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Data breaches, unauthorized access to member financial records, or token leakage.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841846511"/>
                  </a:ext>
                </a:extLst>
              </a:tr>
              <a:tr h="754857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Operational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Low user adoption, data entry errors by managers, or calculation discrepancies.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072446070"/>
                  </a:ext>
                </a:extLst>
              </a:tr>
              <a:tr h="754857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Financial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Failures in deposit tracking or future payment gateway integrations.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327807463"/>
                  </a:ext>
                </a:extLst>
              </a:tr>
              <a:tr h="754857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Performance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 dirty="0">
                          <a:effectLst/>
                        </a:rPr>
                        <a:t>Slow response times during peak hours when all members log meals simultaneously.</a:t>
                      </a:r>
                      <a:endParaRPr lang="en-SG" sz="12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40358322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Risk Analysis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0602283"/>
              </p:ext>
            </p:extLst>
          </p:nvPr>
        </p:nvGraphicFramePr>
        <p:xfrm>
          <a:off x="685332" y="2006082"/>
          <a:ext cx="7842848" cy="411479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701680">
                  <a:extLst>
                    <a:ext uri="{9D8B030D-6E8A-4147-A177-3AD203B41FA5}">
                      <a16:colId xmlns:a16="http://schemas.microsoft.com/office/drawing/2014/main" val="1971858523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791540427"/>
                    </a:ext>
                  </a:extLst>
                </a:gridCol>
                <a:gridCol w="2397968">
                  <a:extLst>
                    <a:ext uri="{9D8B030D-6E8A-4147-A177-3AD203B41FA5}">
                      <a16:colId xmlns:a16="http://schemas.microsoft.com/office/drawing/2014/main" val="1970513800"/>
                    </a:ext>
                  </a:extLst>
                </a:gridCol>
              </a:tblGrid>
              <a:tr h="82903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Possible Risk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Probability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Impact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943717705"/>
                  </a:ext>
                </a:extLst>
              </a:tr>
              <a:tr h="82903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System Downtime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30-40% (Moderate)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Serious 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979866856"/>
                  </a:ext>
                </a:extLst>
              </a:tr>
              <a:tr h="798659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Data Breaches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20-30% (Moderate)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Catastrophic 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4159253302"/>
                  </a:ext>
                </a:extLst>
              </a:tr>
              <a:tr h="82903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Unauthorized Edits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20-30% (Moderate)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Serious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744426213"/>
                  </a:ext>
                </a:extLst>
              </a:tr>
              <a:tr h="82903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Low User Adoption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30-40% (Moderate)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Tolerable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4742521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758145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RMMM Plan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3262246"/>
              </p:ext>
            </p:extLst>
          </p:nvPr>
        </p:nvGraphicFramePr>
        <p:xfrm>
          <a:off x="503850" y="1903445"/>
          <a:ext cx="8220270" cy="452037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979717">
                  <a:extLst>
                    <a:ext uri="{9D8B030D-6E8A-4147-A177-3AD203B41FA5}">
                      <a16:colId xmlns:a16="http://schemas.microsoft.com/office/drawing/2014/main" val="767607318"/>
                    </a:ext>
                  </a:extLst>
                </a:gridCol>
                <a:gridCol w="1362270">
                  <a:extLst>
                    <a:ext uri="{9D8B030D-6E8A-4147-A177-3AD203B41FA5}">
                      <a16:colId xmlns:a16="http://schemas.microsoft.com/office/drawing/2014/main" val="4228593268"/>
                    </a:ext>
                  </a:extLst>
                </a:gridCol>
                <a:gridCol w="1399592">
                  <a:extLst>
                    <a:ext uri="{9D8B030D-6E8A-4147-A177-3AD203B41FA5}">
                      <a16:colId xmlns:a16="http://schemas.microsoft.com/office/drawing/2014/main" val="969302857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065430293"/>
                    </a:ext>
                  </a:extLst>
                </a:gridCol>
                <a:gridCol w="1446245">
                  <a:extLst>
                    <a:ext uri="{9D8B030D-6E8A-4147-A177-3AD203B41FA5}">
                      <a16:colId xmlns:a16="http://schemas.microsoft.com/office/drawing/2014/main" val="3150327254"/>
                    </a:ext>
                  </a:extLst>
                </a:gridCol>
                <a:gridCol w="1530218">
                  <a:extLst>
                    <a:ext uri="{9D8B030D-6E8A-4147-A177-3AD203B41FA5}">
                      <a16:colId xmlns:a16="http://schemas.microsoft.com/office/drawing/2014/main" val="3773775987"/>
                    </a:ext>
                  </a:extLst>
                </a:gridCol>
              </a:tblGrid>
              <a:tr h="286246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Risk ID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Risk Type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Risk Description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Mitigation Plan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Monitoring Plan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Management Strategy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extLst>
                  <a:ext uri="{0D108BD9-81ED-4DB2-BD59-A6C34878D82A}">
                    <a16:rowId xmlns:a16="http://schemas.microsoft.com/office/drawing/2014/main" val="2582177092"/>
                  </a:ext>
                </a:extLst>
              </a:tr>
              <a:tr h="84682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R1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Technical Risk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System crashes or server downtime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Use reliable cloud hosting and automated database backups to prevent data loss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Implement real-time monitoring tools to detect service interruptions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Restore services immediately using latest backup and respond to alerts quickly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extLst>
                  <a:ext uri="{0D108BD9-81ED-4DB2-BD59-A6C34878D82A}">
                    <a16:rowId xmlns:a16="http://schemas.microsoft.com/office/drawing/2014/main" val="2968845419"/>
                  </a:ext>
                </a:extLst>
              </a:tr>
              <a:tr h="84682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R2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 dirty="0">
                          <a:effectLst/>
                        </a:rPr>
                        <a:t>Security Risk</a:t>
                      </a:r>
                      <a:endParaRPr lang="en-SG" sz="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Unauthorized access or data breaches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Use Bcrypt password hashing and Laravel Sanctum token authentication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Review activity logs and login logs to detect suspicious access attempts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Revoke affected tokens and apply security patches to middleware if breach occurs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extLst>
                  <a:ext uri="{0D108BD9-81ED-4DB2-BD59-A6C34878D82A}">
                    <a16:rowId xmlns:a16="http://schemas.microsoft.com/office/drawing/2014/main" val="1966038613"/>
                  </a:ext>
                </a:extLst>
              </a:tr>
              <a:tr h="84682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R3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Operational Risk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Low user adoption, data entry mistakes, or calculation discrepancies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Design simple user-friendly interfaces and provide proper workflow guidance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Collect user feedback and review system usage regularly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Improve UI/UX gradually and provide corrections for operational issues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extLst>
                  <a:ext uri="{0D108BD9-81ED-4DB2-BD59-A6C34878D82A}">
                    <a16:rowId xmlns:a16="http://schemas.microsoft.com/office/drawing/2014/main" val="1019199506"/>
                  </a:ext>
                </a:extLst>
              </a:tr>
              <a:tr h="84682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R4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Financial Risk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Deposit tracking failures or future payment gateway integration issues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Maintain transaction validation and backup financial records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Monitor transaction logs and payment activities regularly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Resolve transaction mismatches quickly and maintain audit history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extLst>
                  <a:ext uri="{0D108BD9-81ED-4DB2-BD59-A6C34878D82A}">
                    <a16:rowId xmlns:a16="http://schemas.microsoft.com/office/drawing/2014/main" val="1531444351"/>
                  </a:ext>
                </a:extLst>
              </a:tr>
              <a:tr h="84682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R5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Performance Risk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Slow response time during peak usage or simultaneous meal entries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Optimize database queries and use efficient API handling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Track server response time and monitor heavy traffic conditions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 dirty="0">
                          <a:effectLst/>
                        </a:rPr>
                        <a:t>Scale server resources and optimize performance bottlenecks when needed</a:t>
                      </a:r>
                      <a:endParaRPr lang="en-SG" sz="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extLst>
                  <a:ext uri="{0D108BD9-81ED-4DB2-BD59-A6C34878D82A}">
                    <a16:rowId xmlns:a16="http://schemas.microsoft.com/office/drawing/2014/main" val="113100485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Timeline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7380" y="1816588"/>
            <a:ext cx="7773339" cy="637363"/>
          </a:xfrm>
        </p:spPr>
        <p:txBody>
          <a:bodyPr/>
          <a:lstStyle/>
          <a:p>
            <a:pPr marL="0" indent="0">
              <a:buNone/>
            </a:pPr>
            <a:r>
              <a:rPr dirty="0"/>
              <a:t>12-week Agile development plan</a:t>
            </a:r>
            <a:r>
              <a:rPr dirty="0" smtClean="0"/>
              <a:t>.</a:t>
            </a:r>
            <a:endParaRPr dirty="0"/>
          </a:p>
        </p:txBody>
      </p:sp>
      <p:pic>
        <p:nvPicPr>
          <p:cNvPr id="5" name="Picture 4"/>
          <p:cNvPicPr/>
          <p:nvPr/>
        </p:nvPicPr>
        <p:blipFill>
          <a:blip r:embed="rId2"/>
          <a:stretch>
            <a:fillRect/>
          </a:stretch>
        </p:blipFill>
        <p:spPr>
          <a:xfrm>
            <a:off x="765110" y="2369976"/>
            <a:ext cx="7693560" cy="3862873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Function Point Estimation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332" y="2609691"/>
            <a:ext cx="7773339" cy="34241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SG" sz="1400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value adjustment </a:t>
            </a:r>
            <a:r>
              <a:rPr lang="en-US" sz="1400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factor</a:t>
            </a:r>
            <a:r>
              <a:rPr lang="en-SG" sz="1400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(VAF) and adjusted function point (AFP) are calculated as follows: </a:t>
            </a:r>
          </a:p>
          <a:p>
            <a:r>
              <a:rPr lang="en-SG" sz="1400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Total degree of influence (TDI) = 55</a:t>
            </a:r>
          </a:p>
          <a:p>
            <a:pPr lvl="0"/>
            <a:r>
              <a:rPr lang="en-SG" sz="1400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Value adjustment </a:t>
            </a:r>
            <a:r>
              <a:rPr lang="en-US" sz="1400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factor (</a:t>
            </a:r>
            <a:r>
              <a:rPr lang="en-SG" sz="1400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VAF) = 0.65 + (0.01 \times TDI)</a:t>
            </a:r>
          </a:p>
          <a:p>
            <a:pPr lvl="0"/>
            <a:r>
              <a:rPr lang="en-SG" sz="1400" cap="non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Vaf</a:t>
            </a:r>
            <a:r>
              <a:rPr lang="en-SG" sz="1400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= 0.65 + (0.01 \times 55) = 1.10</a:t>
            </a:r>
          </a:p>
          <a:p>
            <a:pPr lvl="0"/>
            <a:r>
              <a:rPr lang="en-SG" sz="1400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Total unadjusted function point (UFP) = </a:t>
            </a:r>
            <a:r>
              <a:rPr lang="en-SG" sz="1400" cap="non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ufp</a:t>
            </a:r>
            <a:r>
              <a:rPr lang="en-SG" sz="1400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(transaction) + </a:t>
            </a:r>
            <a:r>
              <a:rPr lang="en-SG" sz="1400" cap="non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ufp</a:t>
            </a:r>
            <a:r>
              <a:rPr lang="en-SG" sz="1400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(data) = 25 + 35 = 60</a:t>
            </a:r>
          </a:p>
          <a:p>
            <a:pPr lvl="0"/>
            <a:r>
              <a:rPr lang="en-SG" sz="1400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Adjusted function point (AFP) = UFP \times VAF = 60 \times 1.10 = 66</a:t>
            </a:r>
          </a:p>
          <a:p>
            <a:pPr marL="0" indent="0">
              <a:buNone/>
            </a:pPr>
            <a:endParaRPr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Cost Estimation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9105163"/>
              </p:ext>
            </p:extLst>
          </p:nvPr>
        </p:nvGraphicFramePr>
        <p:xfrm>
          <a:off x="615818" y="2006084"/>
          <a:ext cx="8033660" cy="425475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847464">
                  <a:extLst>
                    <a:ext uri="{9D8B030D-6E8A-4147-A177-3AD203B41FA5}">
                      <a16:colId xmlns:a16="http://schemas.microsoft.com/office/drawing/2014/main" val="1022762590"/>
                    </a:ext>
                  </a:extLst>
                </a:gridCol>
                <a:gridCol w="2313991">
                  <a:extLst>
                    <a:ext uri="{9D8B030D-6E8A-4147-A177-3AD203B41FA5}">
                      <a16:colId xmlns:a16="http://schemas.microsoft.com/office/drawing/2014/main" val="1537689114"/>
                    </a:ext>
                  </a:extLst>
                </a:gridCol>
                <a:gridCol w="1595535">
                  <a:extLst>
                    <a:ext uri="{9D8B030D-6E8A-4147-A177-3AD203B41FA5}">
                      <a16:colId xmlns:a16="http://schemas.microsoft.com/office/drawing/2014/main" val="27452654"/>
                    </a:ext>
                  </a:extLst>
                </a:gridCol>
                <a:gridCol w="2276670">
                  <a:extLst>
                    <a:ext uri="{9D8B030D-6E8A-4147-A177-3AD203B41FA5}">
                      <a16:colId xmlns:a16="http://schemas.microsoft.com/office/drawing/2014/main" val="2085586388"/>
                    </a:ext>
                  </a:extLst>
                </a:gridCol>
              </a:tblGrid>
              <a:tr h="2315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Cost Category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Resource / Tool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Estimated Cost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Remarks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extLst>
                  <a:ext uri="{0D108BD9-81ED-4DB2-BD59-A6C34878D82A}">
                    <a16:rowId xmlns:a16="http://schemas.microsoft.com/office/drawing/2014/main" val="1238578797"/>
                  </a:ext>
                </a:extLst>
              </a:tr>
              <a:tr h="44246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 dirty="0">
                          <a:effectLst/>
                        </a:rPr>
                        <a:t>Development Environment</a:t>
                      </a:r>
                      <a:endParaRPr lang="en-SG" sz="1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VS Code, Node.js, PHP, Laravel, React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Free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Open-source technologies used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extLst>
                  <a:ext uri="{0D108BD9-81ED-4DB2-BD59-A6C34878D82A}">
                    <a16:rowId xmlns:a16="http://schemas.microsoft.com/office/drawing/2014/main" val="3788261991"/>
                  </a:ext>
                </a:extLst>
              </a:tr>
              <a:tr h="44246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Database Management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MySQL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Free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Open-source relational database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extLst>
                  <a:ext uri="{0D108BD9-81ED-4DB2-BD59-A6C34878D82A}">
                    <a16:rowId xmlns:a16="http://schemas.microsoft.com/office/drawing/2014/main" val="2464242279"/>
                  </a:ext>
                </a:extLst>
              </a:tr>
              <a:tr h="44246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Version Control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Git &amp; GitHub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Free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Used for source code management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extLst>
                  <a:ext uri="{0D108BD9-81ED-4DB2-BD59-A6C34878D82A}">
                    <a16:rowId xmlns:a16="http://schemas.microsoft.com/office/drawing/2014/main" val="2052373918"/>
                  </a:ext>
                </a:extLst>
              </a:tr>
              <a:tr h="44246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Hosting / Server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Localhost / XAMPP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Free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Used during development phase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extLst>
                  <a:ext uri="{0D108BD9-81ED-4DB2-BD59-A6C34878D82A}">
                    <a16:rowId xmlns:a16="http://schemas.microsoft.com/office/drawing/2014/main" val="3336931295"/>
                  </a:ext>
                </a:extLst>
              </a:tr>
              <a:tr h="44246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Internet &amp; Utilities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Internet connection and electricity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Approx. 500 BDT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Daily development usage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extLst>
                  <a:ext uri="{0D108BD9-81ED-4DB2-BD59-A6C34878D82A}">
                    <a16:rowId xmlns:a16="http://schemas.microsoft.com/office/drawing/2014/main" val="1939079085"/>
                  </a:ext>
                </a:extLst>
              </a:tr>
              <a:tr h="231500">
                <a:tc rowSpan="2"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Hardware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Personal Laptop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Existing Resource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No additional hardware cost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extLst>
                  <a:ext uri="{0D108BD9-81ED-4DB2-BD59-A6C34878D82A}">
                    <a16:rowId xmlns:a16="http://schemas.microsoft.com/office/drawing/2014/main" val="3438871503"/>
                  </a:ext>
                </a:extLst>
              </a:tr>
              <a:tr h="231500">
                <a:tc vMerge="1">
                  <a:txBody>
                    <a:bodyPr/>
                    <a:lstStyle/>
                    <a:p>
                      <a:endParaRPr lang="en-SG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Mouse 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1000 BDT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Bought new mouse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extLst>
                  <a:ext uri="{0D108BD9-81ED-4DB2-BD59-A6C34878D82A}">
                    <a16:rowId xmlns:a16="http://schemas.microsoft.com/office/drawing/2014/main" val="3065138078"/>
                  </a:ext>
                </a:extLst>
              </a:tr>
              <a:tr h="44246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Testing &amp; Debugging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Browser DevTools, Postman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Free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Used for API testing and debugging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extLst>
                  <a:ext uri="{0D108BD9-81ED-4DB2-BD59-A6C34878D82A}">
                    <a16:rowId xmlns:a16="http://schemas.microsoft.com/office/drawing/2014/main" val="2425082253"/>
                  </a:ext>
                </a:extLst>
              </a:tr>
              <a:tr h="44246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Human Resource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Developer (Self)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Internship Based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Developed during practicum/internship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extLst>
                  <a:ext uri="{0D108BD9-81ED-4DB2-BD59-A6C34878D82A}">
                    <a16:rowId xmlns:a16="http://schemas.microsoft.com/office/drawing/2014/main" val="1690518102"/>
                  </a:ext>
                </a:extLst>
              </a:tr>
              <a:tr h="2315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Documentation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Microsoft Word 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Free / Existing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Used for report preparation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extLst>
                  <a:ext uri="{0D108BD9-81ED-4DB2-BD59-A6C34878D82A}">
                    <a16:rowId xmlns:a16="http://schemas.microsoft.com/office/drawing/2014/main" val="614469070"/>
                  </a:ext>
                </a:extLst>
              </a:tr>
              <a:tr h="2315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Design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Figma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1500 BDT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 dirty="0">
                          <a:effectLst/>
                        </a:rPr>
                        <a:t>For diagram design</a:t>
                      </a:r>
                      <a:endParaRPr lang="en-SG" sz="1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extLst>
                  <a:ext uri="{0D108BD9-81ED-4DB2-BD59-A6C34878D82A}">
                    <a16:rowId xmlns:a16="http://schemas.microsoft.com/office/drawing/2014/main" val="26959652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8862508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Limitations</a:t>
            </a:r>
          </a:p>
        </p:txBody>
      </p:sp>
      <p:sp>
        <p:nvSpPr>
          <p:cNvPr id="8" name="Rectangle 3"/>
          <p:cNvSpPr>
            <a:spLocks noGrp="1" noChangeArrowheads="1"/>
          </p:cNvSpPr>
          <p:nvPr>
            <p:ph idx="1"/>
          </p:nvPr>
        </p:nvSpPr>
        <p:spPr bwMode="auto">
          <a:xfrm>
            <a:off x="617920" y="2401665"/>
            <a:ext cx="7908162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just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Manual expense entry: managers manually enter bazaar expenses. </a:t>
            </a:r>
          </a:p>
          <a:p>
            <a:pPr marR="0" lvl="0" algn="just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Offline access: requires internet connection for syncing data. </a:t>
            </a:r>
          </a:p>
          <a:p>
            <a:pPr marR="0" lvl="0" algn="just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Currency restriction: supports only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bangladeshi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taka (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bdt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). </a:t>
            </a:r>
          </a:p>
          <a:p>
            <a:pPr marR="0" lvl="0" algn="just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 mobile app: native mobile app is not available yet. 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331" y="2367095"/>
            <a:ext cx="7773339" cy="1663730"/>
          </a:xfrm>
        </p:spPr>
        <p:txBody>
          <a:bodyPr/>
          <a:lstStyle/>
          <a:p>
            <a:r>
              <a:rPr lang="en-US" cap="non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Ocr</a:t>
            </a:r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-based bazaar receipt scanning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Mobile application support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Ai-based expense prediction</a:t>
            </a:r>
            <a:endParaRPr lang="en-US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cap="non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Messmanager</a:t>
            </a:r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automates mess operations efficiently.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Improves transparency and accountability.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scalable role-based architecture.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Reduces manual work and billing errors.</a:t>
            </a:r>
            <a:endParaRPr lang="en-US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9699" y="1296956"/>
            <a:ext cx="5785501" cy="412152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3928590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 descr="Thank you png Images - Free Download on Magnific (formerly Freepik)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0481" y="1293068"/>
            <a:ext cx="5962650" cy="42195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8333132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252</TotalTime>
  <Words>1295</Words>
  <Application>Microsoft Office PowerPoint</Application>
  <PresentationFormat>On-screen Show (4:3)</PresentationFormat>
  <Paragraphs>326</Paragraphs>
  <Slides>45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3" baseType="lpstr">
      <vt:lpstr>Arial</vt:lpstr>
      <vt:lpstr>Arial Narrow</vt:lpstr>
      <vt:lpstr>Calibri</vt:lpstr>
      <vt:lpstr>Times New Roman</vt:lpstr>
      <vt:lpstr>Tw Cen MT</vt:lpstr>
      <vt:lpstr>Vrinda</vt:lpstr>
      <vt:lpstr>Wingdings</vt:lpstr>
      <vt:lpstr>Droplet</vt:lpstr>
      <vt:lpstr>PowerPoint Presentation</vt:lpstr>
      <vt:lpstr>Topics To Be Covered</vt:lpstr>
      <vt:lpstr>Organization Overview</vt:lpstr>
      <vt:lpstr>Project Overview</vt:lpstr>
      <vt:lpstr>Problem Statement</vt:lpstr>
      <vt:lpstr>Objectives</vt:lpstr>
      <vt:lpstr>System Benefits</vt:lpstr>
      <vt:lpstr>Feasibility Analysis</vt:lpstr>
      <vt:lpstr>Agile Process Model</vt:lpstr>
      <vt:lpstr>Requirement Engineering</vt:lpstr>
      <vt:lpstr>Functional Requirements</vt:lpstr>
      <vt:lpstr>Non-Functional Requirements</vt:lpstr>
      <vt:lpstr>Use Case Diagram</vt:lpstr>
      <vt:lpstr>Activity Diagrams</vt:lpstr>
      <vt:lpstr>Activity Diagrams</vt:lpstr>
      <vt:lpstr>Activity Diagrams</vt:lpstr>
      <vt:lpstr>Swimlane Diagram</vt:lpstr>
      <vt:lpstr>Sequence Diagram</vt:lpstr>
      <vt:lpstr>Class Diagram</vt:lpstr>
      <vt:lpstr>DFD Level 0</vt:lpstr>
      <vt:lpstr>DFD Level 1</vt:lpstr>
      <vt:lpstr>DFD Level 2 (Billing Sub-flow)</vt:lpstr>
      <vt:lpstr>DFD Level 2 ( Transaction &amp; Settlement )</vt:lpstr>
      <vt:lpstr>Entity Relationship Diagram (ERD)</vt:lpstr>
      <vt:lpstr>System Architecture</vt:lpstr>
      <vt:lpstr>Database Design</vt:lpstr>
      <vt:lpstr>API Design Summary</vt:lpstr>
      <vt:lpstr>Billing Calculation Logic</vt:lpstr>
      <vt:lpstr>Refund Settlement Logic</vt:lpstr>
      <vt:lpstr>Super Admin Dashboard</vt:lpstr>
      <vt:lpstr>Manager Dashboard</vt:lpstr>
      <vt:lpstr>User Dashboard</vt:lpstr>
      <vt:lpstr>Testing</vt:lpstr>
      <vt:lpstr>Testing</vt:lpstr>
      <vt:lpstr>Risk Analysis</vt:lpstr>
      <vt:lpstr>Risk Analysis</vt:lpstr>
      <vt:lpstr>RMMM Plan</vt:lpstr>
      <vt:lpstr>Project Timeline</vt:lpstr>
      <vt:lpstr>Function Point Estimation</vt:lpstr>
      <vt:lpstr>Cost Estimation</vt:lpstr>
      <vt:lpstr>Limitations</vt:lpstr>
      <vt:lpstr>Future Work</vt:lpstr>
      <vt:lpstr>Conclusion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hasan imam</cp:lastModifiedBy>
  <cp:revision>22</cp:revision>
  <dcterms:created xsi:type="dcterms:W3CDTF">2013-01-27T09:14:16Z</dcterms:created>
  <dcterms:modified xsi:type="dcterms:W3CDTF">2026-05-31T05:25:43Z</dcterms:modified>
  <cp:category/>
</cp:coreProperties>
</file>